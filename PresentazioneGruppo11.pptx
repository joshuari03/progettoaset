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media/image21.svg" ContentType="image/svg"/>
  <Override PartName="/ppt/media/image36.svg" ContentType="image/svg"/>
  <Override PartName="/ppt/media/image30.svg" ContentType="image/svg"/>
  <Override PartName="/ppt/media/image42.svg" ContentType="image/svg"/>
  <Override PartName="/ppt/media/image34.svg" ContentType="image/svg"/>
  <Override PartName="/ppt/media/image32.svg" ContentType="image/svg"/>
  <Override PartName="/ppt/media/image19.svg" ContentType="image/svg"/>
  <Override PartName="/ppt/media/image24.svg" ContentType="image/svg"/>
  <Override PartName="/ppt/media/image39.svg" ContentType="image/svg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3" r:id="rId5"/>
    <p:sldMasterId id="2147483654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7475200" cy="97536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41400" y="626400"/>
            <a:ext cx="15540120" cy="6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59400" y="2150640"/>
            <a:ext cx="15374880" cy="222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BC125B-B973-401D-AA04-63EBC8D338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41400" y="626400"/>
            <a:ext cx="15540120" cy="6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959400" y="2150640"/>
            <a:ext cx="15374880" cy="222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DE20CF-07D2-49F6-82C8-309BE8BE3E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 object 16"/>
          <p:cNvPicPr/>
          <p:nvPr/>
        </p:nvPicPr>
        <p:blipFill>
          <a:blip r:embed="rId2"/>
          <a:stretch/>
        </p:blipFill>
        <p:spPr>
          <a:xfrm>
            <a:off x="888840" y="2629080"/>
            <a:ext cx="15696720" cy="637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65440" y="452880"/>
            <a:ext cx="15325200" cy="63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5941440" y="9070920"/>
            <a:ext cx="559188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87372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1258200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C9F0C3D-5A3C-4F30-8BCA-4F42933448A3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41400" y="626400"/>
            <a:ext cx="15540120" cy="6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959400" y="2150640"/>
            <a:ext cx="15374880" cy="222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4"/>
          </p:nvPr>
        </p:nvSpPr>
        <p:spPr>
          <a:xfrm>
            <a:off x="5941440" y="9070920"/>
            <a:ext cx="559188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5"/>
          </p:nvPr>
        </p:nvSpPr>
        <p:spPr>
          <a:xfrm>
            <a:off x="87372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1258200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7BB7FDE-C33F-4270-941A-F96DB529A30E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" name="Immagine 7"/>
          <p:cNvPicPr/>
          <p:nvPr/>
        </p:nvPicPr>
        <p:blipFill>
          <a:blip r:embed="rId2"/>
          <a:stretch/>
        </p:blipFill>
        <p:spPr>
          <a:xfrm>
            <a:off x="6756480" y="0"/>
            <a:ext cx="10702080" cy="1070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Rettangolo 8"/>
          <p:cNvSpPr/>
          <p:nvPr/>
        </p:nvSpPr>
        <p:spPr>
          <a:xfrm>
            <a:off x="0" y="0"/>
            <a:ext cx="17458560" cy="9905760"/>
          </a:xfrm>
          <a:prstGeom prst="rect">
            <a:avLst/>
          </a:prstGeom>
          <a:solidFill>
            <a:schemeClr val="lt1">
              <a:lumMod val="85000"/>
              <a:alpha val="49000"/>
            </a:schemeClr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41400" y="626400"/>
            <a:ext cx="15540120" cy="6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73720" y="2243160"/>
            <a:ext cx="7601400" cy="352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8999640" y="2243160"/>
            <a:ext cx="7601400" cy="352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7"/>
          </p:nvPr>
        </p:nvSpPr>
        <p:spPr>
          <a:xfrm>
            <a:off x="5941440" y="9070920"/>
            <a:ext cx="559188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dt" idx="8"/>
          </p:nvPr>
        </p:nvSpPr>
        <p:spPr>
          <a:xfrm>
            <a:off x="87372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9"/>
          </p:nvPr>
        </p:nvSpPr>
        <p:spPr>
          <a:xfrm>
            <a:off x="1258200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75BCCA7-AFA4-4914-8F98-4BFDBDCC9B07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41400" y="626400"/>
            <a:ext cx="15540120" cy="65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ftr" idx="10"/>
          </p:nvPr>
        </p:nvSpPr>
        <p:spPr>
          <a:xfrm>
            <a:off x="5941440" y="9070920"/>
            <a:ext cx="559188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1"/>
          </p:nvPr>
        </p:nvSpPr>
        <p:spPr>
          <a:xfrm>
            <a:off x="87372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12"/>
          </p:nvPr>
        </p:nvSpPr>
        <p:spPr>
          <a:xfrm>
            <a:off x="1258200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E64CB5D-EAB1-48EB-A51A-F87246E60E69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ftr" idx="13"/>
          </p:nvPr>
        </p:nvSpPr>
        <p:spPr>
          <a:xfrm>
            <a:off x="5941440" y="9070920"/>
            <a:ext cx="559188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dt" idx="14"/>
          </p:nvPr>
        </p:nvSpPr>
        <p:spPr>
          <a:xfrm>
            <a:off x="87372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15"/>
          </p:nvPr>
        </p:nvSpPr>
        <p:spPr>
          <a:xfrm>
            <a:off x="12582000" y="9070920"/>
            <a:ext cx="401904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6BCE3EB-65B3-41A4-9D18-4D54517B0774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jpeg"/><Relationship Id="rId3" Type="http://schemas.openxmlformats.org/officeDocument/2006/relationships/image" Target="../media/image12.jpeg"/><Relationship Id="rId4" Type="http://schemas.openxmlformats.org/officeDocument/2006/relationships/image" Target="../media/image13.jpe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jpeg"/><Relationship Id="rId8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Relationship Id="rId6" Type="http://schemas.openxmlformats.org/officeDocument/2006/relationships/image" Target="../media/image20.png"/><Relationship Id="rId7" Type="http://schemas.openxmlformats.org/officeDocument/2006/relationships/image" Target="../media/image21.sv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svg"/><Relationship Id="rId1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svg"/><Relationship Id="rId4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svg"/><Relationship Id="rId3" Type="http://schemas.openxmlformats.org/officeDocument/2006/relationships/image" Target="../media/image33.png"/><Relationship Id="rId4" Type="http://schemas.openxmlformats.org/officeDocument/2006/relationships/image" Target="../media/image34.svg"/><Relationship Id="rId5" Type="http://schemas.openxmlformats.org/officeDocument/2006/relationships/image" Target="../media/image33.png"/><Relationship Id="rId6" Type="http://schemas.openxmlformats.org/officeDocument/2006/relationships/image" Target="../media/image34.svg"/><Relationship Id="rId7" Type="http://schemas.openxmlformats.org/officeDocument/2006/relationships/image" Target="../media/image35.png"/><Relationship Id="rId8" Type="http://schemas.openxmlformats.org/officeDocument/2006/relationships/image" Target="../media/image36.svg"/><Relationship Id="rId9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svg"/><Relationship Id="rId4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image" Target="../media/image42.svg"/><Relationship Id="rId4" Type="http://schemas.openxmlformats.org/officeDocument/2006/relationships/image" Target="../media/image43.png"/><Relationship Id="rId5" Type="http://schemas.openxmlformats.org/officeDocument/2006/relationships/image" Target="../media/image41.png"/><Relationship Id="rId6" Type="http://schemas.openxmlformats.org/officeDocument/2006/relationships/image" Target="../media/image42.sv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4.png"/><Relationship Id="rId10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svg"/><Relationship Id="rId3" Type="http://schemas.openxmlformats.org/officeDocument/2006/relationships/image" Target="../media/image45.png"/><Relationship Id="rId4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po 12"/>
          <p:cNvGrpSpPr/>
          <p:nvPr/>
        </p:nvGrpSpPr>
        <p:grpSpPr>
          <a:xfrm>
            <a:off x="-2158920" y="-2362320"/>
            <a:ext cx="19633680" cy="13410720"/>
            <a:chOff x="-2158920" y="-2362320"/>
            <a:chExt cx="19633680" cy="13410720"/>
          </a:xfrm>
        </p:grpSpPr>
        <p:pic>
          <p:nvPicPr>
            <p:cNvPr id="32" name="Immagine 10"/>
            <p:cNvPicPr/>
            <p:nvPr/>
          </p:nvPicPr>
          <p:blipFill>
            <a:blip r:embed="rId1"/>
            <a:srcRect l="0" t="3724" r="-509" b="14705"/>
            <a:stretch/>
          </p:blipFill>
          <p:spPr>
            <a:xfrm>
              <a:off x="-2158920" y="-2362320"/>
              <a:ext cx="17067240" cy="13410720"/>
            </a:xfrm>
            <a:prstGeom prst="rect">
              <a:avLst/>
            </a:prstGeom>
            <a:noFill/>
            <a:ln w="0">
              <a:noFill/>
            </a:ln>
            <a:effectLst>
              <a:softEdge rad="1270080"/>
            </a:effectLst>
          </p:spPr>
        </p:pic>
        <p:sp>
          <p:nvSpPr>
            <p:cNvPr id="33" name="Rettangolo 11"/>
            <p:cNvSpPr/>
            <p:nvPr/>
          </p:nvSpPr>
          <p:spPr>
            <a:xfrm>
              <a:off x="8737560" y="-1676520"/>
              <a:ext cx="8737200" cy="12496320"/>
            </a:xfrm>
            <a:prstGeom prst="rect">
              <a:avLst/>
            </a:prstGeom>
            <a:solidFill>
              <a:srgbClr val="f2f0eb">
                <a:alpha val="75000"/>
              </a:srgbClr>
            </a:solidFill>
            <a:ln w="25560">
              <a:noFill/>
            </a:ln>
            <a:effectLst>
              <a:softEdge rad="1041480"/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4" name="object 4"/>
          <p:cNvSpPr/>
          <p:nvPr/>
        </p:nvSpPr>
        <p:spPr>
          <a:xfrm>
            <a:off x="10672920" y="-304920"/>
            <a:ext cx="45360" cy="7695720"/>
          </a:xfrm>
          <a:custGeom>
            <a:avLst/>
            <a:gdLst>
              <a:gd name="textAreaLeft" fmla="*/ 0 w 45360"/>
              <a:gd name="textAreaRight" fmla="*/ 45720 w 45360"/>
              <a:gd name="textAreaTop" fmla="*/ 0 h 7695720"/>
              <a:gd name="textAreaBottom" fmla="*/ 7696080 h 769572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object 5"/>
          <p:cNvSpPr/>
          <p:nvPr/>
        </p:nvSpPr>
        <p:spPr>
          <a:xfrm>
            <a:off x="11684160" y="1251000"/>
            <a:ext cx="63000" cy="360"/>
          </a:xfrm>
          <a:custGeom>
            <a:avLst/>
            <a:gdLst>
              <a:gd name="textAreaLeft" fmla="*/ 0 w 63000"/>
              <a:gd name="textAreaRight" fmla="*/ 63360 w 630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63500" h="0">
                <a:moveTo>
                  <a:pt x="0" y="0"/>
                </a:moveTo>
                <a:lnTo>
                  <a:pt x="63500" y="0"/>
                </a:lnTo>
              </a:path>
            </a:pathLst>
          </a:custGeom>
          <a:noFill/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object 8"/>
          <p:cNvSpPr/>
          <p:nvPr/>
        </p:nvSpPr>
        <p:spPr>
          <a:xfrm>
            <a:off x="11480760" y="8839080"/>
            <a:ext cx="5353200" cy="65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indent="8280" algn="ctr">
              <a:lnSpc>
                <a:spcPct val="106000"/>
              </a:lnSpc>
              <a:spcBef>
                <a:spcPts val="96"/>
              </a:spcBef>
              <a:tabLst>
                <a:tab algn="l" pos="0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Corso di A.S.E.T., facoltà</a:t>
            </a:r>
            <a:r>
              <a:rPr lang="it-IT" sz="2000" b="0" u="none" spc="-13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</a:t>
            </a:r>
            <a:r>
              <a:rPr lang="it-IT" sz="2000" b="0" u="none" spc="-9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Electrical</a:t>
            </a:r>
            <a:r>
              <a:rPr lang="it-IT" sz="2000" b="0" u="none" spc="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0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Engineering, Politecnico di Milano.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object 9"/>
          <p:cNvSpPr/>
          <p:nvPr/>
        </p:nvSpPr>
        <p:spPr>
          <a:xfrm>
            <a:off x="8121240" y="8312040"/>
            <a:ext cx="5760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2500" b="0" u="none" spc="-859" strike="noStrike">
                <a:solidFill>
                  <a:srgbClr val="b5855e"/>
                </a:solidFill>
                <a:effectLst/>
                <a:uFillTx/>
                <a:latin typeface="Calibri"/>
              </a:rPr>
              <a:t>”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1163960" y="796680"/>
            <a:ext cx="6488640" cy="270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it-IT" sz="4400" b="1" u="none" spc="113" strike="noStrike">
                <a:solidFill>
                  <a:srgbClr val="151515"/>
                </a:solidFill>
                <a:effectLst/>
                <a:uFillTx/>
                <a:latin typeface="Arial MT"/>
              </a:rPr>
              <a:t>Studio di fattibilità </a:t>
            </a:r>
            <a:br>
              <a:rPr sz="4400"/>
            </a:br>
            <a:r>
              <a:rPr lang="it-IT" sz="4400" b="1" u="none" spc="113" strike="noStrike">
                <a:solidFill>
                  <a:srgbClr val="151515"/>
                </a:solidFill>
                <a:effectLst/>
                <a:uFillTx/>
                <a:latin typeface="Arial MT"/>
              </a:rPr>
              <a:t>per l’elettrificazione</a:t>
            </a:r>
            <a:br>
              <a:rPr sz="4400"/>
            </a:br>
            <a:r>
              <a:rPr lang="it-IT" sz="4400" b="1" u="none" spc="113" strike="noStrike">
                <a:solidFill>
                  <a:srgbClr val="151515"/>
                </a:solidFill>
                <a:effectLst/>
                <a:uFillTx/>
                <a:latin typeface="Arial MT"/>
              </a:rPr>
              <a:t>della Linea Bus 973,</a:t>
            </a:r>
            <a:br>
              <a:rPr sz="4400"/>
            </a:br>
            <a:r>
              <a:rPr lang="it-IT" sz="4400" b="1" u="none" spc="113" strike="noStrike">
                <a:solidFill>
                  <a:srgbClr val="151515"/>
                </a:solidFill>
                <a:effectLst/>
                <a:uFillTx/>
                <a:latin typeface="Arial MT"/>
              </a:rPr>
              <a:t>con tecnologia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" name="Titolo 14"/>
          <p:cNvSpPr/>
          <p:nvPr/>
        </p:nvSpPr>
        <p:spPr>
          <a:xfrm>
            <a:off x="11163960" y="4240440"/>
            <a:ext cx="4034880" cy="27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it-IT" sz="6000" b="1" u="none" spc="113" strike="noStrike">
                <a:solidFill>
                  <a:srgbClr val="1a63a2"/>
                </a:solidFill>
                <a:effectLst/>
                <a:uFillTx/>
                <a:latin typeface="Arial MT"/>
              </a:rPr>
              <a:t>W</a:t>
            </a:r>
            <a:r>
              <a:rPr lang="it-IT" sz="5400" b="1" u="none" spc="113" strike="noStrike">
                <a:solidFill>
                  <a:srgbClr val="151515"/>
                </a:solidFill>
                <a:effectLst/>
                <a:uFillTx/>
                <a:latin typeface="Arial MT"/>
              </a:rPr>
              <a:t>ireless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6000" b="1" u="none" spc="113" strike="noStrike">
                <a:solidFill>
                  <a:srgbClr val="1a63a2"/>
                </a:solidFill>
                <a:effectLst/>
                <a:uFillTx/>
                <a:latin typeface="Arial MT"/>
              </a:rPr>
              <a:t>P</a:t>
            </a:r>
            <a:r>
              <a:rPr lang="it-IT" sz="5400" b="1" u="none" spc="113" strike="noStrike">
                <a:solidFill>
                  <a:srgbClr val="151515"/>
                </a:solidFill>
                <a:effectLst/>
                <a:uFillTx/>
                <a:latin typeface="Arial MT"/>
              </a:rPr>
              <a:t>ower 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6000" b="1" u="none" spc="113" strike="noStrike">
                <a:solidFill>
                  <a:srgbClr val="1a63a2"/>
                </a:solidFill>
                <a:effectLst/>
                <a:uFillTx/>
                <a:latin typeface="Arial MT"/>
              </a:rPr>
              <a:t>T</a:t>
            </a:r>
            <a:r>
              <a:rPr lang="it-IT" sz="5400" b="1" u="none" spc="113" strike="noStrike">
                <a:solidFill>
                  <a:srgbClr val="151515"/>
                </a:solidFill>
                <a:effectLst/>
                <a:uFillTx/>
                <a:latin typeface="Arial MT"/>
              </a:rPr>
              <a:t>ransfer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object 8"/>
          <p:cNvSpPr/>
          <p:nvPr/>
        </p:nvSpPr>
        <p:spPr>
          <a:xfrm>
            <a:off x="11386080" y="7924680"/>
            <a:ext cx="5657040" cy="73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 indent="8280" algn="ctr">
              <a:lnSpc>
                <a:spcPct val="106000"/>
              </a:lnSpc>
              <a:spcBef>
                <a:spcPts val="96"/>
              </a:spcBef>
              <a:tabLst>
                <a:tab algn="l" pos="0"/>
              </a:tabLst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Autori: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8280" algn="ctr">
              <a:lnSpc>
                <a:spcPct val="106000"/>
              </a:lnSpc>
              <a:spcBef>
                <a:spcPts val="96"/>
              </a:spcBef>
              <a:tabLst>
                <a:tab algn="l" pos="0"/>
              </a:tabLst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Fabio Canossi, Joshua Rizzello, Michele Savoldelli.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Immagine 25"/>
          <p:cNvPicPr/>
          <p:nvPr/>
        </p:nvPicPr>
        <p:blipFill>
          <a:blip r:embed="rId2"/>
          <a:srcRect l="5638" t="7207" r="0" b="0"/>
          <a:stretch/>
        </p:blipFill>
        <p:spPr>
          <a:xfrm>
            <a:off x="14574600" y="3886200"/>
            <a:ext cx="2777400" cy="3703680"/>
          </a:xfrm>
          <a:prstGeom prst="rect">
            <a:avLst/>
          </a:prstGeom>
          <a:noFill/>
          <a:ln w="0">
            <a:noFill/>
          </a:ln>
          <a:effectLst>
            <a:softEdge rad="317520"/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object 2"/>
          <p:cNvPicPr/>
          <p:nvPr/>
        </p:nvPicPr>
        <p:blipFill>
          <a:blip r:embed="rId1"/>
          <a:stretch/>
        </p:blipFill>
        <p:spPr>
          <a:xfrm>
            <a:off x="9398160" y="7805160"/>
            <a:ext cx="634680" cy="119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object 3"/>
          <p:cNvPicPr/>
          <p:nvPr/>
        </p:nvPicPr>
        <p:blipFill>
          <a:blip r:embed="rId2"/>
          <a:stretch/>
        </p:blipFill>
        <p:spPr>
          <a:xfrm>
            <a:off x="10134720" y="8376480"/>
            <a:ext cx="456840" cy="62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object 5"/>
          <p:cNvPicPr/>
          <p:nvPr/>
        </p:nvPicPr>
        <p:blipFill>
          <a:blip r:embed="rId3"/>
          <a:stretch/>
        </p:blipFill>
        <p:spPr>
          <a:xfrm>
            <a:off x="9398160" y="5925600"/>
            <a:ext cx="1180800" cy="118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object 6"/>
          <p:cNvPicPr/>
          <p:nvPr/>
        </p:nvPicPr>
        <p:blipFill>
          <a:blip r:embed="rId4"/>
          <a:stretch/>
        </p:blipFill>
        <p:spPr>
          <a:xfrm>
            <a:off x="9398160" y="4083840"/>
            <a:ext cx="1180800" cy="114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270080" y="457200"/>
            <a:ext cx="15540120" cy="729720"/>
          </a:xfrm>
          <a:prstGeom prst="rect">
            <a:avLst/>
          </a:prstGeom>
          <a:noFill/>
          <a:ln w="0">
            <a:noFill/>
          </a:ln>
        </p:spPr>
        <p:txBody>
          <a:bodyPr lIns="0" rIns="0" tIns="96840" bIns="0" anchor="t">
            <a:spAutoFit/>
          </a:bodyPr>
          <a:p>
            <a:pPr indent="0">
              <a:lnSpc>
                <a:spcPct val="100000"/>
              </a:lnSpc>
              <a:spcBef>
                <a:spcPts val="136"/>
              </a:spcBef>
              <a:buNone/>
            </a:pPr>
            <a:r>
              <a:rPr lang="en-US" sz="3850" b="1" u="none" spc="51" strike="noStrike">
                <a:solidFill>
                  <a:srgbClr val="1a63a2"/>
                </a:solidFill>
                <a:effectLst/>
                <a:uFillTx/>
                <a:latin typeface="Arial MT"/>
              </a:rPr>
              <a:t>Tecnologia</a:t>
            </a:r>
            <a:r>
              <a:rPr lang="en-US" sz="3850" b="1" u="none" spc="264" strike="noStrike">
                <a:solidFill>
                  <a:srgbClr val="1a63a2"/>
                </a:solidFill>
                <a:effectLst/>
                <a:uFillTx/>
                <a:latin typeface="Arial MT"/>
              </a:rPr>
              <a:t> </a:t>
            </a:r>
            <a:r>
              <a:rPr lang="it-IT" sz="3850" b="1" u="none" spc="159" strike="noStrike">
                <a:solidFill>
                  <a:srgbClr val="1a63a2"/>
                </a:solidFill>
                <a:effectLst/>
                <a:uFillTx/>
                <a:latin typeface="Arial MT"/>
              </a:rPr>
              <a:t>abilitante</a:t>
            </a:r>
            <a:endParaRPr lang="en-US" sz="38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" name="object 11"/>
          <p:cNvSpPr/>
          <p:nvPr/>
        </p:nvSpPr>
        <p:spPr>
          <a:xfrm>
            <a:off x="1270080" y="1266120"/>
            <a:ext cx="14934960" cy="20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9040" bIns="0" anchor="t">
            <a:spAutoFit/>
          </a:bodyPr>
          <a:p>
            <a:pPr marL="28440" indent="-3960" algn="just">
              <a:lnSpc>
                <a:spcPts val="3101"/>
              </a:lnSpc>
              <a:spcBef>
                <a:spcPts val="465"/>
              </a:spcBef>
              <a:tabLst>
                <a:tab algn="l" pos="0"/>
              </a:tabLst>
            </a:pPr>
            <a:r>
              <a:rPr lang="it-IT" sz="24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Il trasferimento di potenza elettrica avviene tramite </a:t>
            </a:r>
            <a:r>
              <a:rPr lang="it-IT" sz="2400" b="0" u="none" spc="-51" strike="noStrike">
                <a:solidFill>
                  <a:srgbClr val="1a63a2"/>
                </a:solidFill>
                <a:effectLst/>
                <a:uFillTx/>
                <a:latin typeface="Calibri"/>
              </a:rPr>
              <a:t>l’accoppiamento induttivo statico di due bobine </a:t>
            </a:r>
            <a:r>
              <a:rPr lang="it-IT" sz="2400" b="0" u="none" spc="-51" strike="noStrike">
                <a:solidFill>
                  <a:schemeClr val="dk1"/>
                </a:solidFill>
                <a:effectLst/>
                <a:uFillTx/>
                <a:latin typeface="Calibri"/>
              </a:rPr>
              <a:t>(pad). </a:t>
            </a:r>
            <a:r>
              <a:rPr lang="it-IT" sz="24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La prima,</a:t>
            </a:r>
            <a:r>
              <a:rPr lang="it-IT" sz="2400" b="0" u="none" spc="-15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trasmittente,</a:t>
            </a:r>
            <a:r>
              <a:rPr lang="it-IT" sz="2400" b="0" u="none" spc="-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installata sopra o sotto</a:t>
            </a:r>
            <a:r>
              <a:rPr lang="it-IT" sz="2400" b="0" u="none" spc="-74" strike="noStrike">
                <a:solidFill>
                  <a:srgbClr val="000000"/>
                </a:solidFill>
                <a:effectLst/>
                <a:uFillTx/>
                <a:latin typeface="Calibri"/>
              </a:rPr>
              <a:t> i</a:t>
            </a: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</a:t>
            </a:r>
            <a:r>
              <a:rPr lang="it-IT" sz="2400" b="0" u="none" spc="-113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manto </a:t>
            </a:r>
            <a:r>
              <a:rPr lang="it-IT" sz="2400" b="0" u="none" spc="-40" strike="noStrike">
                <a:solidFill>
                  <a:srgbClr val="000000"/>
                </a:solidFill>
                <a:effectLst/>
                <a:uFillTx/>
                <a:latin typeface="Calibri"/>
              </a:rPr>
              <a:t>stradale</a:t>
            </a:r>
            <a:r>
              <a:rPr lang="it-IT" sz="2400" b="0" u="none" spc="-12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alimenta</a:t>
            </a:r>
            <a:r>
              <a:rPr lang="it-IT" sz="2400" b="0" u="none" spc="-11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una</a:t>
            </a:r>
            <a:r>
              <a:rPr lang="it-IT" sz="2400" b="0" u="none" spc="-113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34" strike="noStrike">
                <a:solidFill>
                  <a:srgbClr val="000000"/>
                </a:solidFill>
                <a:effectLst/>
                <a:uFillTx/>
                <a:latin typeface="Calibri"/>
              </a:rPr>
              <a:t>bobina</a:t>
            </a:r>
            <a:r>
              <a:rPr lang="it-IT" sz="2400" b="0" u="none" spc="-113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34" strike="noStrike">
                <a:solidFill>
                  <a:srgbClr val="000000"/>
                </a:solidFill>
                <a:effectLst/>
                <a:uFillTx/>
                <a:latin typeface="Calibri"/>
              </a:rPr>
              <a:t>ricevente</a:t>
            </a:r>
            <a:r>
              <a:rPr lang="it-IT" sz="2400" b="0" u="none" spc="11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54" strike="noStrike">
                <a:solidFill>
                  <a:srgbClr val="000000"/>
                </a:solidFill>
                <a:effectLst/>
                <a:uFillTx/>
                <a:latin typeface="Calibri"/>
              </a:rPr>
              <a:t>sotto</a:t>
            </a:r>
            <a:r>
              <a:rPr lang="it-IT" sz="2400" b="0" u="none" spc="-11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il</a:t>
            </a:r>
            <a:r>
              <a:rPr lang="it-IT" sz="2400" b="0" u="none" spc="-16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34" strike="noStrike">
                <a:solidFill>
                  <a:srgbClr val="000000"/>
                </a:solidFill>
                <a:effectLst/>
                <a:uFillTx/>
                <a:latin typeface="Calibri"/>
              </a:rPr>
              <a:t>veicolo.</a:t>
            </a:r>
            <a:r>
              <a:rPr lang="it-IT" sz="24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74" strike="noStrike">
                <a:solidFill>
                  <a:srgbClr val="000000"/>
                </a:solidFill>
                <a:effectLst/>
                <a:uFillTx/>
                <a:latin typeface="Calibri"/>
              </a:rPr>
              <a:t>La</a:t>
            </a:r>
            <a:r>
              <a:rPr lang="it-IT" sz="2400" b="0" u="none" spc="-16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tecnologia</a:t>
            </a:r>
            <a:r>
              <a:rPr lang="it-IT" sz="2400" b="0" u="none" spc="-9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risonante (</a:t>
            </a:r>
            <a:r>
              <a:rPr lang="it-IT" sz="2400" b="0" u="none" spc="-11" strike="noStrike">
                <a:solidFill>
                  <a:srgbClr val="1a63a2"/>
                </a:solidFill>
                <a:effectLst/>
                <a:uFillTx/>
                <a:latin typeface="Calibri"/>
              </a:rPr>
              <a:t>RIWPT</a:t>
            </a:r>
            <a:r>
              <a:rPr lang="it-IT" sz="24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), attraverso circuiti di compensazione, minimizza l’impedenza reattiva,</a:t>
            </a:r>
            <a:r>
              <a:rPr lang="it-IT" sz="2400" b="0" u="none" spc="-8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34" strike="noStrike">
                <a:solidFill>
                  <a:srgbClr val="000000"/>
                </a:solidFill>
                <a:effectLst/>
                <a:uFillTx/>
                <a:latin typeface="Calibri"/>
              </a:rPr>
              <a:t>garantendo</a:t>
            </a:r>
            <a:r>
              <a:rPr lang="it-IT" sz="24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un'efficienza </a:t>
            </a:r>
            <a:r>
              <a:rPr lang="it-IT" sz="2400" b="0" u="none" spc="-45" strike="noStrike">
                <a:solidFill>
                  <a:srgbClr val="000000"/>
                </a:solidFill>
                <a:effectLst/>
                <a:uFillTx/>
                <a:latin typeface="Calibri"/>
              </a:rPr>
              <a:t>superiore</a:t>
            </a:r>
            <a:r>
              <a:rPr lang="it-IT" sz="2400" b="0" u="none" spc="-11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al</a:t>
            </a:r>
            <a:r>
              <a:rPr lang="it-IT" sz="2400" b="0" u="none" spc="-15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96" strike="noStrike">
                <a:solidFill>
                  <a:srgbClr val="000000"/>
                </a:solidFill>
                <a:effectLst/>
                <a:uFillTx/>
                <a:latin typeface="Calibri"/>
              </a:rPr>
              <a:t>90</a:t>
            </a:r>
            <a:r>
              <a:rPr lang="it-IT" sz="2000" b="0" u="none" spc="-142" strike="noStrike" baseline="30000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000" b="0" u="none" spc="-142" strike="noStrike">
                <a:solidFill>
                  <a:srgbClr val="000000"/>
                </a:solidFill>
                <a:effectLst/>
                <a:uFillTx/>
                <a:latin typeface="Calibri"/>
              </a:rPr>
              <a:t>%</a:t>
            </a:r>
            <a:r>
              <a:rPr lang="it-IT" sz="2400" b="0" u="none" spc="7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anche</a:t>
            </a:r>
            <a:r>
              <a:rPr lang="it-IT" sz="24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</a:t>
            </a:r>
            <a:r>
              <a:rPr lang="it-IT" sz="2400" b="0" u="none" spc="-9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un</a:t>
            </a:r>
            <a:r>
              <a:rPr lang="it-IT" sz="2400" b="0" u="none" spc="-4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54" strike="noStrike">
                <a:solidFill>
                  <a:srgbClr val="000000"/>
                </a:solidFill>
                <a:effectLst/>
                <a:uFillTx/>
                <a:latin typeface="Calibri"/>
              </a:rPr>
              <a:t>traferro</a:t>
            </a:r>
            <a:r>
              <a:rPr lang="it-IT" sz="2400" b="0" u="none" spc="7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fino</a:t>
            </a:r>
            <a:r>
              <a:rPr lang="it-IT" sz="2400" b="0" u="none" spc="-11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65" strike="noStrik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lang="it-IT" sz="2400" b="0" u="none" spc="-16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250</a:t>
            </a:r>
            <a:r>
              <a:rPr lang="it-IT" sz="2400" b="0" u="none" spc="-15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71" strike="noStrike">
                <a:solidFill>
                  <a:srgbClr val="000000"/>
                </a:solidFill>
                <a:effectLst/>
                <a:uFillTx/>
                <a:latin typeface="Calibri"/>
              </a:rPr>
              <a:t>mm,</a:t>
            </a:r>
            <a:r>
              <a:rPr lang="it-IT" sz="2400" b="0" u="none" spc="-8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tipico</a:t>
            </a:r>
            <a:r>
              <a:rPr lang="it-IT" sz="2400" b="0" u="none" spc="-9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degli</a:t>
            </a:r>
            <a:r>
              <a:rPr lang="it-IT" sz="2400" b="0" u="none" spc="-4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autobus. Nel modello coefficiente di accoppiamento terrà conto di distanza e disallineamento dei pad.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object 16"/>
          <p:cNvSpPr/>
          <p:nvPr/>
        </p:nvSpPr>
        <p:spPr>
          <a:xfrm>
            <a:off x="10772640" y="3954960"/>
            <a:ext cx="5432040" cy="122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9760" bIns="0" anchor="t">
            <a:spAutoFit/>
          </a:bodyPr>
          <a:p>
            <a:pPr marL="325080" indent="-313200" algn="just">
              <a:lnSpc>
                <a:spcPct val="89000"/>
              </a:lnSpc>
              <a:spcBef>
                <a:spcPts val="471"/>
              </a:spcBef>
              <a:buClr>
                <a:srgbClr val="000000"/>
              </a:buClr>
              <a:buFont typeface="Symbol" charset="2"/>
              <a:buChar char=""/>
              <a:tabLst>
                <a:tab algn="l" pos="325080"/>
                <a:tab algn="l" pos="331560"/>
              </a:tabLst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lang="en-US" sz="2900" b="0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Automazione</a:t>
            </a:r>
            <a:r>
              <a:rPr lang="en-US" sz="2900" b="0" u="none" spc="-45" strike="noStrike">
                <a:solidFill>
                  <a:srgbClr val="1a63a2"/>
                </a:solidFill>
                <a:effectLst/>
                <a:uFillTx/>
                <a:latin typeface="Calibri"/>
              </a:rPr>
              <a:t> </a:t>
            </a:r>
            <a:r>
              <a:rPr lang="en-US" sz="2900" b="0" u="none" spc="-20" strike="noStrike">
                <a:solidFill>
                  <a:srgbClr val="1a63a2"/>
                </a:solidFill>
                <a:effectLst/>
                <a:uFillTx/>
                <a:latin typeface="Calibri"/>
              </a:rPr>
              <a:t>Totale:</a:t>
            </a:r>
            <a:r>
              <a:rPr lang="en-US" sz="2900" b="0" u="none" spc="-119" strike="noStrike">
                <a:solidFill>
                  <a:srgbClr val="1a63a2"/>
                </a:solidFill>
                <a:effectLst/>
                <a:uFillTx/>
                <a:latin typeface="Calibri"/>
              </a:rPr>
              <a:t> </a:t>
            </a:r>
            <a:r>
              <a:rPr lang="en-US" sz="29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Nessun </a:t>
            </a:r>
            <a:r>
              <a:rPr lang="en-US" sz="2850" b="0" u="none" spc="-45" strike="noStrike">
                <a:solidFill>
                  <a:srgbClr val="000000"/>
                </a:solidFill>
                <a:effectLst/>
                <a:uFillTx/>
                <a:latin typeface="Calibri"/>
              </a:rPr>
              <a:t>intervento</a:t>
            </a:r>
            <a:r>
              <a:rPr lang="en-US" sz="2850" b="0" u="none" spc="-4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50" b="0" u="none" spc="-71" strike="noStrike">
                <a:solidFill>
                  <a:srgbClr val="000000"/>
                </a:solidFill>
                <a:effectLst/>
                <a:uFillTx/>
                <a:latin typeface="Calibri"/>
              </a:rPr>
              <a:t>umano,</a:t>
            </a:r>
            <a:r>
              <a:rPr lang="en-US" sz="2850" b="0" u="none" spc="-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50" b="0" u="none" spc="-45" strike="noStrike">
                <a:solidFill>
                  <a:srgbClr val="000000"/>
                </a:solidFill>
                <a:effectLst/>
                <a:uFillTx/>
                <a:latin typeface="Calibri"/>
              </a:rPr>
              <a:t>nessuna</a:t>
            </a:r>
            <a:r>
              <a:rPr lang="en-US" sz="2850" b="0" u="none" spc="-11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5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usura meccanica.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object 17"/>
          <p:cNvSpPr/>
          <p:nvPr/>
        </p:nvSpPr>
        <p:spPr>
          <a:xfrm>
            <a:off x="10785600" y="6018480"/>
            <a:ext cx="5419440" cy="124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8040" bIns="0" anchor="t">
            <a:spAutoFit/>
          </a:bodyPr>
          <a:p>
            <a:pPr marL="311760" indent="-299880" algn="just">
              <a:lnSpc>
                <a:spcPts val="3101"/>
              </a:lnSpc>
              <a:spcBef>
                <a:spcPts val="536"/>
              </a:spcBef>
              <a:buClr>
                <a:srgbClr val="000000"/>
              </a:buClr>
              <a:buFont typeface="Symbol" charset="2"/>
              <a:buChar char=""/>
              <a:tabLst>
                <a:tab algn="l" pos="311760"/>
                <a:tab algn="l" pos="320760"/>
              </a:tabLst>
            </a:pPr>
            <a:r>
              <a:rPr lang="en-US" sz="29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	</a:t>
            </a:r>
            <a:r>
              <a:rPr lang="en-US" sz="2900" b="0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Integrazione</a:t>
            </a:r>
            <a:r>
              <a:rPr lang="en-US" sz="2900" b="0" u="none" spc="-71" strike="noStrike">
                <a:solidFill>
                  <a:srgbClr val="1a63a2"/>
                </a:solidFill>
                <a:effectLst/>
                <a:uFillTx/>
                <a:latin typeface="Calibri"/>
              </a:rPr>
              <a:t> </a:t>
            </a:r>
            <a:r>
              <a:rPr lang="en-US" sz="2900" b="0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Urbana:</a:t>
            </a:r>
            <a:r>
              <a:rPr lang="en-US" sz="2900" b="0" u="none" spc="-45" strike="noStrike">
                <a:solidFill>
                  <a:srgbClr val="1a63a2"/>
                </a:solidFill>
                <a:effectLst/>
                <a:uFillTx/>
                <a:latin typeface="Calibri"/>
              </a:rPr>
              <a:t> </a:t>
            </a:r>
            <a:r>
              <a:rPr lang="en-US" sz="2900" b="0" u="none" spc="-105" strike="noStrike">
                <a:solidFill>
                  <a:srgbClr val="000000"/>
                </a:solidFill>
                <a:effectLst/>
                <a:uFillTx/>
                <a:latin typeface="Calibri"/>
              </a:rPr>
              <a:t>Impatto</a:t>
            </a:r>
            <a:r>
              <a:rPr lang="en-US" sz="29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9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visivo </a:t>
            </a:r>
            <a:r>
              <a:rPr lang="en-US" sz="2900" b="0" u="none" spc="-65" strike="noStrike">
                <a:solidFill>
                  <a:srgbClr val="000000"/>
                </a:solidFill>
                <a:effectLst/>
                <a:uFillTx/>
                <a:latin typeface="Calibri"/>
              </a:rPr>
              <a:t>nullo,</a:t>
            </a:r>
            <a:r>
              <a:rPr lang="en-US" sz="2900" b="0" u="none" spc="4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900" b="0" u="none" spc="-74" strike="noStrike">
                <a:solidFill>
                  <a:srgbClr val="000000"/>
                </a:solidFill>
                <a:effectLst/>
                <a:uFillTx/>
                <a:latin typeface="Calibri"/>
              </a:rPr>
              <a:t>nessuna</a:t>
            </a:r>
            <a:r>
              <a:rPr lang="en-US" sz="2900" b="0" u="none" spc="-1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900" b="0" u="none" spc="-65" strike="noStrike">
                <a:solidFill>
                  <a:srgbClr val="000000"/>
                </a:solidFill>
                <a:effectLst/>
                <a:uFillTx/>
                <a:latin typeface="Calibri"/>
              </a:rPr>
              <a:t>infrastruttura</a:t>
            </a:r>
            <a:r>
              <a:rPr lang="en-US" sz="2900" b="0" u="none" spc="-17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9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aerea.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object 18"/>
          <p:cNvSpPr/>
          <p:nvPr/>
        </p:nvSpPr>
        <p:spPr>
          <a:xfrm>
            <a:off x="10771200" y="7741080"/>
            <a:ext cx="5432040" cy="12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5680" bIns="0" anchor="t">
            <a:spAutoFit/>
          </a:bodyPr>
          <a:p>
            <a:pPr marL="324360" indent="-312480" algn="just">
              <a:lnSpc>
                <a:spcPts val="3101"/>
              </a:lnSpc>
              <a:spcBef>
                <a:spcPts val="675"/>
              </a:spcBef>
              <a:buClr>
                <a:srgbClr val="1a63a2"/>
              </a:buClr>
              <a:buFont typeface="Symbol" charset="2"/>
              <a:buChar char=""/>
              <a:tabLst>
                <a:tab algn="l" pos="324360"/>
                <a:tab algn="l" pos="332640"/>
              </a:tabLst>
            </a:pPr>
            <a:r>
              <a:rPr lang="en-US" sz="3050" b="0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	</a:t>
            </a:r>
            <a:r>
              <a:rPr lang="en-US" sz="3050" b="0" u="none" spc="-51" strike="noStrike">
                <a:solidFill>
                  <a:srgbClr val="1a63a2"/>
                </a:solidFill>
                <a:effectLst/>
                <a:uFillTx/>
                <a:latin typeface="Calibri"/>
              </a:rPr>
              <a:t>Batterie</a:t>
            </a:r>
            <a:r>
              <a:rPr lang="en-US" sz="3050" b="0" u="none" spc="-96" strike="noStrike">
                <a:solidFill>
                  <a:srgbClr val="1a63a2"/>
                </a:solidFill>
                <a:effectLst/>
                <a:uFillTx/>
                <a:latin typeface="Calibri"/>
              </a:rPr>
              <a:t> </a:t>
            </a:r>
            <a:r>
              <a:rPr lang="en-US" sz="3050" b="0" u="none" spc="-45" strike="noStrike">
                <a:solidFill>
                  <a:srgbClr val="1a63a2"/>
                </a:solidFill>
                <a:effectLst/>
                <a:uFillTx/>
                <a:latin typeface="Calibri"/>
              </a:rPr>
              <a:t>Ridotte:</a:t>
            </a:r>
            <a:r>
              <a:rPr lang="en-US" sz="3050" b="0" u="none" spc="-79" strike="noStrike">
                <a:solidFill>
                  <a:srgbClr val="1a63a2"/>
                </a:solidFill>
                <a:effectLst/>
                <a:uFillTx/>
                <a:latin typeface="Calibri"/>
              </a:rPr>
              <a:t> </a:t>
            </a:r>
            <a:r>
              <a:rPr lang="en-US" sz="305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Potenziale</a:t>
            </a:r>
            <a:r>
              <a:rPr lang="en-US" sz="305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 di </a:t>
            </a:r>
            <a:r>
              <a:rPr lang="en-US" sz="2950" b="0" u="none" spc="-71" strike="noStrike">
                <a:solidFill>
                  <a:srgbClr val="000000"/>
                </a:solidFill>
                <a:effectLst/>
                <a:uFillTx/>
                <a:latin typeface="Calibri"/>
              </a:rPr>
              <a:t>downsizing</a:t>
            </a:r>
            <a:r>
              <a:rPr lang="en-US" sz="2950" b="0" u="none" spc="-7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95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del</a:t>
            </a:r>
            <a:r>
              <a:rPr lang="en-US" sz="2950" b="0" u="none" spc="-113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950" b="0" u="none" spc="-91" strike="noStrike">
                <a:solidFill>
                  <a:srgbClr val="000000"/>
                </a:solidFill>
                <a:effectLst/>
                <a:uFillTx/>
                <a:latin typeface="Calibri"/>
              </a:rPr>
              <a:t>pacco</a:t>
            </a:r>
            <a:r>
              <a:rPr lang="en-US" sz="2950" b="0" u="none" spc="-7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95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batterie, </a:t>
            </a:r>
            <a:r>
              <a:rPr lang="en-US" sz="3050" b="0" u="none" spc="-139" strike="noStrike">
                <a:solidFill>
                  <a:srgbClr val="000000"/>
                </a:solidFill>
                <a:effectLst/>
                <a:uFillTx/>
                <a:latin typeface="Calibri"/>
              </a:rPr>
              <a:t>riducendo</a:t>
            </a:r>
            <a:r>
              <a:rPr lang="en-US" sz="3050" b="0" u="none" spc="4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05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peso</a:t>
            </a:r>
            <a:r>
              <a:rPr lang="en-US" sz="305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050" b="0" u="none" spc="-85" strike="noStrik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lang="en-US" sz="305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305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costi.</a:t>
            </a:r>
            <a:endParaRPr lang="en-US" sz="3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Immagine 19"/>
          <p:cNvPicPr/>
          <p:nvPr/>
        </p:nvPicPr>
        <p:blipFill>
          <a:blip r:embed="rId5"/>
          <a:srcRect l="0" t="0" r="50541" b="0"/>
          <a:stretch/>
        </p:blipFill>
        <p:spPr>
          <a:xfrm>
            <a:off x="840960" y="3733920"/>
            <a:ext cx="7454520" cy="556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object 4"/>
          <p:cNvSpPr/>
          <p:nvPr/>
        </p:nvSpPr>
        <p:spPr>
          <a:xfrm>
            <a:off x="8889840" y="3733920"/>
            <a:ext cx="115560" cy="5564160"/>
          </a:xfrm>
          <a:custGeom>
            <a:avLst/>
            <a:gdLst>
              <a:gd name="textAreaLeft" fmla="*/ 0 w 115560"/>
              <a:gd name="textAreaRight" fmla="*/ 115920 w 115560"/>
              <a:gd name="textAreaTop" fmla="*/ 0 h 5564160"/>
              <a:gd name="textAreaBottom" fmla="*/ 5564520 h 556416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object 4"/>
          <p:cNvSpPr/>
          <p:nvPr/>
        </p:nvSpPr>
        <p:spPr>
          <a:xfrm>
            <a:off x="965160" y="592560"/>
            <a:ext cx="75960" cy="2702160"/>
          </a:xfrm>
          <a:custGeom>
            <a:avLst/>
            <a:gdLst>
              <a:gd name="textAreaLeft" fmla="*/ 0 w 75960"/>
              <a:gd name="textAreaRight" fmla="*/ 76320 w 75960"/>
              <a:gd name="textAreaTop" fmla="*/ 0 h 2702160"/>
              <a:gd name="textAreaBottom" fmla="*/ 2702520 h 270216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270080" y="304920"/>
            <a:ext cx="15540120" cy="729720"/>
          </a:xfrm>
          <a:prstGeom prst="rect">
            <a:avLst/>
          </a:prstGeom>
          <a:noFill/>
          <a:ln w="0">
            <a:noFill/>
          </a:ln>
        </p:spPr>
        <p:txBody>
          <a:bodyPr lIns="0" rIns="0" tIns="96840" bIns="0" anchor="t">
            <a:spAutoFit/>
          </a:bodyPr>
          <a:p>
            <a:pPr indent="0">
              <a:lnSpc>
                <a:spcPct val="100000"/>
              </a:lnSpc>
              <a:spcBef>
                <a:spcPts val="136"/>
              </a:spcBef>
              <a:buNone/>
            </a:pPr>
            <a:r>
              <a:rPr lang="it-IT" sz="3850" b="1" u="none" spc="51" strike="noStrike">
                <a:solidFill>
                  <a:srgbClr val="1a63a2"/>
                </a:solidFill>
                <a:effectLst/>
                <a:uFillTx/>
                <a:latin typeface="Arial MT"/>
              </a:rPr>
              <a:t>Obiettivi del progetto</a:t>
            </a:r>
            <a:endParaRPr lang="en-US" sz="38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5" name="object 11"/>
          <p:cNvSpPr/>
          <p:nvPr/>
        </p:nvSpPr>
        <p:spPr>
          <a:xfrm>
            <a:off x="1270080" y="1113840"/>
            <a:ext cx="15006600" cy="17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9040" bIns="0" anchor="t">
            <a:spAutoFit/>
          </a:bodyPr>
          <a:p>
            <a:pPr marL="28440" indent="-3960" algn="just">
              <a:lnSpc>
                <a:spcPts val="3101"/>
              </a:lnSpc>
              <a:spcBef>
                <a:spcPts val="465"/>
              </a:spcBef>
              <a:tabLst>
                <a:tab algn="l" pos="0"/>
              </a:tabLst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L’obiettivo è valutare la fattibilità tecnica ed energetica di un sistema di ricarica WPT statico per la linea milanese del bus 973, tramite la produzione di codice MatLab scalabile. L’analisi mira a: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440" indent="-3960" algn="just">
              <a:lnSpc>
                <a:spcPts val="3101"/>
              </a:lnSpc>
              <a:spcBef>
                <a:spcPts val="465"/>
              </a:spcBef>
              <a:tabLst>
                <a:tab algn="l" pos="0"/>
              </a:tabLst>
            </a:pPr>
            <a:r>
              <a:rPr lang="it-IT" sz="3200" b="1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1.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Modellare il consumo energetico basandosi su dati cinematici reali.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440" indent="-3960" algn="just">
              <a:lnSpc>
                <a:spcPts val="3101"/>
              </a:lnSpc>
              <a:spcBef>
                <a:spcPts val="465"/>
              </a:spcBef>
              <a:tabLst>
                <a:tab algn="l" pos="0"/>
              </a:tabLst>
            </a:pPr>
            <a:r>
              <a:rPr lang="it-IT" sz="3200" b="1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2.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Verificare il bilancio energetico considerando diversi scenari di ricarica nelle soste programmate.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object 4"/>
          <p:cNvSpPr/>
          <p:nvPr/>
        </p:nvSpPr>
        <p:spPr>
          <a:xfrm>
            <a:off x="948600" y="440280"/>
            <a:ext cx="45360" cy="2496960"/>
          </a:xfrm>
          <a:custGeom>
            <a:avLst/>
            <a:gdLst>
              <a:gd name="textAreaLeft" fmla="*/ 0 w 45360"/>
              <a:gd name="textAreaRight" fmla="*/ 45720 w 45360"/>
              <a:gd name="textAreaTop" fmla="*/ 0 h 2496960"/>
              <a:gd name="textAreaBottom" fmla="*/ 2497320 h 249696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object 10"/>
          <p:cNvSpPr/>
          <p:nvPr/>
        </p:nvSpPr>
        <p:spPr>
          <a:xfrm>
            <a:off x="1274400" y="3369960"/>
            <a:ext cx="1554012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6840" bIns="0" anchor="t">
            <a:spAutoFit/>
          </a:bodyPr>
          <a:p>
            <a:pPr>
              <a:lnSpc>
                <a:spcPct val="100000"/>
              </a:lnSpc>
              <a:spcBef>
                <a:spcPts val="136"/>
              </a:spcBef>
            </a:pPr>
            <a:r>
              <a:rPr lang="it-IT" sz="3850" b="1" u="none" spc="51" strike="noStrike">
                <a:solidFill>
                  <a:srgbClr val="1a63a2"/>
                </a:solidFill>
                <a:effectLst/>
                <a:uFillTx/>
                <a:latin typeface="Arial MT"/>
              </a:rPr>
              <a:t>Focus sulla linea 973</a:t>
            </a:r>
            <a:endParaRPr lang="en-US" sz="3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object 11"/>
          <p:cNvSpPr/>
          <p:nvPr/>
        </p:nvSpPr>
        <p:spPr>
          <a:xfrm>
            <a:off x="1274400" y="4178880"/>
            <a:ext cx="15006600" cy="163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9040" bIns="0" anchor="t">
            <a:spAutoFit/>
          </a:bodyPr>
          <a:p>
            <a:pPr marL="28440" indent="-3960" algn="just">
              <a:lnSpc>
                <a:spcPts val="3101"/>
              </a:lnSpc>
              <a:spcBef>
                <a:spcPts val="465"/>
              </a:spcBef>
              <a:tabLst>
                <a:tab algn="l" pos="0"/>
              </a:tabLst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 linea 973 (</a:t>
            </a:r>
            <a:r>
              <a:rPr lang="it-IT" sz="2800" b="0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Milano P.za Cinque Giornate </a:t>
            </a:r>
            <a:r>
              <a:rPr lang="it-I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</a:t>
            </a:r>
            <a:r>
              <a:rPr lang="it-IT" sz="2800" b="0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 Linate Aeroporto </a:t>
            </a:r>
            <a:r>
              <a:rPr lang="it-IT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-</a:t>
            </a:r>
            <a:r>
              <a:rPr lang="it-IT" sz="2800" b="0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 San Felicino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 sostituisce la vecchia linea 73, ed è stata scelta perché presenta caratteristiche ideali per il WPT, principalmente grazie a ampie porzioni del percorso su corsie preferenziali che garantiscono regolarità del moto e facilità di allineamento ai pad nei capolinea.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object 4"/>
          <p:cNvSpPr/>
          <p:nvPr/>
        </p:nvSpPr>
        <p:spPr>
          <a:xfrm>
            <a:off x="953280" y="3505320"/>
            <a:ext cx="45360" cy="2088360"/>
          </a:xfrm>
          <a:custGeom>
            <a:avLst/>
            <a:gdLst>
              <a:gd name="textAreaLeft" fmla="*/ 0 w 45360"/>
              <a:gd name="textAreaRight" fmla="*/ 45720 w 45360"/>
              <a:gd name="textAreaTop" fmla="*/ 0 h 2088360"/>
              <a:gd name="textAreaBottom" fmla="*/ 2088720 h 208836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Immagine 8"/>
          <p:cNvPicPr/>
          <p:nvPr/>
        </p:nvPicPr>
        <p:blipFill>
          <a:blip r:embed="rId1"/>
          <a:srcRect l="0" t="7191" r="0" b="3103"/>
          <a:stretch/>
        </p:blipFill>
        <p:spPr>
          <a:xfrm>
            <a:off x="3667680" y="6019920"/>
            <a:ext cx="10139400" cy="3380400"/>
          </a:xfrm>
          <a:prstGeom prst="rect">
            <a:avLst/>
          </a:prstGeom>
          <a:noFill/>
          <a:ln w="0">
            <a:noFill/>
          </a:ln>
          <a:effectLst>
            <a:softEdge rad="254160"/>
          </a:effectLst>
        </p:spPr>
      </p:pic>
    </p:spTree>
  </p:cSld>
  <p:transition spd="slow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object 2"/>
          <p:cNvPicPr/>
          <p:nvPr/>
        </p:nvPicPr>
        <p:blipFill>
          <a:blip r:embed="rId1"/>
          <a:stretch/>
        </p:blipFill>
        <p:spPr>
          <a:xfrm>
            <a:off x="1498680" y="3975120"/>
            <a:ext cx="2285640" cy="227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object 3"/>
          <p:cNvPicPr/>
          <p:nvPr/>
        </p:nvPicPr>
        <p:blipFill>
          <a:blip r:embed="rId2"/>
          <a:stretch/>
        </p:blipFill>
        <p:spPr>
          <a:xfrm>
            <a:off x="4229280" y="4902120"/>
            <a:ext cx="888480" cy="40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object 4"/>
          <p:cNvPicPr/>
          <p:nvPr/>
        </p:nvPicPr>
        <p:blipFill>
          <a:blip r:embed="rId3"/>
          <a:stretch/>
        </p:blipFill>
        <p:spPr>
          <a:xfrm>
            <a:off x="5587920" y="3975120"/>
            <a:ext cx="2285640" cy="227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object 5"/>
          <p:cNvPicPr/>
          <p:nvPr/>
        </p:nvPicPr>
        <p:blipFill>
          <a:blip r:embed="rId4"/>
          <a:stretch/>
        </p:blipFill>
        <p:spPr>
          <a:xfrm>
            <a:off x="8305920" y="4902120"/>
            <a:ext cx="888480" cy="40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object 6"/>
          <p:cNvPicPr/>
          <p:nvPr/>
        </p:nvPicPr>
        <p:blipFill>
          <a:blip r:embed="rId5"/>
          <a:stretch/>
        </p:blipFill>
        <p:spPr>
          <a:xfrm>
            <a:off x="9639360" y="3975120"/>
            <a:ext cx="2285640" cy="227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object 7"/>
          <p:cNvPicPr/>
          <p:nvPr/>
        </p:nvPicPr>
        <p:blipFill>
          <a:blip r:embed="rId6"/>
          <a:stretch/>
        </p:blipFill>
        <p:spPr>
          <a:xfrm>
            <a:off x="12369960" y="4902120"/>
            <a:ext cx="888480" cy="40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object 8"/>
          <p:cNvPicPr/>
          <p:nvPr/>
        </p:nvPicPr>
        <p:blipFill>
          <a:blip r:embed="rId7"/>
          <a:stretch/>
        </p:blipFill>
        <p:spPr>
          <a:xfrm>
            <a:off x="13703400" y="3962520"/>
            <a:ext cx="228564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object 10"/>
          <p:cNvSpPr/>
          <p:nvPr/>
        </p:nvSpPr>
        <p:spPr>
          <a:xfrm>
            <a:off x="1270080" y="1691280"/>
            <a:ext cx="15291000" cy="12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12600" indent="10800" algn="just">
              <a:lnSpc>
                <a:spcPts val="3200"/>
              </a:lnSpc>
              <a:spcBef>
                <a:spcPts val="386"/>
              </a:spcBef>
              <a:tabLst>
                <a:tab algn="l" pos="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</a:t>
            </a:r>
            <a:r>
              <a:rPr lang="en-US" sz="2800" b="0" u="none" spc="-16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54" strike="noStrike">
                <a:solidFill>
                  <a:srgbClr val="000000"/>
                </a:solidFill>
                <a:effectLst/>
                <a:uFillTx/>
                <a:latin typeface="Calibri"/>
              </a:rPr>
              <a:t>garantire</a:t>
            </a:r>
            <a:r>
              <a:rPr lang="en-US" sz="2800" b="0" u="none" spc="-10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</a:t>
            </a:r>
            <a:r>
              <a:rPr lang="en-US" sz="2800" b="0" u="none" spc="-16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45" strike="noStrike">
                <a:solidFill>
                  <a:srgbClr val="000000"/>
                </a:solidFill>
                <a:effectLst/>
                <a:uFillTx/>
                <a:latin typeface="Calibri"/>
              </a:rPr>
              <a:t>massima</a:t>
            </a:r>
            <a:r>
              <a:rPr lang="en-US" sz="2800" b="0" u="none" spc="-7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45" strike="noStrike">
                <a:solidFill>
                  <a:srgbClr val="000000"/>
                </a:solidFill>
                <a:effectLst/>
                <a:uFillTx/>
                <a:latin typeface="Calibri"/>
              </a:rPr>
              <a:t>accuratezza</a:t>
            </a:r>
            <a:r>
              <a:rPr lang="it-IT" sz="2800" b="0" u="none" spc="-45" strike="noStrike">
                <a:solidFill>
                  <a:srgbClr val="000000"/>
                </a:solidFill>
                <a:effectLst/>
                <a:uFillTx/>
                <a:latin typeface="Calibri"/>
              </a:rPr>
              <a:t> è stato </a:t>
            </a:r>
            <a:r>
              <a:rPr lang="it-IT" sz="2800" b="0" u="none" spc="-34" strike="noStrike">
                <a:solidFill>
                  <a:srgbClr val="000000"/>
                </a:solidFill>
                <a:effectLst/>
                <a:uFillTx/>
                <a:latin typeface="Calibri"/>
              </a:rPr>
              <a:t>costruito</a:t>
            </a:r>
            <a:r>
              <a:rPr lang="it-IT" sz="28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un</a:t>
            </a: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54" strike="noStrike">
                <a:solidFill>
                  <a:srgbClr val="000000"/>
                </a:solidFill>
                <a:effectLst/>
                <a:uFillTx/>
                <a:latin typeface="Calibri"/>
              </a:rPr>
              <a:t>modello</a:t>
            </a:r>
            <a:r>
              <a:rPr lang="it-IT" sz="2800" b="0" u="none" spc="-6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digitale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completo</a:t>
            </a:r>
            <a:r>
              <a:rPr lang="it-IT" sz="2800" b="0" u="none" spc="39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della</a:t>
            </a:r>
            <a:r>
              <a:rPr lang="it-IT" sz="2800" b="0" u="none" spc="37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linea</a:t>
            </a:r>
            <a:r>
              <a:rPr lang="it-IT" sz="2800" b="0" u="none" spc="3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973</a:t>
            </a:r>
            <a:r>
              <a:rPr lang="it-IT" sz="2800" b="0" u="none" spc="29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lang="it-IT" sz="2800" b="0" u="none" spc="30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ambiente</a:t>
            </a:r>
            <a:r>
              <a:rPr lang="it-IT" sz="2800" b="0" u="none" spc="43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MATLAB,</a:t>
            </a:r>
            <a:r>
              <a:rPr lang="it-IT" sz="2800" b="0" u="none" spc="32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basato</a:t>
            </a:r>
            <a:r>
              <a:rPr lang="it-IT" sz="2800" b="0" u="none" spc="46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su</a:t>
            </a:r>
            <a:r>
              <a:rPr lang="it-IT" sz="2800" b="0" u="none" spc="30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dati</a:t>
            </a:r>
            <a:r>
              <a:rPr lang="it-IT" sz="2800" b="0" u="none" spc="33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cinematici</a:t>
            </a:r>
            <a:r>
              <a:rPr lang="it-IT" sz="2800" b="0" u="none" spc="4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31" strike="noStrike">
                <a:solidFill>
                  <a:srgbClr val="000000"/>
                </a:solidFill>
                <a:effectLst/>
                <a:uFillTx/>
                <a:latin typeface="Calibri"/>
              </a:rPr>
              <a:t>raccolti</a:t>
            </a:r>
            <a:r>
              <a:rPr lang="it-IT" sz="28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91" strike="noStrike">
                <a:solidFill>
                  <a:srgbClr val="000000"/>
                </a:solidFill>
                <a:effectLst/>
                <a:uFillTx/>
                <a:latin typeface="Calibri"/>
              </a:rPr>
              <a:t>direttamente</a:t>
            </a:r>
            <a:r>
              <a:rPr lang="it-IT" sz="2800" b="0" u="none" spc="3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sul</a:t>
            </a:r>
            <a:r>
              <a:rPr lang="it-IT" sz="2800" b="0" u="none" spc="-16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campo e alcuni parametri medi ricavati dalla letteratura già esistente per modellare il veicolo e la sua dinamica.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object 11"/>
          <p:cNvSpPr/>
          <p:nvPr/>
        </p:nvSpPr>
        <p:spPr>
          <a:xfrm>
            <a:off x="1061640" y="6496200"/>
            <a:ext cx="3129480" cy="75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bIns="0" anchor="t">
            <a:spAutoFit/>
          </a:bodyPr>
          <a:p>
            <a:pPr marL="295920" algn="ctr">
              <a:lnSpc>
                <a:spcPts val="2801"/>
              </a:lnSpc>
              <a:spcBef>
                <a:spcPts val="360"/>
              </a:spcBef>
            </a:pPr>
            <a:r>
              <a:rPr lang="en-US" sz="2500" b="1" u="none" spc="215" strike="noStrike">
                <a:solidFill>
                  <a:srgbClr val="000000"/>
                </a:solidFill>
                <a:effectLst/>
                <a:uFillTx/>
                <a:latin typeface="Calibri"/>
              </a:rPr>
              <a:t>Raccolta</a:t>
            </a:r>
            <a:r>
              <a:rPr lang="en-US" sz="2500" b="1" u="none" spc="13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500" b="1" u="none" spc="221" strike="noStrike">
                <a:solidFill>
                  <a:srgbClr val="000000"/>
                </a:solidFill>
                <a:effectLst/>
                <a:uFillTx/>
                <a:latin typeface="Calibri"/>
              </a:rPr>
              <a:t>Dati</a:t>
            </a:r>
            <a:r>
              <a:rPr lang="en-US" sz="2500" b="1" u="none" spc="-4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500" b="1" u="none" spc="184" strike="noStrike">
                <a:solidFill>
                  <a:srgbClr val="000000"/>
                </a:solidFill>
                <a:effectLst/>
                <a:uFillTx/>
                <a:latin typeface="Calibri"/>
              </a:rPr>
              <a:t>sul </a:t>
            </a:r>
            <a:r>
              <a:rPr lang="en-US" sz="2500" b="1" u="none" spc="269" strike="noStrike">
                <a:solidFill>
                  <a:srgbClr val="000000"/>
                </a:solidFill>
                <a:effectLst/>
                <a:uFillTx/>
                <a:latin typeface="Calibri"/>
              </a:rPr>
              <a:t>Campo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object 12"/>
          <p:cNvSpPr/>
          <p:nvPr/>
        </p:nvSpPr>
        <p:spPr>
          <a:xfrm>
            <a:off x="5176440" y="6362280"/>
            <a:ext cx="309924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0" bIns="0" anchor="t">
            <a:spAutoFit/>
          </a:bodyPr>
          <a:p>
            <a:pPr algn="ctr">
              <a:lnSpc>
                <a:spcPct val="100000"/>
              </a:lnSpc>
              <a:spcBef>
                <a:spcPts val="1049"/>
              </a:spcBef>
            </a:pPr>
            <a:r>
              <a:rPr lang="en-US" sz="2600" b="1" u="none" spc="130" strike="noStrike">
                <a:solidFill>
                  <a:srgbClr val="000000"/>
                </a:solidFill>
                <a:effectLst/>
                <a:uFillTx/>
                <a:latin typeface="Calibri"/>
              </a:rPr>
              <a:t>Elaborazione</a:t>
            </a:r>
            <a:r>
              <a:rPr lang="en-US" sz="2600" b="1" u="none" spc="17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600" b="1" u="none" spc="156" strike="noStrike">
                <a:solidFill>
                  <a:srgbClr val="000000"/>
                </a:solidFill>
                <a:effectLst/>
                <a:uFillTx/>
                <a:latin typeface="Calibri"/>
              </a:rPr>
              <a:t>Dati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object 13"/>
          <p:cNvSpPr/>
          <p:nvPr/>
        </p:nvSpPr>
        <p:spPr>
          <a:xfrm>
            <a:off x="9130680" y="6404400"/>
            <a:ext cx="3284640" cy="50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0520" bIns="0" anchor="t">
            <a:spAutoFit/>
          </a:bodyPr>
          <a:p>
            <a:pPr algn="ctr">
              <a:lnSpc>
                <a:spcPct val="100000"/>
              </a:lnSpc>
              <a:spcBef>
                <a:spcPts val="870"/>
              </a:spcBef>
            </a:pPr>
            <a:r>
              <a:rPr lang="en-US" sz="2600" b="1" u="none" spc="130" strike="noStrike">
                <a:solidFill>
                  <a:srgbClr val="000000"/>
                </a:solidFill>
                <a:effectLst/>
                <a:uFillTx/>
                <a:latin typeface="Calibri"/>
              </a:rPr>
              <a:t>Modello Energetico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object 14"/>
          <p:cNvSpPr/>
          <p:nvPr/>
        </p:nvSpPr>
        <p:spPr>
          <a:xfrm>
            <a:off x="13282560" y="6502320"/>
            <a:ext cx="3100320" cy="8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algn="ctr">
              <a:lnSpc>
                <a:spcPct val="100000"/>
              </a:lnSpc>
              <a:spcBef>
                <a:spcPts val="870"/>
              </a:spcBef>
            </a:pPr>
            <a:r>
              <a:rPr lang="en-US" sz="2600" b="1" u="none" spc="130" strike="noStrike">
                <a:solidFill>
                  <a:srgbClr val="000000"/>
                </a:solidFill>
                <a:effectLst/>
                <a:uFillTx/>
                <a:latin typeface="Calibri"/>
              </a:rPr>
              <a:t>Simulazione Scenari</a:t>
            </a:r>
            <a:r>
              <a:rPr lang="it-IT" sz="2600" b="1" u="none" spc="130" strike="noStrike">
                <a:solidFill>
                  <a:srgbClr val="000000"/>
                </a:solidFill>
                <a:effectLst/>
                <a:uFillTx/>
                <a:latin typeface="Calibri"/>
              </a:rPr>
              <a:t> WPT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object 10"/>
          <p:cNvSpPr/>
          <p:nvPr/>
        </p:nvSpPr>
        <p:spPr>
          <a:xfrm>
            <a:off x="1270080" y="872640"/>
            <a:ext cx="1439892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6840" bIns="0" anchor="t">
            <a:spAutoFit/>
          </a:bodyPr>
          <a:p>
            <a:pPr>
              <a:lnSpc>
                <a:spcPct val="100000"/>
              </a:lnSpc>
              <a:spcBef>
                <a:spcPts val="136"/>
              </a:spcBef>
            </a:pPr>
            <a:r>
              <a:rPr lang="it-IT" sz="3850" b="1" u="none" spc="51" strike="noStrike">
                <a:solidFill>
                  <a:srgbClr val="1a63a2"/>
                </a:solidFill>
                <a:effectLst/>
                <a:uFillTx/>
                <a:latin typeface="Arial MT"/>
              </a:rPr>
              <a:t>Approccio</a:t>
            </a:r>
            <a:endParaRPr lang="en-US" sz="3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object 4"/>
          <p:cNvSpPr/>
          <p:nvPr/>
        </p:nvSpPr>
        <p:spPr>
          <a:xfrm>
            <a:off x="948600" y="1008000"/>
            <a:ext cx="112320" cy="1961640"/>
          </a:xfrm>
          <a:custGeom>
            <a:avLst/>
            <a:gdLst>
              <a:gd name="textAreaLeft" fmla="*/ 0 w 112320"/>
              <a:gd name="textAreaRight" fmla="*/ 112680 w 112320"/>
              <a:gd name="textAreaTop" fmla="*/ 0 h 1961640"/>
              <a:gd name="textAreaBottom" fmla="*/ 1962000 h 196164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object 11"/>
          <p:cNvSpPr/>
          <p:nvPr/>
        </p:nvSpPr>
        <p:spPr>
          <a:xfrm>
            <a:off x="1054440" y="7700760"/>
            <a:ext cx="3129480" cy="96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bIns="0" anchor="t">
            <a:spAutoFit/>
          </a:bodyPr>
          <a:p>
            <a:pPr marL="12600" algn="ctr">
              <a:lnSpc>
                <a:spcPts val="2401"/>
              </a:lnSpc>
              <a:spcBef>
                <a:spcPts val="918"/>
              </a:spcBef>
            </a:pPr>
            <a:r>
              <a:rPr lang="en-US" sz="2400" b="0" u="none" spc="-85" strike="noStrike">
                <a:solidFill>
                  <a:srgbClr val="000000"/>
                </a:solidFill>
                <a:effectLst/>
                <a:uFillTx/>
                <a:latin typeface="Calibri"/>
              </a:rPr>
              <a:t>Acquisizione</a:t>
            </a:r>
            <a:r>
              <a:rPr lang="en-US" sz="2400" b="0" u="none" spc="-4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pc="-96" strike="noStrike">
                <a:solidFill>
                  <a:srgbClr val="000000"/>
                </a:solidFill>
                <a:effectLst/>
                <a:uFillTx/>
                <a:latin typeface="Calibri"/>
              </a:rPr>
              <a:t>dati</a:t>
            </a:r>
            <a:r>
              <a:rPr lang="en-US" sz="2400" b="0" u="none" spc="-4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pc="-119" strike="noStrike">
                <a:solidFill>
                  <a:srgbClr val="000000"/>
                </a:solidFill>
                <a:effectLst/>
                <a:uFillTx/>
                <a:latin typeface="Calibri"/>
              </a:rPr>
              <a:t>cinematici </a:t>
            </a:r>
            <a:r>
              <a:rPr lang="en-US" sz="2400" b="0" u="none" spc="-96" strike="noStrike">
                <a:solidFill>
                  <a:srgbClr val="000000"/>
                </a:solidFill>
                <a:effectLst/>
                <a:uFillTx/>
                <a:latin typeface="Calibri"/>
              </a:rPr>
              <a:t>con</a:t>
            </a:r>
            <a:r>
              <a:rPr lang="en-US" sz="2400" b="0" u="none" spc="-7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pc="-125" strike="noStrike">
                <a:solidFill>
                  <a:srgbClr val="000000"/>
                </a:solidFill>
                <a:effectLst/>
                <a:uFillTx/>
                <a:latin typeface="Calibri"/>
              </a:rPr>
              <a:t>frequenza</a:t>
            </a:r>
            <a:r>
              <a:rPr lang="en-US" sz="2400" b="0" u="none" spc="4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pc="-111" strike="noStrike">
                <a:solidFill>
                  <a:srgbClr val="000000"/>
                </a:solidFill>
                <a:effectLst/>
                <a:uFillTx/>
                <a:latin typeface="Calibri"/>
              </a:rPr>
              <a:t>fino</a:t>
            </a:r>
            <a:r>
              <a:rPr lang="en-US" sz="2400" b="0" u="none" spc="2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a </a:t>
            </a:r>
            <a:r>
              <a:rPr lang="en-US" sz="24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20</a:t>
            </a:r>
            <a:r>
              <a:rPr lang="en-US" sz="2400" b="0" u="none" spc="-113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Hz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object 11"/>
          <p:cNvSpPr/>
          <p:nvPr/>
        </p:nvSpPr>
        <p:spPr>
          <a:xfrm>
            <a:off x="5211000" y="7546680"/>
            <a:ext cx="3129480" cy="96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bIns="0" anchor="t">
            <a:spAutoFit/>
          </a:bodyPr>
          <a:p>
            <a:pPr marL="12240" algn="ctr">
              <a:lnSpc>
                <a:spcPts val="2401"/>
              </a:lnSpc>
              <a:spcBef>
                <a:spcPts val="1361"/>
              </a:spcBef>
            </a:pPr>
            <a:r>
              <a:rPr lang="it-IT" sz="2400" b="0" u="none" spc="-105" strike="noStrike">
                <a:solidFill>
                  <a:srgbClr val="000000"/>
                </a:solidFill>
                <a:effectLst/>
                <a:uFillTx/>
                <a:latin typeface="Calibri"/>
              </a:rPr>
              <a:t>Algoritmi</a:t>
            </a:r>
            <a:r>
              <a:rPr lang="it-IT" sz="2400" b="0" u="none" spc="-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145" strike="noStrike">
                <a:solidFill>
                  <a:srgbClr val="000000"/>
                </a:solidFill>
                <a:effectLst/>
                <a:uFillTx/>
                <a:latin typeface="Calibri"/>
              </a:rPr>
              <a:t>per</a:t>
            </a:r>
            <a:r>
              <a:rPr lang="it-IT" sz="24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105" strike="noStrike">
                <a:solidFill>
                  <a:srgbClr val="000000"/>
                </a:solidFill>
                <a:effectLst/>
                <a:uFillTx/>
                <a:latin typeface="Calibri"/>
              </a:rPr>
              <a:t>identificare</a:t>
            </a:r>
            <a:r>
              <a:rPr lang="it-IT" sz="2400" b="0" u="none" spc="9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34" strike="noStrike">
                <a:solidFill>
                  <a:srgbClr val="000000"/>
                </a:solidFill>
                <a:effectLst/>
                <a:uFillTx/>
                <a:latin typeface="Calibri"/>
              </a:rPr>
              <a:t>le </a:t>
            </a:r>
            <a:r>
              <a:rPr lang="it-IT" sz="2400" b="0" u="none" spc="-113" strike="noStrike">
                <a:solidFill>
                  <a:srgbClr val="000000"/>
                </a:solidFill>
                <a:effectLst/>
                <a:uFillTx/>
                <a:latin typeface="Calibri"/>
              </a:rPr>
              <a:t>soste</a:t>
            </a:r>
            <a:r>
              <a:rPr lang="it-IT" sz="24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91" strike="noStrike">
                <a:solidFill>
                  <a:srgbClr val="000000"/>
                </a:solidFill>
                <a:effectLst/>
                <a:uFillTx/>
                <a:latin typeface="Calibri"/>
              </a:rPr>
              <a:t>reali</a:t>
            </a:r>
            <a:r>
              <a:rPr lang="it-IT" sz="2400" b="0" u="none" spc="-4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119" strike="noStrik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lang="it-IT" sz="2400" b="0" u="none" spc="-3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105" strike="noStrike">
                <a:solidFill>
                  <a:srgbClr val="000000"/>
                </a:solidFill>
                <a:effectLst/>
                <a:uFillTx/>
                <a:latin typeface="Calibri"/>
              </a:rPr>
              <a:t>calcolare</a:t>
            </a:r>
            <a:r>
              <a:rPr lang="it-IT" sz="2400" b="0" u="none" spc="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51" strike="noStrike">
                <a:solidFill>
                  <a:srgbClr val="161616"/>
                </a:solidFill>
                <a:effectLst/>
                <a:uFillTx/>
                <a:latin typeface="Calibri"/>
              </a:rPr>
              <a:t>i </a:t>
            </a:r>
            <a:r>
              <a:rPr lang="it-IT" sz="2400" b="0" u="none" spc="-176" strike="noStrike">
                <a:solidFill>
                  <a:srgbClr val="000000"/>
                </a:solidFill>
                <a:effectLst/>
                <a:uFillTx/>
                <a:latin typeface="Calibri"/>
              </a:rPr>
              <a:t>tempi</a:t>
            </a:r>
            <a:r>
              <a:rPr lang="it-IT" sz="2400" b="0" u="none" spc="4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medi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object 11"/>
          <p:cNvSpPr/>
          <p:nvPr/>
        </p:nvSpPr>
        <p:spPr>
          <a:xfrm>
            <a:off x="9321120" y="7238880"/>
            <a:ext cx="3129480" cy="15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bIns="0" anchor="t">
            <a:spAutoFit/>
          </a:bodyPr>
          <a:p>
            <a:pPr marL="12240" algn="ctr">
              <a:lnSpc>
                <a:spcPts val="2401"/>
              </a:lnSpc>
              <a:spcBef>
                <a:spcPts val="1361"/>
              </a:spcBef>
            </a:pPr>
            <a:r>
              <a:rPr lang="it-IT" sz="2400" b="0" u="none" spc="-105" strike="noStrike">
                <a:solidFill>
                  <a:srgbClr val="000000"/>
                </a:solidFill>
                <a:effectLst/>
                <a:uFillTx/>
                <a:latin typeface="Calibri"/>
              </a:rPr>
              <a:t>Calcolo del consumo energetico istantaneo basato sulle caratteristiche del veicolo e del modello dinamico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object 11"/>
          <p:cNvSpPr/>
          <p:nvPr/>
        </p:nvSpPr>
        <p:spPr>
          <a:xfrm>
            <a:off x="13431240" y="7421400"/>
            <a:ext cx="3129480" cy="12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bIns="0" anchor="t">
            <a:spAutoFit/>
          </a:bodyPr>
          <a:p>
            <a:pPr marL="318240" indent="-720" algn="ctr">
              <a:lnSpc>
                <a:spcPts val="2401"/>
              </a:lnSpc>
              <a:spcBef>
                <a:spcPts val="1018"/>
              </a:spcBef>
              <a:tabLst>
                <a:tab algn="l" pos="0"/>
              </a:tabLst>
            </a:pPr>
            <a:r>
              <a:rPr lang="it-IT" sz="2400" b="0" u="none" spc="-65" strike="noStrike">
                <a:solidFill>
                  <a:srgbClr val="000000"/>
                </a:solidFill>
                <a:effectLst/>
                <a:uFillTx/>
                <a:latin typeface="Calibri"/>
              </a:rPr>
              <a:t>Verifica</a:t>
            </a:r>
            <a:r>
              <a:rPr lang="it-IT" sz="2400" b="0" u="none" spc="-1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40" strike="noStrike">
                <a:solidFill>
                  <a:srgbClr val="000000"/>
                </a:solidFill>
                <a:effectLst/>
                <a:uFillTx/>
                <a:latin typeface="Calibri"/>
              </a:rPr>
              <a:t>del</a:t>
            </a:r>
            <a:r>
              <a:rPr lang="it-IT" sz="2400" b="0" u="none" spc="-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bilancio </a:t>
            </a:r>
            <a:r>
              <a:rPr lang="it-IT" sz="2400" b="0" u="none" spc="-71" strike="noStrike">
                <a:solidFill>
                  <a:srgbClr val="000000"/>
                </a:solidFill>
                <a:effectLst/>
                <a:uFillTx/>
                <a:latin typeface="Calibri"/>
              </a:rPr>
              <a:t>energetico</a:t>
            </a:r>
            <a:r>
              <a:rPr lang="it-IT" sz="2400" b="0" u="none" spc="-3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con</a:t>
            </a:r>
            <a:r>
              <a:rPr lang="it-IT" sz="2400" b="0" u="none" spc="-11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54" strike="noStrike">
                <a:solidFill>
                  <a:srgbClr val="000000"/>
                </a:solidFill>
                <a:effectLst/>
                <a:uFillTx/>
                <a:latin typeface="Calibri"/>
              </a:rPr>
              <a:t>diversi </a:t>
            </a:r>
            <a:r>
              <a:rPr lang="it-IT" sz="2400" b="0" u="none" spc="-65" strike="noStrike">
                <a:solidFill>
                  <a:srgbClr val="000000"/>
                </a:solidFill>
                <a:effectLst/>
                <a:uFillTx/>
                <a:latin typeface="Calibri"/>
              </a:rPr>
              <a:t>scenari</a:t>
            </a:r>
            <a:r>
              <a:rPr lang="it-IT" sz="24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 di</a:t>
            </a:r>
            <a:r>
              <a:rPr lang="it-IT" sz="2400" b="0" u="none" spc="-11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4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ricarica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bject 10"/>
          <p:cNvSpPr/>
          <p:nvPr/>
        </p:nvSpPr>
        <p:spPr>
          <a:xfrm>
            <a:off x="1270080" y="1691280"/>
            <a:ext cx="11705400" cy="21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12600" indent="10800" algn="just">
              <a:lnSpc>
                <a:spcPts val="3200"/>
              </a:lnSpc>
              <a:spcBef>
                <a:spcPts val="386"/>
              </a:spcBef>
              <a:tabLst>
                <a:tab algn="l" pos="0"/>
              </a:tabLst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È stata condotta una campagna di acquisizione dati a bordo dei bus. Tramite l’applicazione MatlabMobile sono state campionate per ogni viaggio completo da capolinea a capolinea le seguenti grandezze: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10800" algn="just">
              <a:lnSpc>
                <a:spcPts val="3200"/>
              </a:lnSpc>
              <a:spcBef>
                <a:spcPts val="386"/>
              </a:spcBef>
              <a:tabLst>
                <a:tab algn="l" pos="0"/>
              </a:tabLst>
            </a:pPr>
            <a:r>
              <a:rPr lang="it-IT" sz="2800" b="1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•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Velocità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e </a:t>
            </a:r>
            <a:r>
              <a:rPr lang="it-IT" sz="2800" b="0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Posizione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(da GPS): fs = 1 Hz.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10800" algn="just">
              <a:lnSpc>
                <a:spcPts val="3200"/>
              </a:lnSpc>
              <a:spcBef>
                <a:spcPts val="386"/>
              </a:spcBef>
              <a:tabLst>
                <a:tab algn="l" pos="0"/>
              </a:tabLst>
            </a:pPr>
            <a:r>
              <a:rPr lang="it-IT" sz="2800" b="1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•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Accelerazione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(da accelerometro): fs = 20 Hz.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object 10"/>
          <p:cNvSpPr/>
          <p:nvPr/>
        </p:nvSpPr>
        <p:spPr>
          <a:xfrm>
            <a:off x="1270080" y="872640"/>
            <a:ext cx="1439892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6840" bIns="0" anchor="t">
            <a:spAutoFit/>
          </a:bodyPr>
          <a:p>
            <a:pPr>
              <a:lnSpc>
                <a:spcPct val="100000"/>
              </a:lnSpc>
              <a:spcBef>
                <a:spcPts val="136"/>
              </a:spcBef>
            </a:pPr>
            <a:r>
              <a:rPr lang="it-IT" sz="3850" b="1" u="none" spc="51" strike="noStrike">
                <a:solidFill>
                  <a:srgbClr val="1a63a2"/>
                </a:solidFill>
                <a:effectLst/>
                <a:uFillTx/>
                <a:latin typeface="Arial MT"/>
              </a:rPr>
              <a:t>Raccolta dati</a:t>
            </a:r>
            <a:endParaRPr lang="en-US" sz="3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object 4"/>
          <p:cNvSpPr/>
          <p:nvPr/>
        </p:nvSpPr>
        <p:spPr>
          <a:xfrm>
            <a:off x="916200" y="1008000"/>
            <a:ext cx="200880" cy="3335040"/>
          </a:xfrm>
          <a:custGeom>
            <a:avLst/>
            <a:gdLst>
              <a:gd name="textAreaLeft" fmla="*/ 0 w 200880"/>
              <a:gd name="textAreaRight" fmla="*/ 201240 w 200880"/>
              <a:gd name="textAreaTop" fmla="*/ 0 h 3335040"/>
              <a:gd name="textAreaBottom" fmla="*/ 3335400 h 333504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Immagine 13"/>
          <p:cNvPicPr/>
          <p:nvPr/>
        </p:nvPicPr>
        <p:blipFill>
          <a:blip r:embed="rId1"/>
          <a:srcRect l="9581" t="0" r="8977" b="0"/>
          <a:stretch/>
        </p:blipFill>
        <p:spPr>
          <a:xfrm>
            <a:off x="13309560" y="1169280"/>
            <a:ext cx="3885840" cy="2504880"/>
          </a:xfrm>
          <a:prstGeom prst="rect">
            <a:avLst/>
          </a:prstGeom>
          <a:noFill/>
          <a:ln w="0">
            <a:noFill/>
          </a:ln>
          <a:effectLst>
            <a:softEdge rad="241200"/>
          </a:effectLst>
        </p:spPr>
      </p:pic>
      <p:sp>
        <p:nvSpPr>
          <p:cNvPr id="83" name="CasellaDiTesto 14"/>
          <p:cNvSpPr/>
          <p:nvPr/>
        </p:nvSpPr>
        <p:spPr>
          <a:xfrm>
            <a:off x="1193760" y="3944520"/>
            <a:ext cx="15696720" cy="92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2600" indent="10800" algn="just" defTabSz="914400">
              <a:lnSpc>
                <a:spcPts val="3200"/>
              </a:lnSpc>
              <a:spcBef>
                <a:spcPts val="386"/>
              </a:spcBef>
              <a:tabLst>
                <a:tab algn="l" pos="0"/>
              </a:tabLst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 dati sono stati presi in diverse fasce orarie per coprire varie condizioni di traffico e affollamento.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defTabSz="914400">
              <a:lnSpc>
                <a:spcPct val="100000"/>
              </a:lnSpc>
              <a:tabLst>
                <a:tab algn="l" pos="0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object 10"/>
          <p:cNvSpPr/>
          <p:nvPr/>
        </p:nvSpPr>
        <p:spPr>
          <a:xfrm>
            <a:off x="1242720" y="5695560"/>
            <a:ext cx="153432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12600" indent="10800" algn="just">
              <a:lnSpc>
                <a:spcPts val="3200"/>
              </a:lnSpc>
              <a:spcBef>
                <a:spcPts val="386"/>
              </a:spcBef>
              <a:tabLst>
                <a:tab algn="l" pos="0"/>
              </a:tabLst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L’analisi tecnica dei dati si è articolata in due fasi: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object 10"/>
          <p:cNvSpPr/>
          <p:nvPr/>
        </p:nvSpPr>
        <p:spPr>
          <a:xfrm>
            <a:off x="1242720" y="4876920"/>
            <a:ext cx="1439892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6840" bIns="0" anchor="t">
            <a:spAutoFit/>
          </a:bodyPr>
          <a:p>
            <a:pPr>
              <a:lnSpc>
                <a:spcPct val="100000"/>
              </a:lnSpc>
              <a:spcBef>
                <a:spcPts val="136"/>
              </a:spcBef>
            </a:pPr>
            <a:r>
              <a:rPr lang="it-IT" sz="3850" b="1" u="none" spc="51" strike="noStrike">
                <a:solidFill>
                  <a:srgbClr val="1a63a2"/>
                </a:solidFill>
                <a:effectLst/>
                <a:uFillTx/>
                <a:latin typeface="Arial MT"/>
              </a:rPr>
              <a:t>Elaborazione dati</a:t>
            </a:r>
            <a:endParaRPr lang="en-US" sz="3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object 4"/>
          <p:cNvSpPr/>
          <p:nvPr/>
        </p:nvSpPr>
        <p:spPr>
          <a:xfrm>
            <a:off x="916200" y="5012280"/>
            <a:ext cx="173880" cy="1142640"/>
          </a:xfrm>
          <a:custGeom>
            <a:avLst/>
            <a:gdLst>
              <a:gd name="textAreaLeft" fmla="*/ 0 w 173880"/>
              <a:gd name="textAreaRight" fmla="*/ 174240 w 173880"/>
              <a:gd name="textAreaTop" fmla="*/ 0 h 1142640"/>
              <a:gd name="textAreaBottom" fmla="*/ 1143000 h 114264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Elemento grafico 21" descr="Batteria in carica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109160" y="7825320"/>
            <a:ext cx="1294920" cy="129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CasellaDiTesto 27"/>
          <p:cNvSpPr/>
          <p:nvPr/>
        </p:nvSpPr>
        <p:spPr>
          <a:xfrm>
            <a:off x="3726720" y="7957440"/>
            <a:ext cx="44953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it-IT" sz="2850" b="1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Caratterizzazione delle soste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800" b="0" i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DataElaboration</a:t>
            </a: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r>
              <a:rPr lang="it-IT" sz="1800" b="0" i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CasellaDiTesto 28"/>
          <p:cNvSpPr/>
          <p:nvPr/>
        </p:nvSpPr>
        <p:spPr>
          <a:xfrm>
            <a:off x="11508840" y="7957440"/>
            <a:ext cx="525744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it-IT" sz="2850" b="1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Modellazione energetica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1800" b="0" i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Energy</a:t>
            </a: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</a:t>
            </a:r>
            <a:r>
              <a:rPr lang="it-IT" sz="1800" b="0" i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Elemento grafico 30" descr="Freccia leggermente curva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 rot="2145600">
            <a:off x="9223200" y="658368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Elemento grafico 33" descr="Freccia leggermente curva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9454400">
            <a:off x="7765560" y="658152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2" name="Gruppo 34"/>
          <p:cNvGrpSpPr/>
          <p:nvPr/>
        </p:nvGrpSpPr>
        <p:grpSpPr>
          <a:xfrm>
            <a:off x="1879560" y="7357680"/>
            <a:ext cx="2062080" cy="1938240"/>
            <a:chOff x="1879560" y="7357680"/>
            <a:chExt cx="2062080" cy="1938240"/>
          </a:xfrm>
        </p:grpSpPr>
        <p:pic>
          <p:nvPicPr>
            <p:cNvPr id="93" name="Immagine 35"/>
            <p:cNvPicPr/>
            <p:nvPr/>
          </p:nvPicPr>
          <p:blipFill>
            <a:blip r:embed="rId8"/>
            <a:srcRect l="17950" t="17948" r="15384" b="23079"/>
            <a:stretch/>
          </p:blipFill>
          <p:spPr>
            <a:xfrm>
              <a:off x="1879560" y="7357680"/>
              <a:ext cx="2062080" cy="19382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4" name="Elemento grafico 36" descr="Bus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2401200" y="7932960"/>
              <a:ext cx="1006560" cy="11203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transition spd="slow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object 10"/>
          <p:cNvSpPr/>
          <p:nvPr/>
        </p:nvSpPr>
        <p:spPr>
          <a:xfrm>
            <a:off x="1246320" y="1119240"/>
            <a:ext cx="15095520" cy="16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12600" indent="10800" algn="just">
              <a:lnSpc>
                <a:spcPts val="3200"/>
              </a:lnSpc>
              <a:spcBef>
                <a:spcPts val="386"/>
              </a:spcBef>
              <a:tabLst>
                <a:tab algn="l" pos="0"/>
              </a:tabLst>
            </a:pPr>
            <a:r>
              <a:rPr lang="it-IT" sz="2800" b="0" u="none" spc="-71" strike="noStrike">
                <a:solidFill>
                  <a:srgbClr val="000000"/>
                </a:solidFill>
                <a:effectLst/>
                <a:uFillTx/>
                <a:latin typeface="Calibri"/>
              </a:rPr>
              <a:t>Per determinare la finestra temporale disponibile per la ricarica, è stato sviluppato un algoritmo di stop detection (</a:t>
            </a:r>
            <a:r>
              <a:rPr lang="it-IT" sz="2800" b="0" i="1" u="none" spc="-71" strike="noStrike">
                <a:solidFill>
                  <a:srgbClr val="1a63a2"/>
                </a:solidFill>
                <a:effectLst/>
                <a:uFillTx/>
                <a:latin typeface="Calibri"/>
              </a:rPr>
              <a:t>DataElaboration.m</a:t>
            </a:r>
            <a:r>
              <a:rPr lang="it-IT" sz="2800" b="0" u="none" spc="-71" strike="noStrike">
                <a:solidFill>
                  <a:srgbClr val="000000"/>
                </a:solidFill>
                <a:effectLst/>
                <a:uFillTx/>
                <a:latin typeface="Calibri"/>
              </a:rPr>
              <a:t>), che</a:t>
            </a:r>
            <a:r>
              <a:rPr lang="it-IT" sz="2800" b="0" u="none" spc="-113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analizza</a:t>
            </a:r>
            <a:r>
              <a:rPr lang="it-IT" sz="2800" b="0" u="none" spc="8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dati</a:t>
            </a:r>
            <a:r>
              <a:rPr lang="it-IT" sz="2800" b="0" u="none" spc="-9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54" strike="noStrike">
                <a:solidFill>
                  <a:srgbClr val="000000"/>
                </a:solidFill>
                <a:effectLst/>
                <a:uFillTx/>
                <a:latin typeface="Calibri"/>
              </a:rPr>
              <a:t>GPS</a:t>
            </a:r>
            <a:r>
              <a:rPr lang="it-IT" sz="2800" b="0" u="none" spc="-11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40" strike="noStrike">
                <a:solidFill>
                  <a:srgbClr val="000000"/>
                </a:solidFill>
                <a:effectLst/>
                <a:uFillTx/>
                <a:latin typeface="Calibri"/>
              </a:rPr>
              <a:t>per</a:t>
            </a:r>
            <a:r>
              <a:rPr lang="it-IT" sz="2800" b="0" u="none" spc="-12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40" strike="noStrike">
                <a:solidFill>
                  <a:srgbClr val="000000"/>
                </a:solidFill>
                <a:effectLst/>
                <a:uFillTx/>
                <a:latin typeface="Calibri"/>
              </a:rPr>
              <a:t>isolare</a:t>
            </a:r>
            <a:r>
              <a:rPr lang="it-IT" sz="2800" b="0" u="none" spc="-7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le</a:t>
            </a:r>
            <a:r>
              <a:rPr lang="it-IT" sz="2800" b="0" u="none" spc="-13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soste</a:t>
            </a:r>
            <a:r>
              <a:rPr lang="it-IT" sz="2800" b="0" u="none" spc="-16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effettive</a:t>
            </a:r>
            <a:r>
              <a:rPr lang="it-IT" sz="2800" b="0" u="none" spc="-7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lang="it-IT" sz="2800" b="0" u="none" spc="-9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85" strike="noStrike">
                <a:solidFill>
                  <a:srgbClr val="000000"/>
                </a:solidFill>
                <a:effectLst/>
                <a:uFillTx/>
                <a:latin typeface="Calibri"/>
              </a:rPr>
              <a:t>fermata</a:t>
            </a:r>
            <a:r>
              <a:rPr lang="it-IT" sz="2800" b="0" u="none" spc="-1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40" strike="noStrike">
                <a:solidFill>
                  <a:srgbClr val="000000"/>
                </a:solidFill>
                <a:effectLst/>
                <a:uFillTx/>
                <a:latin typeface="Calibri"/>
              </a:rPr>
              <a:t>(campioni con velocità</a:t>
            </a:r>
            <a:r>
              <a:rPr lang="it-IT" sz="2800" b="0" u="none" spc="7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</a:t>
            </a:r>
            <a:r>
              <a:rPr lang="it-IT" sz="2800" b="0" u="none" spc="-7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0.3</a:t>
            </a:r>
            <a:r>
              <a:rPr lang="it-IT" sz="2800" b="0" u="none" spc="-15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m/s e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distanza</a:t>
            </a:r>
            <a:r>
              <a:rPr lang="it-IT" sz="2800" b="0" u="none" spc="2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</a:t>
            </a:r>
            <a:r>
              <a:rPr lang="it-IT" sz="2800" b="0" u="none" spc="-3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15</a:t>
            </a:r>
            <a:r>
              <a:rPr lang="it-IT" sz="2800" b="0" u="none" spc="-16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lang="it-IT" sz="2800" b="0" u="none" spc="-15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31" strike="noStrike">
                <a:solidFill>
                  <a:srgbClr val="000000"/>
                </a:solidFill>
                <a:effectLst/>
                <a:uFillTx/>
                <a:latin typeface="Calibri"/>
              </a:rPr>
              <a:t>dalla</a:t>
            </a:r>
            <a:r>
              <a:rPr lang="it-IT" sz="2800" b="0" u="none" spc="-7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coordinata</a:t>
            </a:r>
            <a:r>
              <a:rPr lang="it-IT" sz="2800" b="0" u="none" spc="-10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ufficiale della pensilina), </a:t>
            </a:r>
            <a:r>
              <a:rPr lang="it-IT" sz="2800" b="0" u="none" spc="-14" strike="noStrike">
                <a:solidFill>
                  <a:srgbClr val="000000"/>
                </a:solidFill>
                <a:effectLst/>
                <a:uFillTx/>
                <a:latin typeface="Calibri"/>
              </a:rPr>
              <a:t>escludendo</a:t>
            </a:r>
            <a:r>
              <a:rPr lang="it-IT" sz="2800" b="0" u="none" spc="4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le</a:t>
            </a:r>
            <a:r>
              <a:rPr lang="it-IT" sz="2800" b="0" u="none" spc="-113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45" strike="noStrike">
                <a:solidFill>
                  <a:srgbClr val="000000"/>
                </a:solidFill>
                <a:effectLst/>
                <a:uFillTx/>
                <a:latin typeface="Calibri"/>
              </a:rPr>
              <a:t>fermate</a:t>
            </a:r>
            <a:r>
              <a:rPr lang="it-IT" sz="2800" b="0" u="none" spc="-5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per</a:t>
            </a:r>
            <a:r>
              <a:rPr lang="it-IT" sz="2800" b="0" u="none" spc="-1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traffico e/o semafori.</a:t>
            </a:r>
            <a:r>
              <a:rPr lang="it-IT" sz="2800" b="0" u="none" spc="-3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object 10"/>
          <p:cNvSpPr/>
          <p:nvPr/>
        </p:nvSpPr>
        <p:spPr>
          <a:xfrm>
            <a:off x="1270080" y="376560"/>
            <a:ext cx="1439892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6840" bIns="0" anchor="t">
            <a:spAutoFit/>
          </a:bodyPr>
          <a:p>
            <a:pPr>
              <a:lnSpc>
                <a:spcPct val="100000"/>
              </a:lnSpc>
              <a:spcBef>
                <a:spcPts val="136"/>
              </a:spcBef>
            </a:pPr>
            <a:r>
              <a:rPr lang="it-IT" sz="3850" b="1" u="none" spc="51" strike="noStrike">
                <a:solidFill>
                  <a:srgbClr val="1a63a2"/>
                </a:solidFill>
                <a:effectLst/>
                <a:uFillTx/>
                <a:latin typeface="Arial MT"/>
              </a:rPr>
              <a:t>Identificazione delle pensiline </a:t>
            </a:r>
            <a:endParaRPr lang="en-US" sz="3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object 4"/>
          <p:cNvSpPr/>
          <p:nvPr/>
        </p:nvSpPr>
        <p:spPr>
          <a:xfrm>
            <a:off x="1041480" y="368640"/>
            <a:ext cx="75960" cy="2426760"/>
          </a:xfrm>
          <a:custGeom>
            <a:avLst/>
            <a:gdLst>
              <a:gd name="textAreaLeft" fmla="*/ 0 w 75960"/>
              <a:gd name="textAreaRight" fmla="*/ 76320 w 75960"/>
              <a:gd name="textAreaTop" fmla="*/ 0 h 2426760"/>
              <a:gd name="textAreaBottom" fmla="*/ 2427120 h 242676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Immagine 36"/>
          <p:cNvPicPr/>
          <p:nvPr/>
        </p:nvPicPr>
        <p:blipFill>
          <a:blip r:embed="rId1"/>
          <a:srcRect l="0" t="408" r="0" b="0"/>
          <a:stretch/>
        </p:blipFill>
        <p:spPr>
          <a:xfrm>
            <a:off x="1269360" y="3020040"/>
            <a:ext cx="10363680" cy="65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CasellaDiTesto 37"/>
          <p:cNvSpPr/>
          <p:nvPr/>
        </p:nvSpPr>
        <p:spPr>
          <a:xfrm>
            <a:off x="12471480" y="3809520"/>
            <a:ext cx="3870360" cy="13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2600" indent="10800" algn="just" defTabSz="914400">
              <a:lnSpc>
                <a:spcPts val="3200"/>
              </a:lnSpc>
              <a:spcBef>
                <a:spcPts val="386"/>
              </a:spcBef>
              <a:tabLst>
                <a:tab algn="l" pos="0"/>
              </a:tabLst>
            </a:pPr>
            <a:r>
              <a:rPr lang="it-IT" sz="2800" b="0" u="none" spc="-31" strike="noStrike">
                <a:solidFill>
                  <a:srgbClr val="000000"/>
                </a:solidFill>
                <a:effectLst/>
                <a:uFillTx/>
                <a:latin typeface="Calibri"/>
              </a:rPr>
              <a:t>Il codice è stato validato plottando su una mappa vettoriale: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object 4"/>
          <p:cNvSpPr/>
          <p:nvPr/>
        </p:nvSpPr>
        <p:spPr>
          <a:xfrm rot="16200000">
            <a:off x="14315400" y="1661400"/>
            <a:ext cx="45360" cy="3733560"/>
          </a:xfrm>
          <a:custGeom>
            <a:avLst/>
            <a:gdLst>
              <a:gd name="textAreaLeft" fmla="*/ 0 w 45360"/>
              <a:gd name="textAreaRight" fmla="*/ 45720 w 45360"/>
              <a:gd name="textAreaTop" fmla="*/ 0 h 3733560"/>
              <a:gd name="textAreaBottom" fmla="*/ 3733920 h 373356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CasellaDiTesto 39"/>
          <p:cNvSpPr/>
          <p:nvPr/>
        </p:nvSpPr>
        <p:spPr>
          <a:xfrm>
            <a:off x="12471480" y="4854240"/>
            <a:ext cx="3870360" cy="13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2600" indent="10800" algn="just" defTabSz="914400">
              <a:lnSpc>
                <a:spcPts val="3200"/>
              </a:lnSpc>
              <a:spcBef>
                <a:spcPts val="386"/>
              </a:spcBef>
              <a:tabLst>
                <a:tab algn="l" pos="0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55680" indent="-343080" algn="just" defTabSz="914400">
              <a:lnSpc>
                <a:spcPts val="3200"/>
              </a:lnSpc>
              <a:spcBef>
                <a:spcPts val="386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lang="it-IT" sz="2800" b="0" u="none" spc="-31" strike="noStrike">
                <a:solidFill>
                  <a:schemeClr val="dk1"/>
                </a:solidFill>
                <a:effectLst/>
                <a:uFillTx/>
                <a:latin typeface="Calibri"/>
              </a:rPr>
              <a:t>il</a:t>
            </a:r>
            <a:r>
              <a:rPr lang="it-IT" sz="2800" b="1" u="none" spc="-31" strike="noStrike">
                <a:solidFill>
                  <a:srgbClr val="1a63a2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31" strike="noStrike">
                <a:solidFill>
                  <a:srgbClr val="1a63a2"/>
                </a:solidFill>
                <a:effectLst/>
                <a:uFillTx/>
                <a:latin typeface="Calibri"/>
              </a:rPr>
              <a:t>percorso</a:t>
            </a:r>
            <a:r>
              <a:rPr lang="it-IT" sz="2800" b="1" u="none" spc="-31" strike="noStrike">
                <a:solidFill>
                  <a:srgbClr val="1a63a2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31" strike="noStrike">
                <a:solidFill>
                  <a:schemeClr val="dk1"/>
                </a:solidFill>
                <a:effectLst/>
                <a:uFillTx/>
                <a:latin typeface="Calibri"/>
              </a:rPr>
              <a:t>da log GPS con relativa</a:t>
            </a:r>
            <a:r>
              <a:rPr lang="it-IT" sz="2800" b="1" u="none" spc="-31" strike="noStrike">
                <a:solidFill>
                  <a:srgbClr val="1a63a2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31" strike="noStrike">
                <a:solidFill>
                  <a:srgbClr val="1a63a2"/>
                </a:solidFill>
                <a:effectLst/>
                <a:uFillTx/>
                <a:latin typeface="Calibri"/>
              </a:rPr>
              <a:t>velocità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CasellaDiTesto 8"/>
          <p:cNvSpPr/>
          <p:nvPr/>
        </p:nvSpPr>
        <p:spPr>
          <a:xfrm>
            <a:off x="12471480" y="6353640"/>
            <a:ext cx="3870360" cy="120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55680" indent="-343080" algn="just" defTabSz="914400">
              <a:lnSpc>
                <a:spcPts val="3200"/>
              </a:lnSpc>
              <a:spcBef>
                <a:spcPts val="386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pc="-31" strike="noStrike">
                <a:solidFill>
                  <a:schemeClr val="dk1"/>
                </a:solidFill>
                <a:effectLst/>
                <a:uFillTx/>
                <a:latin typeface="Calibri"/>
              </a:rPr>
              <a:t>le</a:t>
            </a:r>
            <a:r>
              <a:rPr lang="it-IT" sz="2800" b="1" u="none" spc="-31" strike="noStrike">
                <a:solidFill>
                  <a:srgbClr val="1a63a2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31" strike="noStrike">
                <a:solidFill>
                  <a:srgbClr val="1a63a2"/>
                </a:solidFill>
                <a:effectLst/>
                <a:uFillTx/>
                <a:latin typeface="Calibri"/>
              </a:rPr>
              <a:t>fermate</a:t>
            </a:r>
            <a:r>
              <a:rPr lang="it-IT" sz="2800" b="1" u="none" spc="-31" strike="noStrike">
                <a:solidFill>
                  <a:srgbClr val="1a63a2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31" strike="noStrike">
                <a:solidFill>
                  <a:srgbClr val="1a63a2"/>
                </a:solidFill>
                <a:effectLst/>
                <a:uFillTx/>
                <a:latin typeface="Calibri"/>
              </a:rPr>
              <a:t>ufficiali</a:t>
            </a:r>
            <a:r>
              <a:rPr lang="it-IT" sz="2800" b="1" u="none" spc="-31" strike="noStrike">
                <a:solidFill>
                  <a:srgbClr val="1a63a2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31" strike="noStrike">
                <a:solidFill>
                  <a:schemeClr val="dk1"/>
                </a:solidFill>
                <a:effectLst/>
                <a:uFillTx/>
                <a:latin typeface="Calibri"/>
              </a:rPr>
              <a:t>(in verde)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CasellaDiTesto 9"/>
          <p:cNvSpPr/>
          <p:nvPr/>
        </p:nvSpPr>
        <p:spPr>
          <a:xfrm>
            <a:off x="12471480" y="7420680"/>
            <a:ext cx="3870360" cy="16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55680" indent="-343080" algn="just" defTabSz="914400">
              <a:lnSpc>
                <a:spcPts val="3200"/>
              </a:lnSpc>
              <a:spcBef>
                <a:spcPts val="386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pc="-31" strike="noStrike">
                <a:solidFill>
                  <a:schemeClr val="dk1"/>
                </a:solidFill>
                <a:effectLst/>
                <a:uFillTx/>
                <a:latin typeface="Calibri"/>
              </a:rPr>
              <a:t>le </a:t>
            </a:r>
            <a:r>
              <a:rPr lang="it-IT" sz="2800" b="0" u="none" spc="-31" strike="noStrike">
                <a:solidFill>
                  <a:srgbClr val="1a63a2"/>
                </a:solidFill>
                <a:effectLst/>
                <a:uFillTx/>
                <a:latin typeface="Calibri"/>
              </a:rPr>
              <a:t>fermate</a:t>
            </a:r>
            <a:r>
              <a:rPr lang="it-IT" sz="2800" b="1" u="none" spc="-31" strike="noStrike">
                <a:solidFill>
                  <a:srgbClr val="1a63a2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31" strike="noStrike">
                <a:solidFill>
                  <a:srgbClr val="1a63a2"/>
                </a:solidFill>
                <a:effectLst/>
                <a:uFillTx/>
                <a:latin typeface="Calibri"/>
              </a:rPr>
              <a:t>calcolate</a:t>
            </a:r>
            <a:r>
              <a:rPr lang="it-IT" sz="2800" b="1" u="none" spc="-31" strike="noStrike">
                <a:solidFill>
                  <a:srgbClr val="1a63a2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31" strike="noStrike">
                <a:solidFill>
                  <a:schemeClr val="dk1"/>
                </a:solidFill>
                <a:effectLst/>
                <a:uFillTx/>
                <a:latin typeface="Calibri"/>
              </a:rPr>
              <a:t>con il metodo descritto (in rosso)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object 10"/>
          <p:cNvSpPr/>
          <p:nvPr/>
        </p:nvSpPr>
        <p:spPr>
          <a:xfrm>
            <a:off x="1270080" y="609480"/>
            <a:ext cx="1439892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6840" bIns="0" anchor="t">
            <a:spAutoFit/>
          </a:bodyPr>
          <a:p>
            <a:pPr>
              <a:lnSpc>
                <a:spcPct val="100000"/>
              </a:lnSpc>
              <a:spcBef>
                <a:spcPts val="136"/>
              </a:spcBef>
            </a:pPr>
            <a:r>
              <a:rPr lang="it-IT" sz="3850" b="1" u="none" spc="51" strike="noStrike">
                <a:solidFill>
                  <a:srgbClr val="1a63a2"/>
                </a:solidFill>
                <a:effectLst/>
                <a:uFillTx/>
                <a:latin typeface="Arial MT"/>
              </a:rPr>
              <a:t>Stima dei tempi di fermata</a:t>
            </a:r>
            <a:endParaRPr lang="en-US" sz="3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object 4"/>
          <p:cNvSpPr/>
          <p:nvPr/>
        </p:nvSpPr>
        <p:spPr>
          <a:xfrm>
            <a:off x="1041480" y="745200"/>
            <a:ext cx="75960" cy="1963440"/>
          </a:xfrm>
          <a:custGeom>
            <a:avLst/>
            <a:gdLst>
              <a:gd name="textAreaLeft" fmla="*/ 0 w 75960"/>
              <a:gd name="textAreaRight" fmla="*/ 76320 w 75960"/>
              <a:gd name="textAreaTop" fmla="*/ 0 h 1963440"/>
              <a:gd name="textAreaBottom" fmla="*/ 1963800 h 196344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object 30"/>
          <p:cNvSpPr/>
          <p:nvPr/>
        </p:nvSpPr>
        <p:spPr>
          <a:xfrm>
            <a:off x="1270080" y="1389960"/>
            <a:ext cx="15315840" cy="12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 algn="just">
              <a:lnSpc>
                <a:spcPct val="100000"/>
              </a:lnSpc>
              <a:spcBef>
                <a:spcPts val="105"/>
              </a:spcBef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 stesso script calcola la media temporale delle soste validate su tutti i log di dati disponibili. I</a:t>
            </a:r>
            <a:r>
              <a:rPr lang="it-IT" sz="2800" b="0" u="none" spc="-13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risultati</a:t>
            </a:r>
            <a:r>
              <a:rPr lang="it-IT" sz="2800" b="0" u="none" spc="-11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31" strike="noStrike">
                <a:solidFill>
                  <a:srgbClr val="000000"/>
                </a:solidFill>
                <a:effectLst/>
                <a:uFillTx/>
                <a:latin typeface="Calibri"/>
              </a:rPr>
              <a:t>mostrano</a:t>
            </a:r>
            <a:r>
              <a:rPr lang="it-IT" sz="2800" b="0" u="none" spc="4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che</a:t>
            </a:r>
            <a:r>
              <a:rPr lang="it-IT" sz="2800" b="0" u="none" spc="-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la </a:t>
            </a:r>
            <a:r>
              <a:rPr lang="it-IT" sz="2800" b="0" u="none" spc="-79" strike="noStrike">
                <a:solidFill>
                  <a:srgbClr val="000000"/>
                </a:solidFill>
                <a:effectLst/>
                <a:uFillTx/>
                <a:latin typeface="Calibri"/>
              </a:rPr>
              <a:t>maggior</a:t>
            </a:r>
            <a:r>
              <a:rPr lang="it-IT" sz="2800" b="0" u="none" spc="-9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99" strike="noStrike">
                <a:solidFill>
                  <a:srgbClr val="000000"/>
                </a:solidFill>
                <a:effectLst/>
                <a:uFillTx/>
                <a:latin typeface="Calibri"/>
              </a:rPr>
              <a:t>parte</a:t>
            </a:r>
            <a:r>
              <a:rPr lang="it-IT" sz="2800" b="0" u="none" spc="-6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40" strike="noStrike">
                <a:solidFill>
                  <a:srgbClr val="000000"/>
                </a:solidFill>
                <a:effectLst/>
                <a:uFillTx/>
                <a:latin typeface="Calibri"/>
              </a:rPr>
              <a:t>delle</a:t>
            </a:r>
            <a:r>
              <a:rPr lang="it-IT" sz="2800" b="0" u="none" spc="-6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60" strike="noStrike">
                <a:solidFill>
                  <a:srgbClr val="000000"/>
                </a:solidFill>
                <a:effectLst/>
                <a:uFillTx/>
                <a:latin typeface="Calibri"/>
              </a:rPr>
              <a:t>soste</a:t>
            </a:r>
            <a:r>
              <a:rPr lang="it-IT" sz="2800" b="0" u="none" spc="-10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99" strike="noStrike">
                <a:solidFill>
                  <a:srgbClr val="000000"/>
                </a:solidFill>
                <a:effectLst/>
                <a:uFillTx/>
                <a:latin typeface="Calibri"/>
              </a:rPr>
              <a:t>intermedie</a:t>
            </a:r>
            <a:r>
              <a:rPr lang="it-IT" sz="2800" b="0" u="none" spc="9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è</a:t>
            </a:r>
            <a:r>
              <a:rPr lang="it-IT" sz="2800" b="0" u="none" spc="-14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91" strike="noStrike">
                <a:solidFill>
                  <a:srgbClr val="000000"/>
                </a:solidFill>
                <a:effectLst/>
                <a:uFillTx/>
                <a:latin typeface="Calibri"/>
              </a:rPr>
              <a:t>troppo</a:t>
            </a:r>
            <a:r>
              <a:rPr lang="it-IT" sz="28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71" strike="noStrike">
                <a:solidFill>
                  <a:srgbClr val="000000"/>
                </a:solidFill>
                <a:effectLst/>
                <a:uFillTx/>
                <a:latin typeface="Calibri"/>
              </a:rPr>
              <a:t>breve</a:t>
            </a:r>
            <a:r>
              <a:rPr lang="it-IT" sz="2800" b="0" u="none" spc="-9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85" strike="noStrike">
                <a:solidFill>
                  <a:srgbClr val="000000"/>
                </a:solidFill>
                <a:effectLst/>
                <a:uFillTx/>
                <a:latin typeface="Calibri"/>
              </a:rPr>
              <a:t>per</a:t>
            </a:r>
            <a:r>
              <a:rPr lang="it-IT" sz="2800" b="0" u="none" spc="-7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74" strike="noStrike">
                <a:solidFill>
                  <a:srgbClr val="000000"/>
                </a:solidFill>
                <a:effectLst/>
                <a:uFillTx/>
                <a:latin typeface="Calibri"/>
              </a:rPr>
              <a:t>una</a:t>
            </a:r>
            <a:r>
              <a:rPr lang="it-IT" sz="2800" b="0" u="none" spc="-9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ricarica</a:t>
            </a:r>
            <a:r>
              <a:rPr lang="it-IT" sz="2800" b="0" u="none" spc="-3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significativa.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lang="it-IT" sz="2800" b="0" u="none" spc="-15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50" strike="noStrike">
                <a:solidFill>
                  <a:srgbClr val="000000"/>
                </a:solidFill>
                <a:effectLst/>
                <a:uFillTx/>
                <a:latin typeface="Calibri"/>
              </a:rPr>
              <a:t>tempi</a:t>
            </a:r>
            <a:r>
              <a:rPr lang="it-IT" sz="2800" b="0" u="none" spc="-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90" strike="noStrike">
                <a:solidFill>
                  <a:srgbClr val="000000"/>
                </a:solidFill>
                <a:effectLst/>
                <a:uFillTx/>
                <a:latin typeface="Calibri"/>
              </a:rPr>
              <a:t>medi</a:t>
            </a:r>
            <a:r>
              <a:rPr lang="it-IT" sz="2800" b="0" u="none" spc="3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di</a:t>
            </a:r>
            <a:r>
              <a:rPr lang="it-IT" sz="2800" b="0" u="none" spc="-15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05" strike="noStrike">
                <a:solidFill>
                  <a:srgbClr val="000000"/>
                </a:solidFill>
                <a:effectLst/>
                <a:uFillTx/>
                <a:latin typeface="Calibri"/>
              </a:rPr>
              <a:t>sosta</a:t>
            </a:r>
            <a:r>
              <a:rPr lang="it-IT" sz="28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13" strike="noStrike">
                <a:solidFill>
                  <a:srgbClr val="000000"/>
                </a:solidFill>
                <a:effectLst/>
                <a:uFillTx/>
                <a:latin typeface="Calibri"/>
              </a:rPr>
              <a:t>nella</a:t>
            </a:r>
            <a:r>
              <a:rPr lang="it-IT" sz="2800" b="0" u="none" spc="-9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maggior</a:t>
            </a:r>
            <a:r>
              <a:rPr lang="it-IT" sz="28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05" strike="noStrike">
                <a:solidFill>
                  <a:srgbClr val="000000"/>
                </a:solidFill>
                <a:effectLst/>
                <a:uFillTx/>
                <a:latin typeface="Calibri"/>
              </a:rPr>
              <a:t>parte</a:t>
            </a:r>
            <a:r>
              <a:rPr lang="it-IT" sz="2800" b="0" u="none" spc="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13" strike="noStrike">
                <a:solidFill>
                  <a:srgbClr val="000000"/>
                </a:solidFill>
                <a:effectLst/>
                <a:uFillTx/>
                <a:latin typeface="Calibri"/>
              </a:rPr>
              <a:t>delle</a:t>
            </a:r>
            <a:r>
              <a:rPr lang="it-IT" sz="28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fermate</a:t>
            </a:r>
            <a:r>
              <a:rPr lang="it-IT" sz="2800" b="0" u="none" spc="9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sono</a:t>
            </a:r>
            <a:r>
              <a:rPr lang="it-IT" sz="2800" b="0" u="none" spc="2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91" strike="noStrike">
                <a:solidFill>
                  <a:srgbClr val="000000"/>
                </a:solidFill>
                <a:effectLst/>
                <a:uFillTx/>
                <a:latin typeface="Calibri"/>
              </a:rPr>
              <a:t>inferiori</a:t>
            </a:r>
            <a:r>
              <a:rPr lang="it-IT" sz="2800" b="0" u="none" spc="7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96" strike="noStrike">
                <a:solidFill>
                  <a:srgbClr val="000000"/>
                </a:solidFill>
                <a:effectLst/>
                <a:uFillTx/>
                <a:latin typeface="Calibri"/>
              </a:rPr>
              <a:t>ai</a:t>
            </a:r>
            <a:r>
              <a:rPr lang="it-IT" sz="2800" b="0" u="none" spc="-7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30-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40</a:t>
            </a:r>
            <a:r>
              <a:rPr lang="it-IT" sz="2800" b="0" u="none" spc="-6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20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secondi.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magine 1"/>
          <p:cNvPicPr/>
          <p:nvPr/>
        </p:nvPicPr>
        <p:blipFill>
          <a:blip r:embed="rId1"/>
          <a:stretch/>
        </p:blipFill>
        <p:spPr>
          <a:xfrm>
            <a:off x="1184040" y="3311280"/>
            <a:ext cx="7553160" cy="500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Immagine 2"/>
          <p:cNvPicPr/>
          <p:nvPr/>
        </p:nvPicPr>
        <p:blipFill>
          <a:blip r:embed="rId2"/>
          <a:stretch/>
        </p:blipFill>
        <p:spPr>
          <a:xfrm>
            <a:off x="9052920" y="3333240"/>
            <a:ext cx="7615440" cy="500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object 30"/>
          <p:cNvSpPr/>
          <p:nvPr/>
        </p:nvSpPr>
        <p:spPr>
          <a:xfrm>
            <a:off x="2371680" y="8747280"/>
            <a:ext cx="500976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 algn="ctr">
              <a:lnSpc>
                <a:spcPct val="100000"/>
              </a:lnSpc>
              <a:spcBef>
                <a:spcPts val="105"/>
              </a:spcBef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Milano        San Felicino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ttangolo con angoli arrotondati 4"/>
          <p:cNvSpPr/>
          <p:nvPr/>
        </p:nvSpPr>
        <p:spPr>
          <a:xfrm>
            <a:off x="3009960" y="8645400"/>
            <a:ext cx="3733560" cy="648000"/>
          </a:xfrm>
          <a:prstGeom prst="roundRect">
            <a:avLst>
              <a:gd name="adj" fmla="val 16667"/>
            </a:avLst>
          </a:prstGeom>
          <a:noFill/>
          <a:ln w="5724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11" name="Connettore diritto 12"/>
          <p:cNvCxnSpPr/>
          <p:nvPr/>
        </p:nvCxnSpPr>
        <p:spPr>
          <a:xfrm>
            <a:off x="1422360" y="4987800"/>
            <a:ext cx="7315560" cy="360"/>
          </a:xfrm>
          <a:prstGeom prst="straightConnector1">
            <a:avLst/>
          </a:prstGeom>
          <a:ln w="9360">
            <a:solidFill>
              <a:schemeClr val="accent6">
                <a:lumMod val="75000"/>
              </a:schemeClr>
            </a:solidFill>
            <a:prstDash val="lgDash"/>
            <a:round/>
          </a:ln>
        </p:spPr>
      </p:cxnSp>
      <p:cxnSp>
        <p:nvCxnSpPr>
          <p:cNvPr id="112" name="Connettore diritto 16"/>
          <p:cNvCxnSpPr/>
          <p:nvPr/>
        </p:nvCxnSpPr>
        <p:spPr>
          <a:xfrm>
            <a:off x="9347040" y="7731000"/>
            <a:ext cx="7239240" cy="360"/>
          </a:xfrm>
          <a:prstGeom prst="straightConnector1">
            <a:avLst/>
          </a:prstGeom>
          <a:ln w="9360">
            <a:solidFill>
              <a:schemeClr val="accent6">
                <a:lumMod val="75000"/>
              </a:schemeClr>
            </a:solidFill>
            <a:prstDash val="lgDash"/>
            <a:round/>
          </a:ln>
        </p:spPr>
      </p:cxnSp>
      <p:sp>
        <p:nvSpPr>
          <p:cNvPr id="113" name="CasellaDiTesto 17"/>
          <p:cNvSpPr/>
          <p:nvPr/>
        </p:nvSpPr>
        <p:spPr>
          <a:xfrm>
            <a:off x="8242200" y="4695120"/>
            <a:ext cx="5331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it-IT" sz="1400" b="0" u="none" strike="noStrike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Arial"/>
              </a:rPr>
              <a:t>40s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CasellaDiTesto 20"/>
          <p:cNvSpPr/>
          <p:nvPr/>
        </p:nvSpPr>
        <p:spPr>
          <a:xfrm>
            <a:off x="16052760" y="7426080"/>
            <a:ext cx="5331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it-IT" sz="1400" b="0" u="none" strike="noStrike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Arial"/>
              </a:rPr>
              <a:t>40s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CasellaDiTesto 21"/>
          <p:cNvSpPr/>
          <p:nvPr/>
        </p:nvSpPr>
        <p:spPr>
          <a:xfrm rot="16200000">
            <a:off x="4108680" y="5806800"/>
            <a:ext cx="8744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it-IT" sz="1400" b="0" u="none" strike="noStrike">
                <a:solidFill>
                  <a:srgbClr val="1a63a2"/>
                </a:solidFill>
                <a:effectLst/>
                <a:uFillTx/>
                <a:latin typeface="Arial"/>
              </a:rPr>
              <a:t>Linate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6" name="Connettore 2 19"/>
          <p:cNvCxnSpPr/>
          <p:nvPr/>
        </p:nvCxnSpPr>
        <p:spPr>
          <a:xfrm>
            <a:off x="4317840" y="8995320"/>
            <a:ext cx="457560" cy="360"/>
          </a:xfrm>
          <a:prstGeom prst="straightConnector1">
            <a:avLst/>
          </a:prstGeom>
          <a:ln w="57240">
            <a:solidFill>
              <a:srgbClr val="4a7ebb"/>
            </a:solidFill>
            <a:round/>
            <a:tailEnd len="med" type="triangle" w="med"/>
          </a:ln>
        </p:spPr>
      </p:cxnSp>
      <p:sp>
        <p:nvSpPr>
          <p:cNvPr id="117" name="object 30"/>
          <p:cNvSpPr/>
          <p:nvPr/>
        </p:nvSpPr>
        <p:spPr>
          <a:xfrm>
            <a:off x="10461600" y="8750160"/>
            <a:ext cx="500976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 algn="ctr">
              <a:lnSpc>
                <a:spcPct val="100000"/>
              </a:lnSpc>
              <a:spcBef>
                <a:spcPts val="105"/>
              </a:spcBef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San Felicino        Milano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ttangolo con angoli arrotondati 26"/>
          <p:cNvSpPr/>
          <p:nvPr/>
        </p:nvSpPr>
        <p:spPr>
          <a:xfrm>
            <a:off x="11099880" y="8647920"/>
            <a:ext cx="3733560" cy="648000"/>
          </a:xfrm>
          <a:prstGeom prst="roundRect">
            <a:avLst>
              <a:gd name="adj" fmla="val 16667"/>
            </a:avLst>
          </a:prstGeom>
          <a:noFill/>
          <a:ln w="5724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19" name="Connettore 2 27"/>
          <p:cNvCxnSpPr/>
          <p:nvPr/>
        </p:nvCxnSpPr>
        <p:spPr>
          <a:xfrm>
            <a:off x="13080960" y="9003960"/>
            <a:ext cx="457560" cy="360"/>
          </a:xfrm>
          <a:prstGeom prst="straightConnector1">
            <a:avLst/>
          </a:prstGeom>
          <a:ln w="57240">
            <a:solidFill>
              <a:srgbClr val="4a7ebb"/>
            </a:solidFill>
            <a:round/>
            <a:tailEnd len="med" type="triangle" w="med"/>
          </a:ln>
        </p:spPr>
      </p:cxnSp>
      <p:sp>
        <p:nvSpPr>
          <p:cNvPr id="120" name="CasellaDiTesto 28"/>
          <p:cNvSpPr/>
          <p:nvPr/>
        </p:nvSpPr>
        <p:spPr>
          <a:xfrm rot="16200000">
            <a:off x="12564000" y="7065360"/>
            <a:ext cx="8744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it-IT" sz="1400" b="0" u="none" strike="noStrike">
                <a:solidFill>
                  <a:srgbClr val="1a63a2"/>
                </a:solidFill>
                <a:effectLst/>
                <a:uFillTx/>
                <a:latin typeface="Arial"/>
              </a:rPr>
              <a:t>Linate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object 10"/>
          <p:cNvSpPr/>
          <p:nvPr/>
        </p:nvSpPr>
        <p:spPr>
          <a:xfrm>
            <a:off x="1270080" y="609480"/>
            <a:ext cx="1439892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6840" bIns="0" anchor="t">
            <a:spAutoFit/>
          </a:bodyPr>
          <a:p>
            <a:pPr>
              <a:lnSpc>
                <a:spcPct val="100000"/>
              </a:lnSpc>
              <a:spcBef>
                <a:spcPts val="136"/>
              </a:spcBef>
            </a:pPr>
            <a:r>
              <a:rPr lang="it-IT" sz="3850" b="1" u="none" spc="51" strike="noStrike">
                <a:solidFill>
                  <a:srgbClr val="1a63a2"/>
                </a:solidFill>
                <a:effectLst/>
                <a:uFillTx/>
                <a:latin typeface="Arial MT"/>
              </a:rPr>
              <a:t>Modello energetico del veicolo</a:t>
            </a:r>
            <a:endParaRPr lang="en-US" sz="3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object 4"/>
          <p:cNvSpPr/>
          <p:nvPr/>
        </p:nvSpPr>
        <p:spPr>
          <a:xfrm>
            <a:off x="1041480" y="745200"/>
            <a:ext cx="75960" cy="2381400"/>
          </a:xfrm>
          <a:custGeom>
            <a:avLst/>
            <a:gdLst>
              <a:gd name="textAreaLeft" fmla="*/ 0 w 75960"/>
              <a:gd name="textAreaRight" fmla="*/ 76320 w 75960"/>
              <a:gd name="textAreaTop" fmla="*/ 0 h 2381400"/>
              <a:gd name="textAreaBottom" fmla="*/ 2381760 h 238140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object 30"/>
          <p:cNvSpPr/>
          <p:nvPr/>
        </p:nvSpPr>
        <p:spPr>
          <a:xfrm>
            <a:off x="1270080" y="1389960"/>
            <a:ext cx="14934960" cy="17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 algn="just">
              <a:lnSpc>
                <a:spcPct val="100000"/>
              </a:lnSpc>
              <a:spcBef>
                <a:spcPts val="105"/>
              </a:spcBef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Lo script </a:t>
            </a:r>
            <a:r>
              <a:rPr lang="it-IT" sz="2800" b="0" i="1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Energy.m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calcola la potenza richiesta alla batteria istante per istante, considerando i dati di accelerazione e velocità campionate e i dati di targa di Autobus Solaris Urbino trovati in letteratura. È stato considerata inoltre una potenza necessaria per i servizi ausiliari di 5kW e un numero di passeggeri medio di 40 in base alla nostra esperienza durante la campagna di raccolta dati.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CasellaDiTesto 6"/>
          <p:cNvSpPr/>
          <p:nvPr/>
        </p:nvSpPr>
        <p:spPr>
          <a:xfrm>
            <a:off x="1650960" y="3843000"/>
            <a:ext cx="5333760" cy="9572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it-IT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ttangolo con angoli arrotondati 9"/>
          <p:cNvSpPr/>
          <p:nvPr/>
        </p:nvSpPr>
        <p:spPr>
          <a:xfrm>
            <a:off x="1574640" y="3657600"/>
            <a:ext cx="5486040" cy="1294920"/>
          </a:xfrm>
          <a:prstGeom prst="roundRect">
            <a:avLst>
              <a:gd name="adj" fmla="val 16667"/>
            </a:avLst>
          </a:prstGeom>
          <a:noFill/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object 30"/>
          <p:cNvSpPr/>
          <p:nvPr/>
        </p:nvSpPr>
        <p:spPr>
          <a:xfrm>
            <a:off x="1270080" y="5334120"/>
            <a:ext cx="6095520" cy="391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 algn="just">
              <a:lnSpc>
                <a:spcPct val="100000"/>
              </a:lnSpc>
              <a:spcBef>
                <a:spcPts val="105"/>
              </a:spcBef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La potenza richiesta alle ruote tiene conto di </a:t>
            </a:r>
            <a:r>
              <a:rPr lang="it-IT" sz="2800" b="0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inerzia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(</a:t>
            </a:r>
            <a:r>
              <a:rPr lang="it-IT" sz="2800" b="0" i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accelerazione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), resistenza al </a:t>
            </a:r>
            <a:r>
              <a:rPr lang="it-IT" sz="2800" b="0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rotolamento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e resistenza </a:t>
            </a:r>
            <a:r>
              <a:rPr lang="it-IT" sz="2800" b="0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aerodinamica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 È stato considerato un </a:t>
            </a:r>
            <a:r>
              <a:rPr lang="it-IT" sz="2800" b="0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fattore di split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S=0,4 e un ugual rendimento (</a:t>
            </a:r>
            <a:r>
              <a:rPr lang="el-GR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η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 della </a:t>
            </a:r>
            <a:r>
              <a:rPr lang="it-IT" sz="2800" b="0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trasmissione batteria-ruote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sia in senso diretto che in </a:t>
            </a:r>
            <a:r>
              <a:rPr lang="it-IT" sz="2800" b="0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frenata rigenerativa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 Per il calcolo della potenza rigenerata in frenata (P</a:t>
            </a:r>
            <a:r>
              <a:rPr lang="it-IT" sz="2800" b="0" u="none" strike="noStrike" baseline="-25000">
                <a:solidFill>
                  <a:srgbClr val="000000"/>
                </a:solidFill>
                <a:effectLst/>
                <a:uFillTx/>
                <a:latin typeface="Calibri"/>
              </a:rPr>
              <a:t>reg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) si rimanda allo script.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01000" y="3429000"/>
            <a:ext cx="9144000" cy="60246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object 10"/>
          <p:cNvSpPr/>
          <p:nvPr/>
        </p:nvSpPr>
        <p:spPr>
          <a:xfrm>
            <a:off x="1270080" y="380880"/>
            <a:ext cx="1439892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6840" bIns="0" anchor="t">
            <a:spAutoFit/>
          </a:bodyPr>
          <a:p>
            <a:pPr>
              <a:lnSpc>
                <a:spcPct val="100000"/>
              </a:lnSpc>
              <a:spcBef>
                <a:spcPts val="136"/>
              </a:spcBef>
            </a:pPr>
            <a:r>
              <a:rPr lang="it-IT" sz="3850" b="1" u="none" spc="51" strike="noStrike">
                <a:solidFill>
                  <a:srgbClr val="1a63a2"/>
                </a:solidFill>
                <a:effectLst/>
                <a:uFillTx/>
                <a:latin typeface="Arial MT"/>
              </a:rPr>
              <a:t>Consumi medi e SoC della batteria</a:t>
            </a:r>
            <a:endParaRPr lang="en-US" sz="3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object 4"/>
          <p:cNvSpPr/>
          <p:nvPr/>
        </p:nvSpPr>
        <p:spPr>
          <a:xfrm>
            <a:off x="1041480" y="516600"/>
            <a:ext cx="75960" cy="1882800"/>
          </a:xfrm>
          <a:custGeom>
            <a:avLst/>
            <a:gdLst>
              <a:gd name="textAreaLeft" fmla="*/ 0 w 75960"/>
              <a:gd name="textAreaRight" fmla="*/ 76320 w 75960"/>
              <a:gd name="textAreaTop" fmla="*/ 0 h 1882800"/>
              <a:gd name="textAreaBottom" fmla="*/ 1883160 h 188280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object 30"/>
          <p:cNvSpPr/>
          <p:nvPr/>
        </p:nvSpPr>
        <p:spPr>
          <a:xfrm>
            <a:off x="1803240" y="8364960"/>
            <a:ext cx="1485864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 algn="just">
              <a:lnSpc>
                <a:spcPct val="100000"/>
              </a:lnSpc>
              <a:spcBef>
                <a:spcPts val="105"/>
              </a:spcBef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Qualora si volesse considerare un diverso tipo di autobus, di batteria, un numero diverso di passeggeri o un consumo dei servizi ausiliari diverso (estate/inverno) è sufficiente modificare il dato nello script.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object 30"/>
          <p:cNvSpPr/>
          <p:nvPr/>
        </p:nvSpPr>
        <p:spPr>
          <a:xfrm>
            <a:off x="1270080" y="1093320"/>
            <a:ext cx="15392160" cy="12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 algn="just">
              <a:lnSpc>
                <a:spcPct val="100000"/>
              </a:lnSpc>
              <a:spcBef>
                <a:spcPts val="105"/>
              </a:spcBef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Considerando una capacità della batteria del bus di </a:t>
            </a:r>
            <a:r>
              <a:rPr lang="it-IT" sz="2800" b="0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300 kWh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, il consumo di energia ad ogni corsa andata + ritorno, senza ricariche intermedie, porta la batteria a scaricarsi poco meno del </a:t>
            </a:r>
            <a:r>
              <a:rPr lang="it-IT" sz="2800" b="0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15%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. In particolare, mediamente si consumano 18.3 kWh durante il tragitto di andata e 19.7 kWh durante il ritorno.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Elemento grafico 13" descr="Punto esclamativo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965160" y="833976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3" name="Gruppo 23"/>
          <p:cNvGrpSpPr/>
          <p:nvPr/>
        </p:nvGrpSpPr>
        <p:grpSpPr>
          <a:xfrm>
            <a:off x="12176280" y="6328440"/>
            <a:ext cx="3504960" cy="2117880"/>
            <a:chOff x="12176280" y="6328440"/>
            <a:chExt cx="3504960" cy="2117880"/>
          </a:xfrm>
        </p:grpSpPr>
        <p:sp>
          <p:nvSpPr>
            <p:cNvPr id="134" name="Rettangolo con angoli arrotondati 17"/>
            <p:cNvSpPr/>
            <p:nvPr/>
          </p:nvSpPr>
          <p:spPr>
            <a:xfrm>
              <a:off x="12176280" y="6328440"/>
              <a:ext cx="3504960" cy="1496520"/>
            </a:xfrm>
            <a:prstGeom prst="roundRect">
              <a:avLst>
                <a:gd name="adj" fmla="val 16667"/>
              </a:avLst>
            </a:prstGeom>
            <a:noFill/>
            <a:ln w="76320">
              <a:solidFill>
                <a:schemeClr val="accent6">
                  <a:lumMod val="75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5" name="CasellaDiTesto 20"/>
            <p:cNvSpPr/>
            <p:nvPr/>
          </p:nvSpPr>
          <p:spPr>
            <a:xfrm>
              <a:off x="12252600" y="6557040"/>
              <a:ext cx="3352320" cy="70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it-IT" sz="2000" b="1" u="none" strike="noStrike">
                  <a:solidFill>
                    <a:schemeClr val="accent6">
                      <a:lumMod val="75000"/>
                    </a:schemeClr>
                  </a:solidFill>
                  <a:effectLst/>
                  <a:uFillTx/>
                  <a:latin typeface="Arial"/>
                </a:rPr>
                <a:t>Consumo totale ciclo A/R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CasellaDiTesto 26"/>
            <p:cNvSpPr/>
            <p:nvPr/>
          </p:nvSpPr>
          <p:spPr>
            <a:xfrm>
              <a:off x="12240720" y="6892920"/>
              <a:ext cx="3352320" cy="1553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it-IT" sz="4800" b="1" u="none" strike="noStrike">
                  <a:solidFill>
                    <a:schemeClr val="accent6">
                      <a:lumMod val="75000"/>
                    </a:schemeClr>
                  </a:solidFill>
                  <a:effectLst/>
                  <a:uFillTx/>
                  <a:latin typeface="Arial"/>
                </a:rPr>
                <a:t>~38 kWh</a:t>
              </a:r>
              <a:endPara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4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7" name="Gruppo 28"/>
          <p:cNvGrpSpPr/>
          <p:nvPr/>
        </p:nvGrpSpPr>
        <p:grpSpPr>
          <a:xfrm>
            <a:off x="11328480" y="3414240"/>
            <a:ext cx="2447640" cy="1767240"/>
            <a:chOff x="11328480" y="3414240"/>
            <a:chExt cx="2447640" cy="1767240"/>
          </a:xfrm>
        </p:grpSpPr>
        <p:sp>
          <p:nvSpPr>
            <p:cNvPr id="138" name="Rettangolo con angoli arrotondati 29"/>
            <p:cNvSpPr/>
            <p:nvPr/>
          </p:nvSpPr>
          <p:spPr>
            <a:xfrm>
              <a:off x="11361960" y="3414240"/>
              <a:ext cx="2414160" cy="1767240"/>
            </a:xfrm>
            <a:prstGeom prst="roundRect">
              <a:avLst>
                <a:gd name="adj" fmla="val 16667"/>
              </a:avLst>
            </a:prstGeom>
            <a:noFill/>
            <a:ln w="76320">
              <a:solidFill>
                <a:srgbClr val="1a63a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9" name="CasellaDiTesto 30"/>
            <p:cNvSpPr/>
            <p:nvPr/>
          </p:nvSpPr>
          <p:spPr>
            <a:xfrm>
              <a:off x="11328480" y="3490200"/>
              <a:ext cx="2414160" cy="91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it-IT" sz="1800" b="1" u="none" strike="noStrike">
                  <a:solidFill>
                    <a:srgbClr val="1a63a2"/>
                  </a:solidFill>
                  <a:effectLst/>
                  <a:uFillTx/>
                  <a:latin typeface="Arial"/>
                </a:rPr>
                <a:t>Consumo medio andata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CasellaDiTesto 33"/>
            <p:cNvSpPr/>
            <p:nvPr/>
          </p:nvSpPr>
          <p:spPr>
            <a:xfrm>
              <a:off x="11329560" y="4100040"/>
              <a:ext cx="2414160" cy="91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it-IT" sz="3600" b="1" u="none" strike="noStrike">
                  <a:solidFill>
                    <a:srgbClr val="1a63a2"/>
                  </a:solidFill>
                  <a:effectLst/>
                  <a:uFillTx/>
                  <a:latin typeface="Arial"/>
                </a:rPr>
                <a:t>18.3 kWh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it-IT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(6.1% della batteria)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1" name="Gruppo 38"/>
          <p:cNvGrpSpPr/>
          <p:nvPr/>
        </p:nvGrpSpPr>
        <p:grpSpPr>
          <a:xfrm>
            <a:off x="13995360" y="3414240"/>
            <a:ext cx="2447640" cy="1767240"/>
            <a:chOff x="13995360" y="3414240"/>
            <a:chExt cx="2447640" cy="1767240"/>
          </a:xfrm>
        </p:grpSpPr>
        <p:sp>
          <p:nvSpPr>
            <p:cNvPr id="142" name="Rettangolo con angoli arrotondati 39"/>
            <p:cNvSpPr/>
            <p:nvPr/>
          </p:nvSpPr>
          <p:spPr>
            <a:xfrm>
              <a:off x="14028840" y="3414240"/>
              <a:ext cx="2414160" cy="1767240"/>
            </a:xfrm>
            <a:prstGeom prst="roundRect">
              <a:avLst>
                <a:gd name="adj" fmla="val 16667"/>
              </a:avLst>
            </a:prstGeom>
            <a:noFill/>
            <a:ln w="76320">
              <a:solidFill>
                <a:srgbClr val="1a63a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43" name="CasellaDiTesto 40"/>
            <p:cNvSpPr/>
            <p:nvPr/>
          </p:nvSpPr>
          <p:spPr>
            <a:xfrm>
              <a:off x="13995360" y="3490200"/>
              <a:ext cx="2414160" cy="91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it-IT" sz="1800" b="1" u="none" strike="noStrike">
                  <a:solidFill>
                    <a:srgbClr val="1a63a2"/>
                  </a:solidFill>
                  <a:effectLst/>
                  <a:uFillTx/>
                  <a:latin typeface="Arial"/>
                </a:rPr>
                <a:t>Consumo medio ritorno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CasellaDiTesto 41"/>
            <p:cNvSpPr/>
            <p:nvPr/>
          </p:nvSpPr>
          <p:spPr>
            <a:xfrm>
              <a:off x="13996440" y="4100040"/>
              <a:ext cx="2414160" cy="91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it-IT" sz="3600" b="1" u="none" strike="noStrike">
                  <a:solidFill>
                    <a:srgbClr val="1a63a2"/>
                  </a:solidFill>
                  <a:effectLst/>
                  <a:uFillTx/>
                  <a:latin typeface="Arial"/>
                </a:rPr>
                <a:t>19.7 kWh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it-IT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(6.6% della batteria)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45" name="Elemento grafico 27" descr="Freccia, curva oraria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 rot="13669800">
            <a:off x="14422320" y="529416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Elemento grafico 42" descr="Freccia, curva oraria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flipH="1" rot="7930200">
            <a:off x="12593880" y="529416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CasellaDiTesto 5"/>
          <p:cNvSpPr/>
          <p:nvPr/>
        </p:nvSpPr>
        <p:spPr>
          <a:xfrm>
            <a:off x="1219680" y="2572200"/>
            <a:ext cx="95245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it-IT" sz="2000" b="1" u="none" strike="noStrike">
                <a:solidFill>
                  <a:srgbClr val="1a63a2"/>
                </a:solidFill>
                <a:effectLst/>
                <a:uFillTx/>
                <a:latin typeface="Arial"/>
              </a:rPr>
              <a:t>Andamenti dello State of Charge (SoC) di ogni log – ciclo A/R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1143000" y="3047400"/>
            <a:ext cx="9601200" cy="5182200"/>
          </a:xfrm>
          <a:prstGeom prst="rect">
            <a:avLst/>
          </a:prstGeom>
          <a:noFill/>
          <a:ln w="0">
            <a:noFill/>
          </a:ln>
        </p:spPr>
      </p:pic>
    </p:spTree>
  </p:cSld>
  <p:transition spd="slow">
    <p:push dir="u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object 10"/>
          <p:cNvSpPr/>
          <p:nvPr/>
        </p:nvSpPr>
        <p:spPr>
          <a:xfrm>
            <a:off x="1270080" y="872640"/>
            <a:ext cx="1439892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6840" bIns="0" anchor="t">
            <a:spAutoFit/>
          </a:bodyPr>
          <a:p>
            <a:pPr>
              <a:lnSpc>
                <a:spcPct val="100000"/>
              </a:lnSpc>
              <a:spcBef>
                <a:spcPts val="136"/>
              </a:spcBef>
            </a:pPr>
            <a:r>
              <a:rPr lang="it-IT" sz="3850" b="1" u="none" spc="51" strike="noStrike">
                <a:solidFill>
                  <a:srgbClr val="1a63a2"/>
                </a:solidFill>
                <a:effectLst/>
                <a:uFillTx/>
                <a:latin typeface="Arial MT"/>
              </a:rPr>
              <a:t>Scenario con ricarica WPT ad ogni fermata</a:t>
            </a:r>
            <a:endParaRPr lang="en-US" sz="3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object 4"/>
          <p:cNvSpPr/>
          <p:nvPr/>
        </p:nvSpPr>
        <p:spPr>
          <a:xfrm flipH="1">
            <a:off x="887400" y="1008000"/>
            <a:ext cx="142200" cy="5697360"/>
          </a:xfrm>
          <a:custGeom>
            <a:avLst/>
            <a:gdLst>
              <a:gd name="textAreaLeft" fmla="*/ -360 w 142200"/>
              <a:gd name="textAreaRight" fmla="*/ 142200 w 142200"/>
              <a:gd name="textAreaTop" fmla="*/ 0 h 5697360"/>
              <a:gd name="textAreaBottom" fmla="*/ 5697720 h 569736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object 30"/>
          <p:cNvSpPr/>
          <p:nvPr/>
        </p:nvSpPr>
        <p:spPr>
          <a:xfrm>
            <a:off x="1270080" y="1746720"/>
            <a:ext cx="15163560" cy="15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24120" indent="-12240" algn="just">
              <a:lnSpc>
                <a:spcPts val="2999"/>
              </a:lnSpc>
              <a:spcBef>
                <a:spcPts val="615"/>
              </a:spcBef>
              <a:tabLst>
                <a:tab algn="l" pos="0"/>
              </a:tabLst>
            </a:pPr>
            <a:r>
              <a:rPr lang="it-IT" sz="2800" b="0" u="none" strike="noStrike">
                <a:solidFill>
                  <a:srgbClr val="0f0f0f"/>
                </a:solidFill>
                <a:effectLst/>
                <a:uFillTx/>
                <a:latin typeface="Calibri"/>
              </a:rPr>
              <a:t>Il</a:t>
            </a:r>
            <a:r>
              <a:rPr lang="it-IT" sz="2800" b="0" u="none" spc="-190" strike="noStrike">
                <a:solidFill>
                  <a:srgbClr val="0f0f0f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50" strike="noStrike">
                <a:solidFill>
                  <a:srgbClr val="000000"/>
                </a:solidFill>
                <a:effectLst/>
                <a:uFillTx/>
                <a:latin typeface="Calibri"/>
              </a:rPr>
              <a:t>primo</a:t>
            </a:r>
            <a:r>
              <a:rPr lang="it-IT" sz="2800" b="0" u="none" spc="-3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11" strike="noStrike">
                <a:solidFill>
                  <a:srgbClr val="000000"/>
                </a:solidFill>
                <a:effectLst/>
                <a:uFillTx/>
                <a:latin typeface="Calibri"/>
              </a:rPr>
              <a:t>scenario</a:t>
            </a:r>
            <a:r>
              <a:rPr lang="it-IT" sz="2800" b="0" u="none" spc="-5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91" strike="noStrike">
                <a:solidFill>
                  <a:srgbClr val="000000"/>
                </a:solidFill>
                <a:effectLst/>
                <a:uFillTx/>
                <a:latin typeface="Calibri"/>
              </a:rPr>
              <a:t>analizzato</a:t>
            </a:r>
            <a:r>
              <a:rPr lang="it-IT" sz="2800" b="0" u="none" spc="-7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è</a:t>
            </a:r>
            <a:r>
              <a:rPr lang="it-IT" sz="2800" b="0" u="none" spc="-16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19" strike="noStrike">
                <a:solidFill>
                  <a:srgbClr val="000000"/>
                </a:solidFill>
                <a:effectLst/>
                <a:uFillTx/>
                <a:latin typeface="Calibri"/>
              </a:rPr>
              <a:t>stato</a:t>
            </a:r>
            <a:r>
              <a:rPr lang="it-IT" sz="2800" b="0" u="none" spc="-6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99" strike="noStrike">
                <a:solidFill>
                  <a:srgbClr val="000000"/>
                </a:solidFill>
                <a:effectLst/>
                <a:uFillTx/>
                <a:latin typeface="Calibri"/>
              </a:rPr>
              <a:t>quello di installare</a:t>
            </a:r>
            <a:r>
              <a:rPr lang="it-IT" sz="2800" b="0" u="none" spc="-21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65" strike="noStrike">
                <a:solidFill>
                  <a:srgbClr val="000000"/>
                </a:solidFill>
                <a:effectLst/>
                <a:uFillTx/>
                <a:latin typeface="Calibri"/>
              </a:rPr>
              <a:t>un</a:t>
            </a:r>
            <a:r>
              <a:rPr lang="it-IT" sz="2800" b="0" u="none" spc="-10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30" strike="noStrike">
                <a:solidFill>
                  <a:srgbClr val="000000"/>
                </a:solidFill>
                <a:effectLst/>
                <a:uFillTx/>
                <a:latin typeface="Calibri"/>
              </a:rPr>
              <a:t>pad</a:t>
            </a:r>
            <a:r>
              <a:rPr lang="it-IT" sz="2800" b="0" u="none" spc="-7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71" strike="noStrike">
                <a:solidFill>
                  <a:srgbClr val="000000"/>
                </a:solidFill>
                <a:effectLst/>
                <a:uFillTx/>
                <a:latin typeface="Calibri"/>
              </a:rPr>
              <a:t>di</a:t>
            </a:r>
            <a:r>
              <a:rPr lang="it-IT" sz="2800" b="0" u="none" spc="-11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85" strike="noStrike">
                <a:solidFill>
                  <a:srgbClr val="000000"/>
                </a:solidFill>
                <a:effectLst/>
                <a:uFillTx/>
                <a:latin typeface="Calibri"/>
              </a:rPr>
              <a:t>ricarica</a:t>
            </a:r>
            <a:r>
              <a:rPr lang="it-IT" sz="2800" b="0" u="none" spc="-4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34" strike="noStrike">
                <a:solidFill>
                  <a:srgbClr val="0c0c0c"/>
                </a:solidFill>
                <a:effectLst/>
                <a:uFillTx/>
                <a:latin typeface="Calibri"/>
              </a:rPr>
              <a:t>da</a:t>
            </a:r>
            <a:r>
              <a:rPr lang="it-IT" sz="2800" b="0" u="none" spc="-65" strike="noStrike">
                <a:solidFill>
                  <a:srgbClr val="0c0c0c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31" strike="noStrike">
                <a:solidFill>
                  <a:srgbClr val="1a63a2"/>
                </a:solidFill>
                <a:effectLst/>
                <a:uFillTx/>
                <a:latin typeface="Calibri"/>
              </a:rPr>
              <a:t>50</a:t>
            </a:r>
            <a:r>
              <a:rPr lang="it-IT" sz="2800" b="0" u="none" spc="-136" strike="noStrike">
                <a:solidFill>
                  <a:srgbClr val="1a63a2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kW</a:t>
            </a:r>
            <a:r>
              <a:rPr lang="it-IT" sz="2800" b="0" u="none" spc="-65" strike="noStrike">
                <a:solidFill>
                  <a:srgbClr val="1a63a2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60" strike="noStrike">
                <a:solidFill>
                  <a:srgbClr val="000000"/>
                </a:solidFill>
                <a:effectLst/>
                <a:uFillTx/>
                <a:latin typeface="Calibri"/>
              </a:rPr>
              <a:t>in</a:t>
            </a:r>
            <a:r>
              <a:rPr lang="it-IT" sz="2800" b="0" u="none" spc="-5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25" strike="noStrike">
                <a:solidFill>
                  <a:srgbClr val="000000"/>
                </a:solidFill>
                <a:effectLst/>
                <a:uFillTx/>
                <a:latin typeface="Calibri"/>
              </a:rPr>
              <a:t>tutte</a:t>
            </a:r>
            <a:r>
              <a:rPr lang="it-IT" sz="2800" b="0" u="none" spc="-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le</a:t>
            </a:r>
            <a:r>
              <a:rPr lang="it-IT" sz="2800" b="0" u="none" spc="-9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26" strike="noStrike">
                <a:solidFill>
                  <a:srgbClr val="1a63a2"/>
                </a:solidFill>
                <a:effectLst/>
                <a:uFillTx/>
                <a:latin typeface="Calibri"/>
              </a:rPr>
              <a:t>51 </a:t>
            </a:r>
            <a:r>
              <a:rPr lang="it-IT" sz="2800" b="0" u="none" spc="-125" strike="noStrike">
                <a:solidFill>
                  <a:srgbClr val="1a63a2"/>
                </a:solidFill>
                <a:effectLst/>
                <a:uFillTx/>
                <a:latin typeface="Calibri"/>
              </a:rPr>
              <a:t>fermate</a:t>
            </a:r>
            <a:r>
              <a:rPr lang="it-IT" sz="2800" b="0" u="none" spc="-40" strike="noStrike">
                <a:solidFill>
                  <a:srgbClr val="1a63a2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74" strike="noStrike">
                <a:solidFill>
                  <a:srgbClr val="000000"/>
                </a:solidFill>
                <a:effectLst/>
                <a:uFillTx/>
                <a:latin typeface="Calibri"/>
              </a:rPr>
              <a:t>della</a:t>
            </a:r>
            <a:r>
              <a:rPr lang="it-IT" sz="2800" b="0" u="none" spc="-8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05" strike="noStrike">
                <a:solidFill>
                  <a:srgbClr val="000000"/>
                </a:solidFill>
                <a:effectLst/>
                <a:uFillTx/>
                <a:latin typeface="Calibri"/>
              </a:rPr>
              <a:t>linea.</a:t>
            </a:r>
            <a:r>
              <a:rPr lang="it-IT" sz="2800" b="0" u="none" spc="-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0f0f0f"/>
                </a:solidFill>
                <a:effectLst/>
                <a:uFillTx/>
                <a:latin typeface="Calibri"/>
              </a:rPr>
              <a:t>In</a:t>
            </a:r>
            <a:r>
              <a:rPr lang="it-IT" sz="2800" b="0" u="none" spc="-159" strike="noStrike">
                <a:solidFill>
                  <a:srgbClr val="0f0f0f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19" strike="noStrike">
                <a:solidFill>
                  <a:srgbClr val="000000"/>
                </a:solidFill>
                <a:effectLst/>
                <a:uFillTx/>
                <a:latin typeface="Calibri"/>
              </a:rPr>
              <a:t>teoria,</a:t>
            </a:r>
            <a:r>
              <a:rPr lang="it-IT" sz="2800" b="0" u="none" spc="-4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99" strike="noStrike">
                <a:solidFill>
                  <a:srgbClr val="000000"/>
                </a:solidFill>
                <a:effectLst/>
                <a:uFillTx/>
                <a:latin typeface="Calibri"/>
              </a:rPr>
              <a:t>questo</a:t>
            </a:r>
            <a:r>
              <a:rPr lang="it-IT" sz="2800" b="0" u="none" spc="-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85" strike="noStrike">
                <a:solidFill>
                  <a:srgbClr val="000000"/>
                </a:solidFill>
                <a:effectLst/>
                <a:uFillTx/>
                <a:latin typeface="Calibri"/>
              </a:rPr>
              <a:t>approccio</a:t>
            </a:r>
            <a:r>
              <a:rPr lang="it-IT" sz="2800" b="0" u="none" spc="-7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91" strike="noStrike">
                <a:solidFill>
                  <a:srgbClr val="000000"/>
                </a:solidFill>
                <a:effectLst/>
                <a:uFillTx/>
                <a:latin typeface="Calibri"/>
              </a:rPr>
              <a:t>dovrebbe</a:t>
            </a:r>
            <a:r>
              <a:rPr lang="it-IT" sz="2800" b="0" u="none" spc="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13" strike="noStrike">
                <a:solidFill>
                  <a:srgbClr val="000000"/>
                </a:solidFill>
                <a:effectLst/>
                <a:uFillTx/>
                <a:latin typeface="Calibri"/>
              </a:rPr>
              <a:t>garantire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91" strike="noStrike">
                <a:solidFill>
                  <a:srgbClr val="000000"/>
                </a:solidFill>
                <a:effectLst/>
                <a:uFillTx/>
                <a:latin typeface="Calibri"/>
              </a:rPr>
              <a:t>una</a:t>
            </a:r>
            <a:r>
              <a:rPr lang="it-IT" sz="2800" b="0" u="none" spc="-3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71" strike="noStrike">
                <a:solidFill>
                  <a:srgbClr val="000000"/>
                </a:solidFill>
                <a:effectLst/>
                <a:uFillTx/>
                <a:latin typeface="Calibri"/>
              </a:rPr>
              <a:t>ricarica</a:t>
            </a:r>
            <a:r>
              <a:rPr lang="it-IT" sz="2800" b="0" u="none" spc="1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99" strike="noStrike">
                <a:solidFill>
                  <a:srgbClr val="000000"/>
                </a:solidFill>
                <a:effectLst/>
                <a:uFillTx/>
                <a:latin typeface="Calibri"/>
              </a:rPr>
              <a:t>costante</a:t>
            </a:r>
            <a:r>
              <a:rPr lang="it-IT" sz="2800" b="0" u="none" spc="6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74" strike="noStrike">
                <a:solidFill>
                  <a:srgbClr val="000000"/>
                </a:solidFill>
                <a:effectLst/>
                <a:uFillTx/>
                <a:latin typeface="Calibri"/>
              </a:rPr>
              <a:t>lungo</a:t>
            </a:r>
            <a:r>
              <a:rPr lang="it-IT" sz="2800" b="0" u="none" spc="-3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13" strike="noStrike">
                <a:solidFill>
                  <a:srgbClr val="0c0c0c"/>
                </a:solidFill>
                <a:effectLst/>
                <a:uFillTx/>
                <a:latin typeface="Calibri"/>
              </a:rPr>
              <a:t>tutto</a:t>
            </a:r>
            <a:r>
              <a:rPr lang="it-IT" sz="2800" b="0" u="none" spc="-60" strike="noStrike">
                <a:solidFill>
                  <a:srgbClr val="0c0c0c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trike="noStrike">
                <a:solidFill>
                  <a:srgbClr val="161616"/>
                </a:solidFill>
                <a:effectLst/>
                <a:uFillTx/>
                <a:latin typeface="Calibri"/>
              </a:rPr>
              <a:t>il</a:t>
            </a:r>
            <a:r>
              <a:rPr lang="it-IT" sz="2800" b="0" u="none" spc="-190" strike="noStrike">
                <a:solidFill>
                  <a:srgbClr val="161616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percorso.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Sulla base dei tempi medi di fermata precedentemente esposti però, il risultato è inefficiente, come dimostrano i calcoli in </a:t>
            </a:r>
            <a:r>
              <a:rPr lang="it-IT" sz="2800" b="0" i="1" u="none" strike="noStrike">
                <a:solidFill>
                  <a:srgbClr val="1a63a2"/>
                </a:solidFill>
                <a:effectLst/>
                <a:uFillTx/>
                <a:latin typeface="Calibri"/>
              </a:rPr>
              <a:t>WPT.m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" name="Immagine 1"/>
          <p:cNvPicPr/>
          <p:nvPr/>
        </p:nvPicPr>
        <p:blipFill>
          <a:blip r:embed="rId1"/>
          <a:stretch/>
        </p:blipFill>
        <p:spPr>
          <a:xfrm>
            <a:off x="1041480" y="3438000"/>
            <a:ext cx="8793000" cy="3495960"/>
          </a:xfrm>
          <a:prstGeom prst="rect">
            <a:avLst/>
          </a:prstGeom>
          <a:noFill/>
          <a:ln w="0">
            <a:noFill/>
          </a:ln>
          <a:effectLst>
            <a:softEdge rad="228600"/>
          </a:effectLst>
        </p:spPr>
      </p:pic>
      <p:grpSp>
        <p:nvGrpSpPr>
          <p:cNvPr id="153" name="Gruppo 5"/>
          <p:cNvGrpSpPr/>
          <p:nvPr/>
        </p:nvGrpSpPr>
        <p:grpSpPr>
          <a:xfrm>
            <a:off x="10185480" y="4165920"/>
            <a:ext cx="2447640" cy="1767240"/>
            <a:chOff x="10185480" y="4165920"/>
            <a:chExt cx="2447640" cy="1767240"/>
          </a:xfrm>
        </p:grpSpPr>
        <p:sp>
          <p:nvSpPr>
            <p:cNvPr id="154" name="Rettangolo con angoli arrotondati 6"/>
            <p:cNvSpPr/>
            <p:nvPr/>
          </p:nvSpPr>
          <p:spPr>
            <a:xfrm>
              <a:off x="10218960" y="4165920"/>
              <a:ext cx="2414160" cy="1767240"/>
            </a:xfrm>
            <a:prstGeom prst="roundRect">
              <a:avLst>
                <a:gd name="adj" fmla="val 16667"/>
              </a:avLst>
            </a:prstGeom>
            <a:noFill/>
            <a:ln w="76320">
              <a:solidFill>
                <a:srgbClr val="00b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5" name="CasellaDiTesto 7"/>
            <p:cNvSpPr/>
            <p:nvPr/>
          </p:nvSpPr>
          <p:spPr>
            <a:xfrm>
              <a:off x="10185480" y="4242240"/>
              <a:ext cx="2414160" cy="91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it-IT" sz="1800" b="1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Energia totale ricaricata A/R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CasellaDiTesto 8"/>
            <p:cNvSpPr/>
            <p:nvPr/>
          </p:nvSpPr>
          <p:spPr>
            <a:xfrm>
              <a:off x="10209240" y="4851720"/>
              <a:ext cx="2414160" cy="91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it-IT" sz="3600" b="1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12.8 kWh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it-IT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(4.3% della batteria)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7" name="Gruppo 9"/>
          <p:cNvGrpSpPr/>
          <p:nvPr/>
        </p:nvGrpSpPr>
        <p:grpSpPr>
          <a:xfrm>
            <a:off x="10185480" y="6528240"/>
            <a:ext cx="2447640" cy="1767240"/>
            <a:chOff x="10185480" y="6528240"/>
            <a:chExt cx="2447640" cy="1767240"/>
          </a:xfrm>
        </p:grpSpPr>
        <p:sp>
          <p:nvSpPr>
            <p:cNvPr id="158" name="Rettangolo con angoli arrotondati 10"/>
            <p:cNvSpPr/>
            <p:nvPr/>
          </p:nvSpPr>
          <p:spPr>
            <a:xfrm>
              <a:off x="10218960" y="6528240"/>
              <a:ext cx="2414160" cy="1767240"/>
            </a:xfrm>
            <a:prstGeom prst="roundRect">
              <a:avLst>
                <a:gd name="adj" fmla="val 16667"/>
              </a:avLst>
            </a:prstGeom>
            <a:noFill/>
            <a:ln w="76320">
              <a:solidFill>
                <a:schemeClr val="accent6">
                  <a:lumMod val="75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59" name="CasellaDiTesto 12"/>
            <p:cNvSpPr/>
            <p:nvPr/>
          </p:nvSpPr>
          <p:spPr>
            <a:xfrm>
              <a:off x="10185480" y="6604560"/>
              <a:ext cx="2414160" cy="91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it-IT" sz="1800" b="1" u="none" strike="noStrike">
                  <a:solidFill>
                    <a:schemeClr val="accent6">
                      <a:lumMod val="75000"/>
                    </a:schemeClr>
                  </a:solidFill>
                  <a:effectLst/>
                  <a:uFillTx/>
                  <a:latin typeface="Arial"/>
                </a:rPr>
                <a:t>Energia totale consumata A/R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CasellaDiTesto 13"/>
            <p:cNvSpPr/>
            <p:nvPr/>
          </p:nvSpPr>
          <p:spPr>
            <a:xfrm>
              <a:off x="10209240" y="7214040"/>
              <a:ext cx="2414160" cy="91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it-IT" sz="3600" b="1" u="none" strike="noStrike">
                  <a:solidFill>
                    <a:schemeClr val="accent6">
                      <a:lumMod val="75000"/>
                    </a:schemeClr>
                  </a:solidFill>
                  <a:effectLst/>
                  <a:uFillTx/>
                  <a:latin typeface="Arial"/>
                </a:rPr>
                <a:t>~38 kWh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it-IT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(12.6% della batteria)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1" name="Cerchio vuoto 3"/>
          <p:cNvSpPr/>
          <p:nvPr/>
        </p:nvSpPr>
        <p:spPr>
          <a:xfrm>
            <a:off x="13201200" y="4361760"/>
            <a:ext cx="3651480" cy="3695040"/>
          </a:xfrm>
          <a:prstGeom prst="donut">
            <a:avLst>
              <a:gd name="adj" fmla="val 10209"/>
            </a:avLst>
          </a:prstGeom>
          <a:solidFill>
            <a:schemeClr val="accent6">
              <a:lumMod val="20000"/>
              <a:lumOff val="80000"/>
            </a:schemeClr>
          </a:solidFill>
          <a:ln w="25560">
            <a:solidFill>
              <a:schemeClr val="accent6">
                <a:lumMod val="7500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Arco a tutto sesto 4"/>
          <p:cNvSpPr/>
          <p:nvPr/>
        </p:nvSpPr>
        <p:spPr>
          <a:xfrm rot="2830200">
            <a:off x="13214520" y="4405680"/>
            <a:ext cx="3613320" cy="3601800"/>
          </a:xfrm>
          <a:prstGeom prst="blockArc">
            <a:avLst>
              <a:gd name="adj1" fmla="val 13336200"/>
              <a:gd name="adj2" fmla="val 20362711"/>
              <a:gd name="adj3" fmla="val 8471"/>
            </a:avLst>
          </a:prstGeom>
          <a:solidFill>
            <a:srgbClr val="c0000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it-IT" sz="1800" b="0" u="none" strike="noStrike">
              <a:solidFill>
                <a:srgbClr val="ff0000"/>
              </a:solidFill>
              <a:effectLst/>
              <a:uFillTx/>
              <a:latin typeface="Calibri"/>
            </a:endParaRPr>
          </a:p>
        </p:txBody>
      </p:sp>
      <p:sp>
        <p:nvSpPr>
          <p:cNvPr id="163" name="CasellaDiTesto 14"/>
          <p:cNvSpPr/>
          <p:nvPr/>
        </p:nvSpPr>
        <p:spPr>
          <a:xfrm>
            <a:off x="13618440" y="5240160"/>
            <a:ext cx="2815200" cy="76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it-IT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Energia</a:t>
            </a:r>
            <a:r>
              <a:rPr lang="it-IT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it-IT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ricaricata </a:t>
            </a:r>
            <a:r>
              <a:rPr lang="it-IT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/ </a:t>
            </a:r>
            <a:r>
              <a:rPr lang="it-IT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consumata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CasellaDiTesto 15"/>
          <p:cNvSpPr/>
          <p:nvPr/>
        </p:nvSpPr>
        <p:spPr>
          <a:xfrm>
            <a:off x="13919040" y="6009840"/>
            <a:ext cx="22093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it-IT" sz="6000" b="1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~34%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CasellaDiTesto 2"/>
          <p:cNvSpPr/>
          <p:nvPr/>
        </p:nvSpPr>
        <p:spPr>
          <a:xfrm>
            <a:off x="2183760" y="7650720"/>
            <a:ext cx="7457400" cy="20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4120" indent="-12240" algn="just" defTabSz="914400">
              <a:lnSpc>
                <a:spcPts val="2999"/>
              </a:lnSpc>
              <a:spcBef>
                <a:spcPts val="615"/>
              </a:spcBef>
              <a:tabLst>
                <a:tab algn="l" pos="0"/>
              </a:tabLst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Installare 51 postazioni di ricarica WPT per coprire solamente un terzo del consumo non appare sensato dal punto di vista dell’investimento economico e della complessità di installazione.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120" algn="just" defTabSz="914400">
              <a:lnSpc>
                <a:spcPct val="100000"/>
              </a:lnSpc>
              <a:tabLst>
                <a:tab algn="l" pos="0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Elemento grafico 17" descr="Freccia, curva antioraria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 rot="10800000">
            <a:off x="1169280" y="689472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object 4"/>
          <p:cNvSpPr/>
          <p:nvPr/>
        </p:nvSpPr>
        <p:spPr>
          <a:xfrm flipH="1">
            <a:off x="1954440" y="7650720"/>
            <a:ext cx="127080" cy="1492920"/>
          </a:xfrm>
          <a:custGeom>
            <a:avLst/>
            <a:gdLst>
              <a:gd name="textAreaLeft" fmla="*/ -360 w 127080"/>
              <a:gd name="textAreaRight" fmla="*/ 127080 w 127080"/>
              <a:gd name="textAreaTop" fmla="*/ 0 h 1492920"/>
              <a:gd name="textAreaBottom" fmla="*/ 1493280 h 149292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object 10"/>
          <p:cNvSpPr/>
          <p:nvPr/>
        </p:nvSpPr>
        <p:spPr>
          <a:xfrm>
            <a:off x="1270080" y="762120"/>
            <a:ext cx="1439892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6840" bIns="0" anchor="t">
            <a:spAutoFit/>
          </a:bodyPr>
          <a:p>
            <a:pPr>
              <a:lnSpc>
                <a:spcPct val="100000"/>
              </a:lnSpc>
              <a:spcBef>
                <a:spcPts val="136"/>
              </a:spcBef>
            </a:pPr>
            <a:r>
              <a:rPr lang="it-IT" sz="3850" b="1" u="none" spc="51" strike="noStrike">
                <a:solidFill>
                  <a:srgbClr val="1a63a2"/>
                </a:solidFill>
                <a:effectLst/>
                <a:uFillTx/>
                <a:latin typeface="Arial MT"/>
              </a:rPr>
              <a:t>Scenario con ricariche WPT strategiche</a:t>
            </a:r>
            <a:endParaRPr lang="en-US" sz="3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object 4"/>
          <p:cNvSpPr/>
          <p:nvPr/>
        </p:nvSpPr>
        <p:spPr>
          <a:xfrm>
            <a:off x="1041480" y="897480"/>
            <a:ext cx="75960" cy="1931760"/>
          </a:xfrm>
          <a:custGeom>
            <a:avLst/>
            <a:gdLst>
              <a:gd name="textAreaLeft" fmla="*/ 0 w 75960"/>
              <a:gd name="textAreaRight" fmla="*/ 76320 w 75960"/>
              <a:gd name="textAreaTop" fmla="*/ 0 h 1931760"/>
              <a:gd name="textAreaBottom" fmla="*/ 1932120 h 193176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object 30"/>
          <p:cNvSpPr/>
          <p:nvPr/>
        </p:nvSpPr>
        <p:spPr>
          <a:xfrm>
            <a:off x="1270080" y="1585080"/>
            <a:ext cx="15087240" cy="12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5840" indent="-3960" algn="just">
              <a:lnSpc>
                <a:spcPts val="3200"/>
              </a:lnSpc>
              <a:spcBef>
                <a:spcPts val="456"/>
              </a:spcBef>
              <a:tabLst>
                <a:tab algn="l" pos="0"/>
              </a:tabLst>
            </a:pPr>
            <a:r>
              <a:rPr lang="it-IT" sz="2800" b="0" u="none" spc="-34" strike="noStrike">
                <a:solidFill>
                  <a:srgbClr val="000000"/>
                </a:solidFill>
                <a:effectLst/>
                <a:uFillTx/>
                <a:latin typeface="Arial"/>
              </a:rPr>
              <a:t>L'analisi</a:t>
            </a:r>
            <a:r>
              <a:rPr lang="it-IT" sz="2800" b="0" u="none" spc="-130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pc="-31" strike="noStrike">
                <a:solidFill>
                  <a:srgbClr val="000000"/>
                </a:solidFill>
                <a:effectLst/>
                <a:uFillTx/>
                <a:latin typeface="Arial"/>
              </a:rPr>
              <a:t>ha</a:t>
            </a:r>
            <a:r>
              <a:rPr lang="it-IT" sz="2800" b="0" u="none" spc="-130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rivelato</a:t>
            </a:r>
            <a:r>
              <a:rPr lang="it-IT" sz="2800" b="0" u="none" spc="-156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che</a:t>
            </a:r>
            <a:r>
              <a:rPr lang="it-IT" sz="2800" b="0" u="none" spc="-150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</a:t>
            </a:r>
            <a:r>
              <a:rPr lang="it-IT" sz="2800" b="0" u="none" spc="-176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chiave</a:t>
            </a:r>
            <a:r>
              <a:rPr lang="it-IT" sz="2800" b="0" u="none" spc="-139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pc="-156" strike="noStrike">
                <a:solidFill>
                  <a:srgbClr val="000000"/>
                </a:solidFill>
                <a:effectLst/>
                <a:uFillTx/>
                <a:latin typeface="Arial"/>
              </a:rPr>
              <a:t>non</a:t>
            </a:r>
            <a:r>
              <a:rPr lang="it-IT" sz="2800" b="0" u="none" spc="-9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è</a:t>
            </a:r>
            <a:r>
              <a:rPr lang="it-IT" sz="2800" b="0" u="none" spc="-196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</a:t>
            </a:r>
            <a:r>
              <a:rPr lang="it-IT" sz="2800" b="0" u="none" spc="-20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frequenza</a:t>
            </a:r>
            <a:r>
              <a:rPr lang="it-IT" sz="2800" b="0" u="none" spc="6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della</a:t>
            </a:r>
            <a:r>
              <a:rPr lang="it-IT" sz="2800" b="0" u="none" spc="-20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ricarica,</a:t>
            </a:r>
            <a:r>
              <a:rPr lang="it-IT" sz="2800" b="0" u="none" spc="-145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pc="-99" strike="noStrike">
                <a:solidFill>
                  <a:srgbClr val="000000"/>
                </a:solidFill>
                <a:effectLst/>
                <a:uFillTx/>
                <a:latin typeface="Arial"/>
              </a:rPr>
              <a:t>ma </a:t>
            </a:r>
            <a:r>
              <a:rPr lang="it-IT" sz="28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la</a:t>
            </a:r>
            <a:r>
              <a:rPr lang="it-IT" sz="2800" b="0" u="none" spc="-139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sua</a:t>
            </a:r>
            <a:r>
              <a:rPr lang="it-IT" sz="2800" b="0" u="none" spc="-159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durata.</a:t>
            </a:r>
            <a:r>
              <a:rPr lang="it-IT" sz="2800" b="0" u="none" spc="-3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Concentrando</a:t>
            </a:r>
            <a:r>
              <a:rPr lang="it-IT" sz="28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l'infrastruttura</a:t>
            </a:r>
            <a:r>
              <a:rPr lang="it-IT" sz="2800" b="0" u="none" spc="-244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pc="-34" strike="noStrike">
                <a:solidFill>
                  <a:srgbClr val="000000"/>
                </a:solidFill>
                <a:effectLst/>
                <a:uFillTx/>
                <a:latin typeface="Arial"/>
              </a:rPr>
              <a:t>nei</a:t>
            </a:r>
            <a:r>
              <a:rPr lang="it-IT" sz="2800" b="0" u="none" spc="-130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punti</a:t>
            </a:r>
            <a:r>
              <a:rPr lang="it-IT" sz="2800" b="0" u="none" spc="-26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pc="-31" strike="noStrike">
                <a:solidFill>
                  <a:srgbClr val="000000"/>
                </a:solidFill>
                <a:effectLst/>
                <a:uFillTx/>
                <a:latin typeface="Arial"/>
              </a:rPr>
              <a:t>in</a:t>
            </a:r>
            <a:r>
              <a:rPr lang="it-IT" sz="2800" b="0" u="none" spc="-156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cui</a:t>
            </a:r>
            <a:r>
              <a:rPr lang="it-IT" sz="2800" b="0" u="none" spc="-119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il</a:t>
            </a:r>
            <a:r>
              <a:rPr lang="it-IT" sz="2800" b="0" u="none" spc="-190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bus</a:t>
            </a:r>
            <a:r>
              <a:rPr lang="it-IT" sz="2800" b="0" u="none" spc="-31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sosta </a:t>
            </a:r>
            <a:r>
              <a:rPr lang="it-IT" sz="2800" b="0" u="none" spc="-45" strike="noStrike">
                <a:solidFill>
                  <a:srgbClr val="000000"/>
                </a:solidFill>
                <a:effectLst/>
                <a:uFillTx/>
                <a:latin typeface="Arial"/>
              </a:rPr>
              <a:t>naturalmente </a:t>
            </a:r>
            <a:r>
              <a:rPr lang="it-IT" sz="2800" b="0" u="none" spc="-51" strike="noStrike">
                <a:solidFill>
                  <a:srgbClr val="000000"/>
                </a:solidFill>
                <a:effectLst/>
                <a:uFillTx/>
                <a:latin typeface="Arial"/>
              </a:rPr>
              <a:t>per</a:t>
            </a: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periodi</a:t>
            </a:r>
            <a:r>
              <a:rPr lang="it-IT" sz="2800" b="0" u="none" spc="-65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pc="-20" strike="noStrike">
                <a:solidFill>
                  <a:srgbClr val="000000"/>
                </a:solidFill>
                <a:effectLst/>
                <a:uFillTx/>
                <a:latin typeface="Arial"/>
              </a:rPr>
              <a:t>più</a:t>
            </a:r>
            <a:r>
              <a:rPr lang="it-IT" sz="2800" b="0" u="none" spc="-145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it-IT" sz="2800" b="0" u="none" spc="-11" strike="noStrike">
                <a:solidFill>
                  <a:srgbClr val="000000"/>
                </a:solidFill>
                <a:effectLst/>
                <a:uFillTx/>
                <a:latin typeface="Arial"/>
              </a:rPr>
              <a:t>lunghi è possibile arrivare a coprire il 100% del consumo. Un plausibile scenario può essere il seguente: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magine 24"/>
          <p:cNvPicPr/>
          <p:nvPr/>
        </p:nvPicPr>
        <p:blipFill>
          <a:blip r:embed="rId1"/>
          <a:stretch/>
        </p:blipFill>
        <p:spPr>
          <a:xfrm>
            <a:off x="7827840" y="4143600"/>
            <a:ext cx="2276280" cy="15620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2" name="Gruppo 26"/>
          <p:cNvGrpSpPr/>
          <p:nvPr/>
        </p:nvGrpSpPr>
        <p:grpSpPr>
          <a:xfrm>
            <a:off x="3681360" y="4394880"/>
            <a:ext cx="968040" cy="1321920"/>
            <a:chOff x="3681360" y="4394880"/>
            <a:chExt cx="968040" cy="1321920"/>
          </a:xfrm>
        </p:grpSpPr>
        <p:pic>
          <p:nvPicPr>
            <p:cNvPr id="173" name="Elemento grafico 23" descr="Pennarello"/>
            <p:cNvPicPr/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/>
          </p:blipFill>
          <p:spPr>
            <a:xfrm>
              <a:off x="3730320" y="4394880"/>
              <a:ext cx="865080" cy="865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4" name="Immagine 25"/>
            <p:cNvPicPr/>
            <p:nvPr/>
          </p:nvPicPr>
          <p:blipFill>
            <a:blip r:embed="rId4"/>
            <a:stretch/>
          </p:blipFill>
          <p:spPr>
            <a:xfrm>
              <a:off x="3681360" y="5194080"/>
              <a:ext cx="968040" cy="5227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175" name="Gruppo 29"/>
          <p:cNvGrpSpPr/>
          <p:nvPr/>
        </p:nvGrpSpPr>
        <p:grpSpPr>
          <a:xfrm>
            <a:off x="13233240" y="4492080"/>
            <a:ext cx="968040" cy="1322280"/>
            <a:chOff x="13233240" y="4492080"/>
            <a:chExt cx="968040" cy="1322280"/>
          </a:xfrm>
        </p:grpSpPr>
        <p:pic>
          <p:nvPicPr>
            <p:cNvPr id="176" name="Elemento grafico 30" descr="Pennarello"/>
            <p:cNvPicPr/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/>
          </p:blipFill>
          <p:spPr>
            <a:xfrm>
              <a:off x="13282560" y="4492080"/>
              <a:ext cx="865080" cy="8650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7" name="Immagine 33"/>
            <p:cNvPicPr/>
            <p:nvPr/>
          </p:nvPicPr>
          <p:blipFill>
            <a:blip r:embed="rId7"/>
            <a:stretch/>
          </p:blipFill>
          <p:spPr>
            <a:xfrm>
              <a:off x="13233240" y="5291640"/>
              <a:ext cx="968040" cy="5227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78" name="CasellaDiTesto 27"/>
          <p:cNvSpPr/>
          <p:nvPr/>
        </p:nvSpPr>
        <p:spPr>
          <a:xfrm>
            <a:off x="2562840" y="5790600"/>
            <a:ext cx="32000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it-IT" sz="2800" b="1" u="none" strike="noStrike">
                <a:solidFill>
                  <a:srgbClr val="074773"/>
                </a:solidFill>
                <a:effectLst/>
                <a:uFillTx/>
                <a:latin typeface="Arial"/>
              </a:rPr>
              <a:t>Capolinea Milano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CasellaDiTesto 34"/>
          <p:cNvSpPr/>
          <p:nvPr/>
        </p:nvSpPr>
        <p:spPr>
          <a:xfrm>
            <a:off x="7365960" y="5839920"/>
            <a:ext cx="32000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it-IT" sz="2800" b="1" u="none" strike="noStrike">
                <a:solidFill>
                  <a:srgbClr val="074773"/>
                </a:solidFill>
                <a:effectLst/>
                <a:uFillTx/>
                <a:latin typeface="Arial"/>
              </a:rPr>
              <a:t>Fermata Linate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CasellaDiTesto 35"/>
          <p:cNvSpPr/>
          <p:nvPr/>
        </p:nvSpPr>
        <p:spPr>
          <a:xfrm>
            <a:off x="11631960" y="5785560"/>
            <a:ext cx="41659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it-IT" sz="2800" b="1" u="none" strike="noStrike">
                <a:solidFill>
                  <a:srgbClr val="074773"/>
                </a:solidFill>
                <a:effectLst/>
                <a:uFillTx/>
                <a:latin typeface="Arial"/>
              </a:rPr>
              <a:t>Capolinea San Felicino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Arco 28"/>
          <p:cNvSpPr/>
          <p:nvPr/>
        </p:nvSpPr>
        <p:spPr>
          <a:xfrm rot="19080600">
            <a:off x="3881880" y="3681360"/>
            <a:ext cx="4619160" cy="4493880"/>
          </a:xfrm>
          <a:prstGeom prst="arc">
            <a:avLst>
              <a:gd name="adj1" fmla="val 16200000"/>
              <a:gd name="adj2" fmla="val 0"/>
            </a:avLst>
          </a:prstGeom>
          <a:noFill/>
          <a:ln w="38160">
            <a:solidFill>
              <a:srgbClr val="074773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Arco 36"/>
          <p:cNvSpPr/>
          <p:nvPr/>
        </p:nvSpPr>
        <p:spPr>
          <a:xfrm rot="19080600">
            <a:off x="8998560" y="3658680"/>
            <a:ext cx="4619160" cy="4493880"/>
          </a:xfrm>
          <a:prstGeom prst="arc">
            <a:avLst>
              <a:gd name="adj1" fmla="val 16200000"/>
              <a:gd name="adj2" fmla="val 0"/>
            </a:avLst>
          </a:prstGeom>
          <a:noFill/>
          <a:ln w="38160">
            <a:solidFill>
              <a:srgbClr val="074773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object 7"/>
          <p:cNvSpPr/>
          <p:nvPr/>
        </p:nvSpPr>
        <p:spPr>
          <a:xfrm>
            <a:off x="2182680" y="6400800"/>
            <a:ext cx="396000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760" bIns="0" anchor="t">
            <a:spAutoFit/>
          </a:bodyPr>
          <a:p>
            <a:pPr marL="12600">
              <a:lnSpc>
                <a:spcPct val="100000"/>
              </a:lnSpc>
              <a:spcBef>
                <a:spcPts val="113"/>
              </a:spcBef>
            </a:pPr>
            <a:r>
              <a:rPr lang="en-US" sz="2900" b="0" u="none" spc="-145" strike="noStrike">
                <a:solidFill>
                  <a:srgbClr val="000000"/>
                </a:solidFill>
                <a:effectLst/>
                <a:uFillTx/>
                <a:latin typeface="Calibri"/>
              </a:rPr>
              <a:t>Tempo</a:t>
            </a:r>
            <a:r>
              <a:rPr lang="en-US" sz="2900" b="0" u="none" spc="-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900" b="0" u="none" spc="-11" strike="noStrike">
                <a:solidFill>
                  <a:srgbClr val="111111"/>
                </a:solidFill>
                <a:effectLst/>
                <a:uFillTx/>
                <a:latin typeface="Calibri"/>
              </a:rPr>
              <a:t>di</a:t>
            </a:r>
            <a:r>
              <a:rPr lang="en-US" sz="2900" b="0" u="none" spc="-125" strike="noStrike">
                <a:solidFill>
                  <a:srgbClr val="111111"/>
                </a:solidFill>
                <a:effectLst/>
                <a:uFillTx/>
                <a:latin typeface="Calibri"/>
              </a:rPr>
              <a:t> </a:t>
            </a:r>
            <a:r>
              <a:rPr lang="en-US" sz="2900" b="0" u="none" spc="-31" strike="noStrike">
                <a:solidFill>
                  <a:srgbClr val="000000"/>
                </a:solidFill>
                <a:effectLst/>
                <a:uFillTx/>
                <a:latin typeface="Calibri"/>
              </a:rPr>
              <a:t>Ricarica:</a:t>
            </a:r>
            <a:r>
              <a:rPr lang="en-US" sz="2900" b="0" u="none" spc="-10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900" b="0" u="none" spc="145" strike="noStrike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alibri"/>
              </a:rPr>
              <a:t>5</a:t>
            </a:r>
            <a:r>
              <a:rPr lang="en-US" sz="2900" b="0" u="none" spc="-244" strike="noStrike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en-US" sz="2900" b="0" u="none" spc="-11" strike="noStrike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alibri"/>
              </a:rPr>
              <a:t>minuti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object 7"/>
          <p:cNvSpPr/>
          <p:nvPr/>
        </p:nvSpPr>
        <p:spPr>
          <a:xfrm>
            <a:off x="6985800" y="6441480"/>
            <a:ext cx="3960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760" bIns="0" anchor="t">
            <a:spAutoFit/>
          </a:bodyPr>
          <a:p>
            <a:pPr marL="12600">
              <a:lnSpc>
                <a:spcPct val="100000"/>
              </a:lnSpc>
              <a:spcBef>
                <a:spcPts val="113"/>
              </a:spcBef>
            </a:pPr>
            <a:r>
              <a:rPr lang="en-US" sz="2900" b="0" u="none" spc="-145" strike="noStrike">
                <a:solidFill>
                  <a:srgbClr val="000000"/>
                </a:solidFill>
                <a:effectLst/>
                <a:uFillTx/>
                <a:latin typeface="Calibri"/>
              </a:rPr>
              <a:t>Tempo</a:t>
            </a:r>
            <a:r>
              <a:rPr lang="en-US" sz="2900" b="0" u="none" spc="-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900" b="0" u="none" spc="-11" strike="noStrike">
                <a:solidFill>
                  <a:srgbClr val="111111"/>
                </a:solidFill>
                <a:effectLst/>
                <a:uFillTx/>
                <a:latin typeface="Calibri"/>
              </a:rPr>
              <a:t>di</a:t>
            </a:r>
            <a:r>
              <a:rPr lang="en-US" sz="2900" b="0" u="none" spc="-125" strike="noStrike">
                <a:solidFill>
                  <a:srgbClr val="111111"/>
                </a:solidFill>
                <a:effectLst/>
                <a:uFillTx/>
                <a:latin typeface="Calibri"/>
              </a:rPr>
              <a:t> </a:t>
            </a:r>
            <a:r>
              <a:rPr lang="en-US" sz="2900" b="0" u="none" spc="-31" strike="noStrike">
                <a:solidFill>
                  <a:srgbClr val="000000"/>
                </a:solidFill>
                <a:effectLst/>
                <a:uFillTx/>
                <a:latin typeface="Calibri"/>
              </a:rPr>
              <a:t>Ricarica:</a:t>
            </a:r>
            <a:r>
              <a:rPr lang="en-US" sz="2900" b="0" u="none" spc="-10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900" b="0" u="none" spc="-105" strike="noStrike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alibri"/>
              </a:rPr>
              <a:t>3 </a:t>
            </a:r>
            <a:r>
              <a:rPr lang="it-IT" sz="2900" b="0" u="none" spc="-11" strike="noStrike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alibri"/>
              </a:rPr>
              <a:t>minuti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object 7"/>
          <p:cNvSpPr/>
          <p:nvPr/>
        </p:nvSpPr>
        <p:spPr>
          <a:xfrm>
            <a:off x="11737440" y="6431760"/>
            <a:ext cx="3960000" cy="8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760" bIns="0" anchor="t">
            <a:spAutoFit/>
          </a:bodyPr>
          <a:p>
            <a:pPr marL="12600">
              <a:lnSpc>
                <a:spcPct val="100000"/>
              </a:lnSpc>
              <a:spcBef>
                <a:spcPts val="113"/>
              </a:spcBef>
            </a:pPr>
            <a:r>
              <a:rPr lang="en-US" sz="2900" b="0" u="none" spc="-145" strike="noStrike">
                <a:solidFill>
                  <a:srgbClr val="000000"/>
                </a:solidFill>
                <a:effectLst/>
                <a:uFillTx/>
                <a:latin typeface="Calibri"/>
              </a:rPr>
              <a:t>Tempo</a:t>
            </a:r>
            <a:r>
              <a:rPr lang="en-US" sz="2900" b="0" u="none" spc="-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900" b="0" u="none" spc="-11" strike="noStrike">
                <a:solidFill>
                  <a:srgbClr val="111111"/>
                </a:solidFill>
                <a:effectLst/>
                <a:uFillTx/>
                <a:latin typeface="Calibri"/>
              </a:rPr>
              <a:t>di</a:t>
            </a:r>
            <a:r>
              <a:rPr lang="en-US" sz="2900" b="0" u="none" spc="-125" strike="noStrike">
                <a:solidFill>
                  <a:srgbClr val="111111"/>
                </a:solidFill>
                <a:effectLst/>
                <a:uFillTx/>
                <a:latin typeface="Calibri"/>
              </a:rPr>
              <a:t> </a:t>
            </a:r>
            <a:r>
              <a:rPr lang="en-US" sz="2900" b="0" u="none" spc="-31" strike="noStrike">
                <a:solidFill>
                  <a:srgbClr val="000000"/>
                </a:solidFill>
                <a:effectLst/>
                <a:uFillTx/>
                <a:latin typeface="Calibri"/>
              </a:rPr>
              <a:t>Ricarica:</a:t>
            </a:r>
            <a:r>
              <a:rPr lang="en-US" sz="2900" b="0" u="none" spc="-10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900" b="0" u="none" spc="145" strike="noStrike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alibri"/>
              </a:rPr>
              <a:t>5</a:t>
            </a:r>
            <a:r>
              <a:rPr lang="en-US" sz="2900" b="0" u="none" spc="-244" strike="noStrike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en-US" sz="2900" b="0" u="none" spc="-11" strike="noStrike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Calibri"/>
              </a:rPr>
              <a:t>minuti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CasellaDiTesto 41"/>
          <p:cNvSpPr/>
          <p:nvPr/>
        </p:nvSpPr>
        <p:spPr>
          <a:xfrm>
            <a:off x="5347800" y="7691760"/>
            <a:ext cx="70635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it-IT" sz="2400" b="1" u="none" strike="noStrike">
                <a:solidFill>
                  <a:srgbClr val="074773"/>
                </a:solidFill>
                <a:effectLst/>
                <a:uFillTx/>
                <a:latin typeface="Arial"/>
              </a:rPr>
              <a:t>Potenza di ogni infrastruttura di ricarica: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7" name="Gruppo 46"/>
          <p:cNvGrpSpPr/>
          <p:nvPr/>
        </p:nvGrpSpPr>
        <p:grpSpPr>
          <a:xfrm>
            <a:off x="5828040" y="8251200"/>
            <a:ext cx="6275880" cy="1363680"/>
            <a:chOff x="5828040" y="8251200"/>
            <a:chExt cx="6275880" cy="1363680"/>
          </a:xfrm>
        </p:grpSpPr>
        <p:pic>
          <p:nvPicPr>
            <p:cNvPr id="188" name="Immagine 42"/>
            <p:cNvPicPr/>
            <p:nvPr/>
          </p:nvPicPr>
          <p:blipFill>
            <a:blip r:embed="rId8"/>
            <a:srcRect l="19238" t="4113" r="12950" b="12917"/>
            <a:stretch/>
          </p:blipFill>
          <p:spPr>
            <a:xfrm>
              <a:off x="10605960" y="8251200"/>
              <a:ext cx="1497960" cy="1343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9" name="CasellaDiTesto 43"/>
            <p:cNvSpPr/>
            <p:nvPr/>
          </p:nvSpPr>
          <p:spPr>
            <a:xfrm>
              <a:off x="7380000" y="8526240"/>
              <a:ext cx="3148560" cy="69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it-IT" sz="4000" b="1" u="none" strike="noStrike">
                  <a:solidFill>
                    <a:srgbClr val="074773"/>
                  </a:solidFill>
                  <a:effectLst/>
                  <a:uFillTx/>
                  <a:latin typeface="Arial"/>
                </a:rPr>
                <a:t>200 kW</a:t>
              </a:r>
              <a:endPara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90" name="Immagine 44"/>
            <p:cNvPicPr/>
            <p:nvPr/>
          </p:nvPicPr>
          <p:blipFill>
            <a:blip r:embed="rId9"/>
            <a:srcRect l="19238" t="4113" r="12950" b="12917"/>
            <a:stretch/>
          </p:blipFill>
          <p:spPr>
            <a:xfrm>
              <a:off x="5828040" y="8271360"/>
              <a:ext cx="1497960" cy="1343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1" name="Ovale 45"/>
            <p:cNvSpPr/>
            <p:nvPr/>
          </p:nvSpPr>
          <p:spPr>
            <a:xfrm>
              <a:off x="7659000" y="8379720"/>
              <a:ext cx="2530080" cy="1006560"/>
            </a:xfrm>
            <a:prstGeom prst="ellipse">
              <a:avLst/>
            </a:prstGeom>
            <a:noFill/>
            <a:ln w="25560">
              <a:solidFill>
                <a:schemeClr val="accent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</p:spTree>
  </p:cSld>
  <p:transition spd="slow">
    <p:push dir="u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object 10"/>
          <p:cNvSpPr/>
          <p:nvPr/>
        </p:nvSpPr>
        <p:spPr>
          <a:xfrm>
            <a:off x="1270080" y="899640"/>
            <a:ext cx="1439892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6840" bIns="0" anchor="t">
            <a:spAutoFit/>
          </a:bodyPr>
          <a:p>
            <a:pPr>
              <a:lnSpc>
                <a:spcPct val="100000"/>
              </a:lnSpc>
              <a:spcBef>
                <a:spcPts val="136"/>
              </a:spcBef>
            </a:pPr>
            <a:r>
              <a:rPr lang="it-IT" sz="3850" b="1" u="none" spc="51" strike="noStrike">
                <a:solidFill>
                  <a:srgbClr val="1a63a2"/>
                </a:solidFill>
                <a:effectLst/>
                <a:uFillTx/>
                <a:latin typeface="Arial MT"/>
              </a:rPr>
              <a:t>Risultati</a:t>
            </a:r>
            <a:endParaRPr lang="en-US" sz="3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object 4"/>
          <p:cNvSpPr/>
          <p:nvPr/>
        </p:nvSpPr>
        <p:spPr>
          <a:xfrm flipH="1">
            <a:off x="888840" y="1035000"/>
            <a:ext cx="151920" cy="4647240"/>
          </a:xfrm>
          <a:custGeom>
            <a:avLst/>
            <a:gdLst>
              <a:gd name="textAreaLeft" fmla="*/ 360 w 151920"/>
              <a:gd name="textAreaRight" fmla="*/ 152640 w 151920"/>
              <a:gd name="textAreaTop" fmla="*/ 0 h 4647240"/>
              <a:gd name="textAreaBottom" fmla="*/ 4647600 h 464724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object 30"/>
          <p:cNvSpPr/>
          <p:nvPr/>
        </p:nvSpPr>
        <p:spPr>
          <a:xfrm>
            <a:off x="1270080" y="1773720"/>
            <a:ext cx="15163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24120" indent="-12240" algn="just">
              <a:lnSpc>
                <a:spcPts val="2999"/>
              </a:lnSpc>
              <a:spcBef>
                <a:spcPts val="615"/>
              </a:spcBef>
              <a:tabLst>
                <a:tab algn="l" pos="0"/>
              </a:tabLst>
            </a:pPr>
            <a:r>
              <a:rPr lang="it-IT" sz="2800" b="0" u="none" strike="noStrike">
                <a:solidFill>
                  <a:srgbClr val="0f0f0f"/>
                </a:solidFill>
                <a:effectLst/>
                <a:uFillTx/>
                <a:latin typeface="Calibri"/>
              </a:rPr>
              <a:t>In questo scenario si ottengono i seguenti risultati: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5" name="Gruppo 5"/>
          <p:cNvGrpSpPr/>
          <p:nvPr/>
        </p:nvGrpSpPr>
        <p:grpSpPr>
          <a:xfrm>
            <a:off x="10299600" y="1737720"/>
            <a:ext cx="2447640" cy="1767240"/>
            <a:chOff x="10299600" y="1737720"/>
            <a:chExt cx="2447640" cy="1767240"/>
          </a:xfrm>
        </p:grpSpPr>
        <p:sp>
          <p:nvSpPr>
            <p:cNvPr id="196" name="Rettangolo con angoli arrotondati 6"/>
            <p:cNvSpPr/>
            <p:nvPr/>
          </p:nvSpPr>
          <p:spPr>
            <a:xfrm>
              <a:off x="10333080" y="1737720"/>
              <a:ext cx="2414160" cy="1767240"/>
            </a:xfrm>
            <a:prstGeom prst="roundRect">
              <a:avLst>
                <a:gd name="adj" fmla="val 16667"/>
              </a:avLst>
            </a:prstGeom>
            <a:noFill/>
            <a:ln w="76320">
              <a:solidFill>
                <a:srgbClr val="00b05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97" name="CasellaDiTesto 7"/>
            <p:cNvSpPr/>
            <p:nvPr/>
          </p:nvSpPr>
          <p:spPr>
            <a:xfrm>
              <a:off x="10299600" y="1814040"/>
              <a:ext cx="2414160" cy="91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it-IT" sz="1800" b="1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Energia totale ricaricata A/R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CasellaDiTesto 8"/>
            <p:cNvSpPr/>
            <p:nvPr/>
          </p:nvSpPr>
          <p:spPr>
            <a:xfrm>
              <a:off x="10323360" y="2423520"/>
              <a:ext cx="2414160" cy="91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it-IT" sz="3600" b="1" u="none" strike="noStrike">
                  <a:solidFill>
                    <a:srgbClr val="00b050"/>
                  </a:solidFill>
                  <a:effectLst/>
                  <a:uFillTx/>
                  <a:latin typeface="Arial"/>
                </a:rPr>
                <a:t>39.7 kWh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it-IT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(13.2% della batteria)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9" name="Gruppo 9"/>
          <p:cNvGrpSpPr/>
          <p:nvPr/>
        </p:nvGrpSpPr>
        <p:grpSpPr>
          <a:xfrm>
            <a:off x="10299600" y="4100040"/>
            <a:ext cx="2447640" cy="1767240"/>
            <a:chOff x="10299600" y="4100040"/>
            <a:chExt cx="2447640" cy="1767240"/>
          </a:xfrm>
        </p:grpSpPr>
        <p:sp>
          <p:nvSpPr>
            <p:cNvPr id="200" name="Rettangolo con angoli arrotondati 10"/>
            <p:cNvSpPr/>
            <p:nvPr/>
          </p:nvSpPr>
          <p:spPr>
            <a:xfrm>
              <a:off x="10333080" y="4100040"/>
              <a:ext cx="2414160" cy="1767240"/>
            </a:xfrm>
            <a:prstGeom prst="roundRect">
              <a:avLst>
                <a:gd name="adj" fmla="val 16667"/>
              </a:avLst>
            </a:prstGeom>
            <a:noFill/>
            <a:ln w="76320">
              <a:solidFill>
                <a:schemeClr val="accent6">
                  <a:lumMod val="75000"/>
                </a:schemeClr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01" name="CasellaDiTesto 12"/>
            <p:cNvSpPr/>
            <p:nvPr/>
          </p:nvSpPr>
          <p:spPr>
            <a:xfrm>
              <a:off x="10299600" y="4176000"/>
              <a:ext cx="2414160" cy="91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it-IT" sz="1800" b="1" u="none" strike="noStrike">
                  <a:solidFill>
                    <a:schemeClr val="accent6">
                      <a:lumMod val="75000"/>
                    </a:schemeClr>
                  </a:solidFill>
                  <a:effectLst/>
                  <a:uFillTx/>
                  <a:latin typeface="Arial"/>
                </a:rPr>
                <a:t>Energia totale consumata A/R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CasellaDiTesto 13"/>
            <p:cNvSpPr/>
            <p:nvPr/>
          </p:nvSpPr>
          <p:spPr>
            <a:xfrm>
              <a:off x="10323360" y="4785840"/>
              <a:ext cx="2414160" cy="91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it-IT" sz="3600" b="1" u="none" strike="noStrike">
                  <a:solidFill>
                    <a:schemeClr val="accent6">
                      <a:lumMod val="75000"/>
                    </a:schemeClr>
                  </a:solidFill>
                  <a:effectLst/>
                  <a:uFillTx/>
                  <a:latin typeface="Arial"/>
                </a:rPr>
                <a:t>~38 kWh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it-IT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(12.6% della batteria)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3" name="Cerchio vuoto 3"/>
          <p:cNvSpPr/>
          <p:nvPr/>
        </p:nvSpPr>
        <p:spPr>
          <a:xfrm>
            <a:off x="13315320" y="1933560"/>
            <a:ext cx="3651480" cy="3695040"/>
          </a:xfrm>
          <a:prstGeom prst="donut">
            <a:avLst>
              <a:gd name="adj" fmla="val 10209"/>
            </a:avLst>
          </a:prstGeom>
          <a:solidFill>
            <a:srgbClr val="00b050"/>
          </a:solidFill>
          <a:ln w="25560">
            <a:solidFill>
              <a:schemeClr val="accent6">
                <a:lumMod val="75000"/>
              </a:scheme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it-IT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CasellaDiTesto 14"/>
          <p:cNvSpPr/>
          <p:nvPr/>
        </p:nvSpPr>
        <p:spPr>
          <a:xfrm>
            <a:off x="13732560" y="2811960"/>
            <a:ext cx="2815200" cy="76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it-IT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Energia</a:t>
            </a:r>
            <a:r>
              <a:rPr lang="it-IT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it-IT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ricaricata </a:t>
            </a:r>
            <a:r>
              <a:rPr lang="it-IT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/ </a:t>
            </a:r>
            <a:r>
              <a:rPr lang="it-IT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consumata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CasellaDiTesto 15"/>
          <p:cNvSpPr/>
          <p:nvPr/>
        </p:nvSpPr>
        <p:spPr>
          <a:xfrm>
            <a:off x="13804920" y="3642840"/>
            <a:ext cx="281520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it-IT" sz="6000" b="1" u="none" strike="noStrike">
                <a:solidFill>
                  <a:srgbClr val="00b050"/>
                </a:solidFill>
                <a:effectLst/>
                <a:uFillTx/>
                <a:latin typeface="Arial"/>
              </a:rPr>
              <a:t>~105%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CasellaDiTesto 2"/>
          <p:cNvSpPr/>
          <p:nvPr/>
        </p:nvSpPr>
        <p:spPr>
          <a:xfrm>
            <a:off x="2336400" y="7041240"/>
            <a:ext cx="13030560" cy="12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4120" indent="-12240" algn="just" defTabSz="914400">
              <a:lnSpc>
                <a:spcPts val="2999"/>
              </a:lnSpc>
              <a:spcBef>
                <a:spcPts val="615"/>
              </a:spcBef>
              <a:tabLst>
                <a:tab algn="l" pos="0"/>
              </a:tabLst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 risultati ottenuti indicano dunque che l’energia recuperata con le 3 basi di ricarica WPT copre oltre il 100% del consumo energetico della tratta complessiva di andata e ritorno. Ciò conferma la fattibilità del sistema permettendo di mantenere il SoC costante.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" name="Elemento grafico 17" descr="Freccia, curva antioraria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 rot="10800000">
            <a:off x="1169280" y="609624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object 4"/>
          <p:cNvSpPr/>
          <p:nvPr/>
        </p:nvSpPr>
        <p:spPr>
          <a:xfrm flipH="1">
            <a:off x="2106720" y="7041240"/>
            <a:ext cx="127080" cy="1245960"/>
          </a:xfrm>
          <a:custGeom>
            <a:avLst/>
            <a:gdLst>
              <a:gd name="textAreaLeft" fmla="*/ -360 w 127080"/>
              <a:gd name="textAreaRight" fmla="*/ 127080 w 127080"/>
              <a:gd name="textAreaTop" fmla="*/ 0 h 1245960"/>
              <a:gd name="textAreaBottom" fmla="*/ 1246320 h 124596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Immagine 16"/>
          <p:cNvPicPr/>
          <p:nvPr/>
        </p:nvPicPr>
        <p:blipFill>
          <a:blip r:embed="rId3"/>
          <a:stretch/>
        </p:blipFill>
        <p:spPr>
          <a:xfrm>
            <a:off x="1270080" y="2514600"/>
            <a:ext cx="8587800" cy="3277800"/>
          </a:xfrm>
          <a:prstGeom prst="rect">
            <a:avLst/>
          </a:prstGeom>
          <a:noFill/>
          <a:ln w="0">
            <a:noFill/>
          </a:ln>
          <a:effectLst>
            <a:softEdge rad="101520"/>
          </a:effectLst>
        </p:spPr>
      </p:pic>
      <p:sp>
        <p:nvSpPr>
          <p:cNvPr id="210" name="object 4"/>
          <p:cNvSpPr/>
          <p:nvPr/>
        </p:nvSpPr>
        <p:spPr>
          <a:xfrm>
            <a:off x="8469720" y="8854200"/>
            <a:ext cx="75960" cy="1931760"/>
          </a:xfrm>
          <a:custGeom>
            <a:avLst/>
            <a:gdLst>
              <a:gd name="textAreaLeft" fmla="*/ 0 w 75960"/>
              <a:gd name="textAreaRight" fmla="*/ 76320 w 75960"/>
              <a:gd name="textAreaTop" fmla="*/ 0 h 1931760"/>
              <a:gd name="textAreaBottom" fmla="*/ 1932120 h 193176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object 10"/>
          <p:cNvSpPr/>
          <p:nvPr/>
        </p:nvSpPr>
        <p:spPr>
          <a:xfrm>
            <a:off x="1270080" y="1306440"/>
            <a:ext cx="1439892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6840" bIns="0" anchor="t">
            <a:spAutoFit/>
          </a:bodyPr>
          <a:p>
            <a:pPr algn="ctr">
              <a:lnSpc>
                <a:spcPct val="100000"/>
              </a:lnSpc>
              <a:spcBef>
                <a:spcPts val="136"/>
              </a:spcBef>
            </a:pPr>
            <a:r>
              <a:rPr lang="it-IT" sz="3850" b="1" u="none" spc="51" strike="noStrike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Arial MT"/>
              </a:rPr>
              <a:t>VANTAGGI</a:t>
            </a:r>
            <a:endParaRPr lang="en-US" sz="3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object 4"/>
          <p:cNvSpPr/>
          <p:nvPr/>
        </p:nvSpPr>
        <p:spPr>
          <a:xfrm>
            <a:off x="8469720" y="-163800"/>
            <a:ext cx="45360" cy="1366920"/>
          </a:xfrm>
          <a:custGeom>
            <a:avLst/>
            <a:gdLst>
              <a:gd name="textAreaLeft" fmla="*/ 0 w 45360"/>
              <a:gd name="textAreaRight" fmla="*/ 45720 w 45360"/>
              <a:gd name="textAreaTop" fmla="*/ 0 h 1366920"/>
              <a:gd name="textAreaBottom" fmla="*/ 1367280 h 136692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3" name="Immagine 1"/>
          <p:cNvPicPr/>
          <p:nvPr/>
        </p:nvPicPr>
        <p:blipFill>
          <a:blip r:embed="rId1"/>
          <a:stretch/>
        </p:blipFill>
        <p:spPr>
          <a:xfrm>
            <a:off x="2089080" y="2819520"/>
            <a:ext cx="2587320" cy="199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Immagine 2"/>
          <p:cNvPicPr/>
          <p:nvPr/>
        </p:nvPicPr>
        <p:blipFill>
          <a:blip r:embed="rId2"/>
          <a:stretch/>
        </p:blipFill>
        <p:spPr>
          <a:xfrm>
            <a:off x="7804080" y="2832480"/>
            <a:ext cx="1866960" cy="206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Immagine 3"/>
          <p:cNvPicPr/>
          <p:nvPr/>
        </p:nvPicPr>
        <p:blipFill>
          <a:blip r:embed="rId3"/>
          <a:stretch/>
        </p:blipFill>
        <p:spPr>
          <a:xfrm>
            <a:off x="13007160" y="2950200"/>
            <a:ext cx="2359440" cy="192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CasellaDiTesto 47"/>
          <p:cNvSpPr/>
          <p:nvPr/>
        </p:nvSpPr>
        <p:spPr>
          <a:xfrm>
            <a:off x="1298160" y="5029200"/>
            <a:ext cx="41695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it-IT" sz="2800" b="1" u="none" strike="noStrike">
                <a:solidFill>
                  <a:srgbClr val="074773"/>
                </a:solidFill>
                <a:effectLst/>
                <a:uFillTx/>
                <a:latin typeface="Arial"/>
              </a:rPr>
              <a:t>Efficienza operativa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CasellaDiTesto 48"/>
          <p:cNvSpPr/>
          <p:nvPr/>
        </p:nvSpPr>
        <p:spPr>
          <a:xfrm>
            <a:off x="6774840" y="5047920"/>
            <a:ext cx="39250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it-IT" sz="2800" b="1" u="none" strike="noStrike">
                <a:solidFill>
                  <a:srgbClr val="074773"/>
                </a:solidFill>
                <a:effectLst/>
                <a:uFillTx/>
                <a:latin typeface="Arial"/>
              </a:rPr>
              <a:t>Downsizing batteria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CasellaDiTesto 49"/>
          <p:cNvSpPr/>
          <p:nvPr/>
        </p:nvSpPr>
        <p:spPr>
          <a:xfrm>
            <a:off x="12272040" y="5047920"/>
            <a:ext cx="392508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it-IT" sz="2800" b="1" u="none" strike="noStrike">
                <a:solidFill>
                  <a:srgbClr val="074773"/>
                </a:solidFill>
                <a:effectLst/>
                <a:uFillTx/>
                <a:latin typeface="Arial"/>
              </a:rPr>
              <a:t>Integrazione urbana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object 4"/>
          <p:cNvSpPr/>
          <p:nvPr/>
        </p:nvSpPr>
        <p:spPr>
          <a:xfrm>
            <a:off x="8463240" y="9067680"/>
            <a:ext cx="45360" cy="1366920"/>
          </a:xfrm>
          <a:custGeom>
            <a:avLst/>
            <a:gdLst>
              <a:gd name="textAreaLeft" fmla="*/ 0 w 45360"/>
              <a:gd name="textAreaRight" fmla="*/ 45720 w 45360"/>
              <a:gd name="textAreaTop" fmla="*/ 0 h 1366920"/>
              <a:gd name="textAreaBottom" fmla="*/ 1367280 h 136692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ettangolo con angoli arrotondati 8"/>
          <p:cNvSpPr/>
          <p:nvPr/>
        </p:nvSpPr>
        <p:spPr>
          <a:xfrm>
            <a:off x="6869520" y="1203120"/>
            <a:ext cx="3154320" cy="953640"/>
          </a:xfrm>
          <a:prstGeom prst="roundRect">
            <a:avLst>
              <a:gd name="adj" fmla="val 16667"/>
            </a:avLst>
          </a:prstGeom>
          <a:noFill/>
          <a:ln w="381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object 6"/>
          <p:cNvSpPr/>
          <p:nvPr/>
        </p:nvSpPr>
        <p:spPr>
          <a:xfrm>
            <a:off x="1005120" y="5638680"/>
            <a:ext cx="4718520" cy="349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2080" bIns="0" anchor="t">
            <a:spAutoFit/>
          </a:bodyPr>
          <a:p>
            <a:pPr marL="457200" indent="-45720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Operatività continua, annullando potenzialmente la necessità di rientrare in deposito durante tutta la giornata di servizio.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Avvio della ricarica più veloce rispetto ai pantografi, talvolta macchinosi nella fase di aggancio.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object 7"/>
          <p:cNvSpPr/>
          <p:nvPr/>
        </p:nvSpPr>
        <p:spPr>
          <a:xfrm>
            <a:off x="6533280" y="5638680"/>
            <a:ext cx="4718520" cy="30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2080" bIns="0" anchor="t">
            <a:spAutoFit/>
          </a:bodyPr>
          <a:p>
            <a:pPr algn="just">
              <a:lnSpc>
                <a:spcPct val="100000"/>
              </a:lnSpc>
            </a:pP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Potenziale downsizing del pacco batterie a bordo, con conseguente riduzione di: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prezzo del veicolo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peso del veicolo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consumo energetico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costi di sostituzione futuri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object 8"/>
          <p:cNvSpPr/>
          <p:nvPr/>
        </p:nvSpPr>
        <p:spPr>
          <a:xfrm>
            <a:off x="11913120" y="5638680"/>
            <a:ext cx="4718520" cy="349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2080" bIns="0" anchor="t">
            <a:spAutoFit/>
          </a:bodyPr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Impatto visivo quasi o totalmente annullato.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Codice parametrizzato e applicabile a qualsiasi altra linea o bus.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45720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Primo passo verso l’automazione di questa tipologia di mezzi di trasporto pubblico.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object 10"/>
          <p:cNvSpPr/>
          <p:nvPr/>
        </p:nvSpPr>
        <p:spPr>
          <a:xfrm>
            <a:off x="1270080" y="1341360"/>
            <a:ext cx="14398920" cy="68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6840" bIns="0" anchor="t">
            <a:spAutoFit/>
          </a:bodyPr>
          <a:p>
            <a:pPr algn="ctr">
              <a:lnSpc>
                <a:spcPct val="100000"/>
              </a:lnSpc>
              <a:spcBef>
                <a:spcPts val="136"/>
              </a:spcBef>
            </a:pPr>
            <a:r>
              <a:rPr lang="it-IT" sz="3850" b="1" u="none" spc="51" strike="noStrike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Arial MT"/>
              </a:rPr>
              <a:t>Considerazioni per l’implementazione </a:t>
            </a:r>
            <a:endParaRPr lang="en-US" sz="3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object 4"/>
          <p:cNvSpPr/>
          <p:nvPr/>
        </p:nvSpPr>
        <p:spPr>
          <a:xfrm>
            <a:off x="8469720" y="-163800"/>
            <a:ext cx="45360" cy="1366920"/>
          </a:xfrm>
          <a:custGeom>
            <a:avLst/>
            <a:gdLst>
              <a:gd name="textAreaLeft" fmla="*/ 0 w 45360"/>
              <a:gd name="textAreaRight" fmla="*/ 45720 w 45360"/>
              <a:gd name="textAreaTop" fmla="*/ 0 h 1366920"/>
              <a:gd name="textAreaBottom" fmla="*/ 1367280 h 1366920"/>
            </a:gdLst>
            <a:ahLst/>
            <a:cxnLst/>
            <a:rect l="textAreaLeft" t="textAreaTop" r="textAreaRight" b="textAreaBottom"/>
            <a:pathLst>
              <a:path w="0" h="9753600">
                <a:moveTo>
                  <a:pt x="0" y="9753600"/>
                </a:moveTo>
                <a:lnTo>
                  <a:pt x="0" y="0"/>
                </a:lnTo>
              </a:path>
            </a:pathLst>
          </a:custGeom>
          <a:noFill/>
          <a:ln w="50760">
            <a:solidFill>
              <a:srgbClr val="1a63a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Immagine 5"/>
          <p:cNvPicPr/>
          <p:nvPr/>
        </p:nvPicPr>
        <p:blipFill>
          <a:blip r:embed="rId1"/>
          <a:stretch/>
        </p:blipFill>
        <p:spPr>
          <a:xfrm>
            <a:off x="1574640" y="3064680"/>
            <a:ext cx="3609720" cy="239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Immagine 8"/>
          <p:cNvPicPr/>
          <p:nvPr/>
        </p:nvPicPr>
        <p:blipFill>
          <a:blip r:embed="rId2"/>
          <a:stretch/>
        </p:blipFill>
        <p:spPr>
          <a:xfrm>
            <a:off x="6421320" y="3259800"/>
            <a:ext cx="4255560" cy="239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Immagine 9"/>
          <p:cNvPicPr/>
          <p:nvPr/>
        </p:nvPicPr>
        <p:blipFill>
          <a:blip r:embed="rId3"/>
          <a:stretch/>
        </p:blipFill>
        <p:spPr>
          <a:xfrm>
            <a:off x="11853000" y="3261240"/>
            <a:ext cx="3970800" cy="214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object 6"/>
          <p:cNvSpPr/>
          <p:nvPr/>
        </p:nvSpPr>
        <p:spPr>
          <a:xfrm>
            <a:off x="1104480" y="5650920"/>
            <a:ext cx="4556520" cy="31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2080" bIns="0" anchor="t">
            <a:spAutoFit/>
          </a:bodyPr>
          <a:p>
            <a:pPr algn="ctr">
              <a:lnSpc>
                <a:spcPct val="100000"/>
              </a:lnSpc>
              <a:spcBef>
                <a:spcPts val="646"/>
              </a:spcBef>
            </a:pPr>
            <a:r>
              <a:rPr lang="en-US" sz="3050" b="1" u="none" spc="-40" strike="noStrike">
                <a:solidFill>
                  <a:srgbClr val="083a5b"/>
                </a:solidFill>
                <a:effectLst/>
                <a:uFillTx/>
                <a:latin typeface="Calibri"/>
              </a:rPr>
              <a:t>Allineamento</a:t>
            </a:r>
            <a:r>
              <a:rPr lang="en-US" sz="3050" b="1" u="none" spc="156" strike="noStrike">
                <a:solidFill>
                  <a:srgbClr val="083a5b"/>
                </a:solidFill>
                <a:effectLst/>
                <a:uFillTx/>
                <a:latin typeface="Calibri"/>
              </a:rPr>
              <a:t> </a:t>
            </a:r>
            <a:r>
              <a:rPr lang="en-US" sz="3050" b="1" u="none" strike="noStrike">
                <a:solidFill>
                  <a:srgbClr val="0c3d5b"/>
                </a:solidFill>
                <a:effectLst/>
                <a:uFillTx/>
                <a:latin typeface="Calibri"/>
              </a:rPr>
              <a:t>di</a:t>
            </a:r>
            <a:r>
              <a:rPr lang="en-US" sz="3050" b="1" u="none" spc="-113" strike="noStrike">
                <a:solidFill>
                  <a:srgbClr val="0c3d5b"/>
                </a:solidFill>
                <a:effectLst/>
                <a:uFillTx/>
                <a:latin typeface="Calibri"/>
              </a:rPr>
              <a:t> </a:t>
            </a:r>
            <a:r>
              <a:rPr lang="en-US" sz="3050" b="1" u="none" spc="-11" strike="noStrike">
                <a:solidFill>
                  <a:srgbClr val="0a4264"/>
                </a:solidFill>
                <a:effectLst/>
                <a:uFillTx/>
                <a:latin typeface="Calibri"/>
              </a:rPr>
              <a:t>Precisione</a:t>
            </a:r>
            <a:endParaRPr lang="en-US" sz="3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-81360" algn="ctr">
              <a:lnSpc>
                <a:spcPct val="82000"/>
              </a:lnSpc>
              <a:spcBef>
                <a:spcPts val="1054"/>
              </a:spcBef>
              <a:tabLst>
                <a:tab algn="l" pos="0"/>
              </a:tabLst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È</a:t>
            </a:r>
            <a:r>
              <a:rPr lang="en-US" sz="2800" b="0" u="none" spc="-23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145" strike="noStrike">
                <a:solidFill>
                  <a:srgbClr val="000000"/>
                </a:solidFill>
                <a:effectLst/>
                <a:uFillTx/>
                <a:latin typeface="Calibri"/>
              </a:rPr>
              <a:t>necessario</a:t>
            </a:r>
            <a:r>
              <a:rPr lang="en-US" sz="2800" b="0" u="none" spc="6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181" strike="noStrike">
                <a:solidFill>
                  <a:srgbClr val="000000"/>
                </a:solidFill>
                <a:effectLst/>
                <a:uFillTx/>
                <a:latin typeface="Calibri"/>
              </a:rPr>
              <a:t>un</a:t>
            </a:r>
            <a:r>
              <a:rPr lang="en-US" sz="2800" b="0" u="none" spc="-10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50" strike="noStrike">
                <a:solidFill>
                  <a:srgbClr val="000000"/>
                </a:solidFill>
                <a:effectLst/>
                <a:uFillTx/>
                <a:latin typeface="Calibri"/>
              </a:rPr>
              <a:t>software</a:t>
            </a:r>
            <a:r>
              <a:rPr lang="it-IT" sz="2800" b="0" u="none" spc="-156" strike="noStrike">
                <a:solidFill>
                  <a:srgbClr val="000000"/>
                </a:solidFill>
                <a:effectLst/>
                <a:uFillTx/>
                <a:latin typeface="Calibri"/>
              </a:rPr>
              <a:t> di assistenza </a:t>
            </a:r>
            <a:r>
              <a:rPr lang="it-IT" sz="2800" b="0" u="none" spc="-111" strike="noStrike">
                <a:solidFill>
                  <a:srgbClr val="000000"/>
                </a:solidFill>
                <a:effectLst/>
                <a:uFillTx/>
                <a:latin typeface="Calibri"/>
              </a:rPr>
              <a:t>autonomo </a:t>
            </a:r>
            <a:r>
              <a:rPr lang="it-IT" sz="28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che permetta a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</a:t>
            </a:r>
            <a:r>
              <a:rPr lang="it-IT" sz="2800" b="0" u="none" spc="-20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81" strike="noStrike">
                <a:solidFill>
                  <a:srgbClr val="000000"/>
                </a:solidFill>
                <a:effectLst/>
                <a:uFillTx/>
                <a:latin typeface="Calibri"/>
              </a:rPr>
              <a:t>conducente</a:t>
            </a:r>
            <a:r>
              <a:rPr lang="it-IT" sz="2800" b="0" u="none" spc="3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59" strike="noStrike">
                <a:solidFill>
                  <a:srgbClr val="000000"/>
                </a:solidFill>
                <a:effectLst/>
                <a:uFillTx/>
                <a:latin typeface="Calibri"/>
              </a:rPr>
              <a:t>di</a:t>
            </a:r>
            <a:r>
              <a:rPr lang="it-IT" sz="2800" b="0" u="none" spc="-17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39" strike="noStrike">
                <a:solidFill>
                  <a:srgbClr val="000000"/>
                </a:solidFill>
                <a:effectLst/>
                <a:uFillTx/>
                <a:latin typeface="Calibri"/>
              </a:rPr>
              <a:t>assicurare</a:t>
            </a:r>
            <a:r>
              <a:rPr lang="it-IT" sz="2800" b="0" u="none" spc="7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un </a:t>
            </a:r>
            <a:r>
              <a:rPr lang="it-IT" sz="2800" b="0" u="none" spc="-170" strike="noStrike">
                <a:solidFill>
                  <a:srgbClr val="000000"/>
                </a:solidFill>
                <a:effectLst/>
                <a:uFillTx/>
                <a:latin typeface="Calibri"/>
              </a:rPr>
              <a:t>allineamento</a:t>
            </a:r>
            <a:r>
              <a:rPr lang="it-IT" sz="2800" b="0" u="none" spc="13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56" strike="noStrike">
                <a:solidFill>
                  <a:srgbClr val="000000"/>
                </a:solidFill>
                <a:effectLst/>
                <a:uFillTx/>
                <a:latin typeface="Calibri"/>
              </a:rPr>
              <a:t>ottimale</a:t>
            </a:r>
            <a:r>
              <a:rPr lang="it-IT" sz="2800" b="0" u="none" spc="-7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70" strike="noStrike">
                <a:solidFill>
                  <a:srgbClr val="000000"/>
                </a:solidFill>
                <a:effectLst/>
                <a:uFillTx/>
                <a:latin typeface="Calibri"/>
              </a:rPr>
              <a:t>con</a:t>
            </a:r>
            <a:r>
              <a:rPr lang="it-IT" sz="2800" b="0" u="none" spc="-79" strike="noStrike">
                <a:solidFill>
                  <a:srgbClr val="000000"/>
                </a:solidFill>
                <a:effectLst/>
                <a:uFillTx/>
                <a:latin typeface="Calibri"/>
              </a:rPr>
              <a:t> il</a:t>
            </a:r>
            <a:r>
              <a:rPr lang="it-IT" sz="2800" b="0" u="none" spc="-15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204" strike="noStrike">
                <a:solidFill>
                  <a:srgbClr val="000000"/>
                </a:solidFill>
                <a:effectLst/>
                <a:uFillTx/>
                <a:latin typeface="Calibri"/>
              </a:rPr>
              <a:t>pad</a:t>
            </a:r>
            <a:r>
              <a:rPr lang="it-IT" sz="2800" b="0" u="none" spc="-9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di </a:t>
            </a:r>
            <a:r>
              <a:rPr lang="it-IT" sz="2800" b="0" u="none" spc="-125" strike="noStrike">
                <a:solidFill>
                  <a:srgbClr val="000000"/>
                </a:solidFill>
                <a:effectLst/>
                <a:uFillTx/>
                <a:latin typeface="Calibri"/>
              </a:rPr>
              <a:t>ricarica,</a:t>
            </a:r>
            <a:r>
              <a:rPr lang="it-IT" sz="2800" b="0" u="none" spc="-4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56" strike="noStrike">
                <a:solidFill>
                  <a:srgbClr val="000000"/>
                </a:solidFill>
                <a:effectLst/>
                <a:uFillTx/>
                <a:latin typeface="Calibri"/>
              </a:rPr>
              <a:t>massimizzando</a:t>
            </a:r>
            <a:r>
              <a:rPr lang="it-IT" sz="2800" b="0" u="none" spc="12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19" strike="noStrike">
                <a:solidFill>
                  <a:srgbClr val="000000"/>
                </a:solidFill>
                <a:effectLst/>
                <a:uFillTx/>
                <a:latin typeface="Calibri"/>
              </a:rPr>
              <a:t>l'efficienza</a:t>
            </a:r>
            <a:r>
              <a:rPr lang="it-IT" sz="2800" b="0" u="none" spc="-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e </a:t>
            </a:r>
            <a:r>
              <a:rPr lang="it-IT" sz="2800" b="0" u="none" spc="-105" strike="noStrike">
                <a:solidFill>
                  <a:srgbClr val="000000"/>
                </a:solidFill>
                <a:effectLst/>
                <a:uFillTx/>
                <a:latin typeface="Calibri"/>
              </a:rPr>
              <a:t>la</a:t>
            </a:r>
            <a:r>
              <a:rPr lang="it-IT" sz="2800" b="0" u="none" spc="-15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velocità</a:t>
            </a:r>
            <a:r>
              <a:rPr lang="it-IT" sz="2800" b="0" u="none" spc="-1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del</a:t>
            </a:r>
            <a:r>
              <a:rPr lang="it-IT" sz="2800" b="0" u="none" spc="-17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40" strike="noStrike">
                <a:solidFill>
                  <a:srgbClr val="000000"/>
                </a:solidFill>
                <a:effectLst/>
                <a:uFillTx/>
                <a:latin typeface="Calibri"/>
              </a:rPr>
              <a:t>processo.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object 7"/>
          <p:cNvSpPr/>
          <p:nvPr/>
        </p:nvSpPr>
        <p:spPr>
          <a:xfrm>
            <a:off x="6323400" y="5650920"/>
            <a:ext cx="4804200" cy="336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2080" bIns="0" anchor="t">
            <a:spAutoFit/>
          </a:bodyPr>
          <a:p>
            <a:pPr algn="ctr">
              <a:lnSpc>
                <a:spcPct val="100000"/>
              </a:lnSpc>
              <a:spcBef>
                <a:spcPts val="646"/>
              </a:spcBef>
              <a:tabLst>
                <a:tab algn="l" pos="2044080"/>
              </a:tabLst>
            </a:pPr>
            <a:r>
              <a:rPr lang="en-US" sz="3050" b="1" u="none" spc="-11" strike="noStrike">
                <a:solidFill>
                  <a:srgbClr val="183d57"/>
                </a:solidFill>
                <a:effectLst/>
                <a:uFillTx/>
                <a:latin typeface="Calibri"/>
              </a:rPr>
              <a:t>Installazione</a:t>
            </a:r>
            <a:r>
              <a:rPr lang="en-US" sz="3050" b="1" u="none" strike="noStrike">
                <a:solidFill>
                  <a:srgbClr val="183d57"/>
                </a:solidFill>
                <a:effectLst/>
                <a:uFillTx/>
                <a:latin typeface="Calibri"/>
              </a:rPr>
              <a:t>	</a:t>
            </a:r>
            <a:r>
              <a:rPr lang="en-US" sz="3050" b="1" u="none" spc="-60" strike="noStrike">
                <a:solidFill>
                  <a:srgbClr val="0c3850"/>
                </a:solidFill>
                <a:effectLst/>
                <a:uFillTx/>
                <a:latin typeface="Calibri"/>
              </a:rPr>
              <a:t>dell'infrastruttura</a:t>
            </a:r>
            <a:endParaRPr lang="en-US" sz="3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 indent="6480" algn="ctr">
              <a:lnSpc>
                <a:spcPts val="2701"/>
              </a:lnSpc>
              <a:spcBef>
                <a:spcPts val="1029"/>
              </a:spcBef>
              <a:tabLst>
                <a:tab algn="l" pos="0"/>
              </a:tabLst>
            </a:pPr>
            <a:r>
              <a:rPr lang="en-US" sz="2800" b="0" u="none" spc="-150" strike="noStrike">
                <a:solidFill>
                  <a:srgbClr val="000000"/>
                </a:solidFill>
                <a:effectLst/>
                <a:uFillTx/>
                <a:latin typeface="Calibri"/>
              </a:rPr>
              <a:t>Valutazione</a:t>
            </a:r>
            <a:r>
              <a:rPr lang="en-US" sz="2800" b="0" u="none" spc="3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111" strike="noStrike">
                <a:solidFill>
                  <a:srgbClr val="000000"/>
                </a:solidFill>
                <a:effectLst/>
                <a:uFillTx/>
                <a:latin typeface="Calibri"/>
              </a:rPr>
              <a:t>di</a:t>
            </a:r>
            <a:r>
              <a:rPr lang="en-US" sz="2800" b="0" u="none" spc="-12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190" strike="noStrike">
                <a:solidFill>
                  <a:srgbClr val="000000"/>
                </a:solidFill>
                <a:effectLst/>
                <a:uFillTx/>
                <a:latin typeface="Calibri"/>
              </a:rPr>
              <a:t>due</a:t>
            </a:r>
            <a:r>
              <a:rPr lang="en-US" sz="2800" b="0" u="none" spc="-12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150" strike="noStrike">
                <a:solidFill>
                  <a:srgbClr val="000000"/>
                </a:solidFill>
                <a:effectLst/>
                <a:uFillTx/>
                <a:latin typeface="Calibri"/>
              </a:rPr>
              <a:t>opzioni:</a:t>
            </a:r>
            <a:r>
              <a:rPr lang="en-US" sz="2800" b="0" u="none" spc="4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pad </a:t>
            </a:r>
            <a:r>
              <a:rPr lang="en-US" sz="2800" b="0" u="none" spc="-105" strike="noStrike">
                <a:solidFill>
                  <a:srgbClr val="000000"/>
                </a:solidFill>
                <a:effectLst/>
                <a:uFillTx/>
                <a:latin typeface="Calibri"/>
              </a:rPr>
              <a:t>installati</a:t>
            </a:r>
            <a:r>
              <a:rPr lang="en-US" sz="2800" b="0" u="none" spc="3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164" strike="noStrike">
                <a:solidFill>
                  <a:srgbClr val="000000"/>
                </a:solidFill>
                <a:effectLst/>
                <a:uFillTx/>
                <a:latin typeface="Calibri"/>
              </a:rPr>
              <a:t>sopra</a:t>
            </a:r>
            <a:r>
              <a:rPr lang="en-US" sz="2800" b="0" u="none" spc="-4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l'asfalto</a:t>
            </a:r>
            <a:r>
              <a:rPr lang="en-US" sz="2800" b="0" u="none" spc="1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(costi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111" strike="noStrike">
                <a:solidFill>
                  <a:srgbClr val="000000"/>
                </a:solidFill>
                <a:effectLst/>
                <a:uFillTx/>
                <a:latin typeface="Calibri"/>
              </a:rPr>
              <a:t>inferiori, </a:t>
            </a:r>
            <a:r>
              <a:rPr lang="en-US" sz="2800" b="0" u="none" spc="-125" strike="noStrike">
                <a:solidFill>
                  <a:srgbClr val="000000"/>
                </a:solidFill>
                <a:effectLst/>
                <a:uFillTx/>
                <a:latin typeface="Calibri"/>
              </a:rPr>
              <a:t>distanza</a:t>
            </a:r>
            <a:r>
              <a:rPr lang="en-US" sz="2800" b="0" u="none" spc="-7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64" strike="noStrike">
                <a:solidFill>
                  <a:srgbClr val="000000"/>
                </a:solidFill>
                <a:effectLst/>
                <a:uFillTx/>
                <a:latin typeface="Calibri"/>
              </a:rPr>
              <a:t>minore)</a:t>
            </a:r>
            <a:r>
              <a:rPr lang="it-IT" sz="2800" b="0" u="none" spc="2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50" strike="noStrik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lang="it-IT" sz="2800" b="0" u="none" spc="-16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59" strike="noStrike">
                <a:solidFill>
                  <a:srgbClr val="000000"/>
                </a:solidFill>
                <a:effectLst/>
                <a:uFillTx/>
                <a:latin typeface="Calibri"/>
              </a:rPr>
              <a:t>sotto</a:t>
            </a:r>
            <a:r>
              <a:rPr lang="it-IT" sz="2800" b="0" u="none" spc="-7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l'asfalto </a:t>
            </a:r>
            <a:r>
              <a:rPr lang="it-IT" sz="2800" b="0" u="none" spc="-184" strike="noStrike">
                <a:solidFill>
                  <a:srgbClr val="000000"/>
                </a:solidFill>
                <a:effectLst/>
                <a:uFillTx/>
                <a:latin typeface="Calibri"/>
              </a:rPr>
              <a:t>(maggior</a:t>
            </a:r>
            <a:r>
              <a:rPr lang="it-IT" sz="2800" b="0" u="none" spc="5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39" strike="noStrike">
                <a:solidFill>
                  <a:srgbClr val="000000"/>
                </a:solidFill>
                <a:effectLst/>
                <a:uFillTx/>
                <a:latin typeface="Calibri"/>
              </a:rPr>
              <a:t>costo,</a:t>
            </a:r>
            <a:r>
              <a:rPr lang="it-IT" sz="2800" b="0" u="none" spc="-9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84" strike="noStrike">
                <a:solidFill>
                  <a:srgbClr val="000000"/>
                </a:solidFill>
                <a:effectLst/>
                <a:uFillTx/>
                <a:latin typeface="Calibri"/>
              </a:rPr>
              <a:t>massima</a:t>
            </a: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durabilità).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 algn="ctr">
              <a:lnSpc>
                <a:spcPts val="2330"/>
              </a:lnSpc>
              <a:tabLst>
                <a:tab algn="l" pos="0"/>
              </a:tabLst>
            </a:pPr>
            <a:r>
              <a:rPr lang="it-IT" sz="2800" b="0" u="none" spc="-125" strike="noStrike">
                <a:solidFill>
                  <a:srgbClr val="000000"/>
                </a:solidFill>
                <a:effectLst/>
                <a:uFillTx/>
                <a:latin typeface="Calibri"/>
              </a:rPr>
              <a:t>Player</a:t>
            </a: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11" strike="noStrike">
                <a:solidFill>
                  <a:srgbClr val="000000"/>
                </a:solidFill>
                <a:effectLst/>
                <a:uFillTx/>
                <a:latin typeface="Calibri"/>
              </a:rPr>
              <a:t>di</a:t>
            </a:r>
            <a:r>
              <a:rPr lang="it-IT" sz="2800" b="0" u="none" spc="-9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64" strike="noStrike">
                <a:solidFill>
                  <a:srgbClr val="000000"/>
                </a:solidFill>
                <a:effectLst/>
                <a:uFillTx/>
                <a:latin typeface="Calibri"/>
              </a:rPr>
              <a:t>riferimento</a:t>
            </a:r>
            <a:r>
              <a:rPr lang="it-IT" sz="2800" b="0" u="none" spc="9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210" strike="noStrike">
                <a:solidFill>
                  <a:srgbClr val="000000"/>
                </a:solidFill>
                <a:effectLst/>
                <a:uFillTx/>
                <a:latin typeface="Calibri"/>
              </a:rPr>
              <a:t>come</a:t>
            </a:r>
            <a:r>
              <a:rPr lang="it-IT" sz="2800" b="0" u="none" spc="-8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InductEV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 algn="ctr">
              <a:lnSpc>
                <a:spcPts val="2971"/>
              </a:lnSpc>
              <a:tabLst>
                <a:tab algn="l" pos="0"/>
              </a:tabLst>
            </a:pPr>
            <a:r>
              <a:rPr lang="it-IT" sz="2800" b="0" u="none" spc="-164" strike="noStrike">
                <a:solidFill>
                  <a:srgbClr val="000000"/>
                </a:solidFill>
                <a:effectLst/>
                <a:uFillTx/>
                <a:latin typeface="Calibri"/>
              </a:rPr>
              <a:t>offrono</a:t>
            </a:r>
            <a:r>
              <a:rPr lang="it-IT" sz="2800" b="0" u="none" spc="-1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30" strike="noStrike">
                <a:solidFill>
                  <a:srgbClr val="000000"/>
                </a:solidFill>
                <a:effectLst/>
                <a:uFillTx/>
                <a:latin typeface="Calibri"/>
              </a:rPr>
              <a:t>soluzioni</a:t>
            </a:r>
            <a:r>
              <a:rPr lang="it-IT" sz="2800" b="0" u="none" spc="60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71" strike="noStrike">
                <a:solidFill>
                  <a:srgbClr val="000000"/>
                </a:solidFill>
                <a:effectLst/>
                <a:uFillTx/>
                <a:latin typeface="Calibri"/>
              </a:rPr>
              <a:t>consolidate.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object 8"/>
          <p:cNvSpPr/>
          <p:nvPr/>
        </p:nvSpPr>
        <p:spPr>
          <a:xfrm>
            <a:off x="11913120" y="5650920"/>
            <a:ext cx="4249800" cy="348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2080" bIns="0" anchor="t">
            <a:spAutoFit/>
          </a:bodyPr>
          <a:p>
            <a:pPr marL="34920" algn="ctr">
              <a:lnSpc>
                <a:spcPct val="100000"/>
              </a:lnSpc>
              <a:spcBef>
                <a:spcPts val="646"/>
              </a:spcBef>
            </a:pPr>
            <a:r>
              <a:rPr lang="en-US" sz="3050" b="1" u="none" spc="-11" strike="noStrike">
                <a:solidFill>
                  <a:srgbClr val="113f59"/>
                </a:solidFill>
                <a:effectLst/>
                <a:uFillTx/>
                <a:latin typeface="Calibri"/>
              </a:rPr>
              <a:t>Ottimizzazione</a:t>
            </a:r>
            <a:r>
              <a:rPr lang="en-US" sz="3050" b="1" u="none" spc="-164" strike="noStrike">
                <a:solidFill>
                  <a:srgbClr val="113f59"/>
                </a:solidFill>
                <a:effectLst/>
                <a:uFillTx/>
                <a:latin typeface="Calibri"/>
              </a:rPr>
              <a:t> </a:t>
            </a:r>
            <a:r>
              <a:rPr lang="en-US" sz="3050" b="1" u="none" strike="noStrike">
                <a:solidFill>
                  <a:srgbClr val="113d59"/>
                </a:solidFill>
                <a:effectLst/>
                <a:uFillTx/>
                <a:latin typeface="Calibri"/>
              </a:rPr>
              <a:t>delle</a:t>
            </a:r>
            <a:r>
              <a:rPr lang="en-US" sz="3050" b="1" u="none" spc="-31" strike="noStrike">
                <a:solidFill>
                  <a:srgbClr val="113d59"/>
                </a:solidFill>
                <a:effectLst/>
                <a:uFillTx/>
                <a:latin typeface="Calibri"/>
              </a:rPr>
              <a:t> </a:t>
            </a:r>
            <a:r>
              <a:rPr lang="en-US" sz="3050" b="1" u="none" spc="-11" strike="noStrike">
                <a:solidFill>
                  <a:srgbClr val="0f3854"/>
                </a:solidFill>
                <a:effectLst/>
                <a:uFillTx/>
                <a:latin typeface="Calibri"/>
              </a:rPr>
              <a:t>Soste</a:t>
            </a:r>
            <a:endParaRPr lang="en-US" sz="3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240" indent="1800" algn="ctr">
              <a:lnSpc>
                <a:spcPct val="82000"/>
              </a:lnSpc>
              <a:spcBef>
                <a:spcPts val="1054"/>
              </a:spcBef>
              <a:tabLst>
                <a:tab algn="l" pos="0"/>
              </a:tabLst>
            </a:pPr>
            <a:r>
              <a:rPr lang="en-US" sz="2800" b="0" u="none" spc="-31" strike="noStrike">
                <a:solidFill>
                  <a:srgbClr val="000000"/>
                </a:solidFill>
                <a:effectLst/>
                <a:uFillTx/>
                <a:latin typeface="Calibri"/>
              </a:rPr>
              <a:t>La</a:t>
            </a:r>
            <a:r>
              <a:rPr lang="en-US" sz="2800" b="0" u="none" spc="-15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145" strike="noStrike">
                <a:solidFill>
                  <a:srgbClr val="000000"/>
                </a:solidFill>
                <a:effectLst/>
                <a:uFillTx/>
                <a:latin typeface="Calibri"/>
              </a:rPr>
              <a:t>sosta</a:t>
            </a:r>
            <a:r>
              <a:rPr lang="en-US" sz="2800" b="0" u="none" spc="-6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lang="en-US" sz="2800" b="0" u="none" spc="-16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Linate</a:t>
            </a:r>
            <a:r>
              <a:rPr lang="en-US" sz="2800" b="0" u="none" spc="-7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di</a:t>
            </a:r>
            <a:r>
              <a:rPr lang="en-US" sz="2800" b="0" u="none" spc="-16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r>
              <a:rPr lang="en-US" sz="2800" b="0" u="none" spc="-34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150" strike="noStrike">
                <a:solidFill>
                  <a:srgbClr val="000000"/>
                </a:solidFill>
                <a:effectLst/>
                <a:uFillTx/>
                <a:latin typeface="Calibri"/>
              </a:rPr>
              <a:t>minuti</a:t>
            </a:r>
            <a:r>
              <a:rPr lang="en-US" sz="2800" b="0" u="none" spc="-10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en-US" sz="28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è </a:t>
            </a:r>
            <a:r>
              <a:rPr lang="en-US" sz="2800" b="0" u="none" spc="-91" strike="noStrike">
                <a:solidFill>
                  <a:srgbClr val="000000"/>
                </a:solidFill>
                <a:effectLst/>
                <a:uFillTx/>
                <a:latin typeface="Calibri"/>
              </a:rPr>
              <a:t>un</a:t>
            </a:r>
            <a:r>
              <a:rPr lang="it-IT" sz="2800" b="0" u="none" spc="-91" strike="noStrike">
                <a:solidFill>
                  <a:srgbClr val="000000"/>
                </a:solidFill>
                <a:effectLst/>
                <a:uFillTx/>
                <a:latin typeface="Calibri"/>
              </a:rPr>
              <a:t>'ipotesi</a:t>
            </a:r>
            <a:r>
              <a:rPr lang="it-IT" sz="2800" b="0" u="none" spc="-7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operativa</a:t>
            </a:r>
            <a:r>
              <a:rPr lang="it-IT" sz="2800" b="0" u="none" spc="-9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39" strike="noStrike">
                <a:solidFill>
                  <a:srgbClr val="000000"/>
                </a:solidFill>
                <a:effectLst/>
                <a:uFillTx/>
                <a:latin typeface="Calibri"/>
              </a:rPr>
              <a:t>plausibile.</a:t>
            </a:r>
            <a:r>
              <a:rPr lang="it-IT" sz="2800" b="0" u="none" spc="2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Da </a:t>
            </a:r>
            <a:r>
              <a:rPr lang="it-IT" sz="2800" b="0" u="none" spc="-125" strike="noStrike">
                <a:solidFill>
                  <a:srgbClr val="000000"/>
                </a:solidFill>
                <a:effectLst/>
                <a:uFillTx/>
                <a:latin typeface="Calibri"/>
              </a:rPr>
              <a:t>validare</a:t>
            </a:r>
            <a:r>
              <a:rPr lang="it-IT" sz="2800" b="0" u="none" spc="-6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70" strike="noStrike">
                <a:solidFill>
                  <a:srgbClr val="000000"/>
                </a:solidFill>
                <a:effectLst/>
                <a:uFillTx/>
                <a:latin typeface="Calibri"/>
              </a:rPr>
              <a:t>con</a:t>
            </a:r>
            <a:r>
              <a:rPr lang="it-IT" sz="2800" b="0" u="none" spc="-18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56" strike="noStrike">
                <a:solidFill>
                  <a:srgbClr val="000000"/>
                </a:solidFill>
                <a:effectLst/>
                <a:uFillTx/>
                <a:latin typeface="Calibri"/>
              </a:rPr>
              <a:t>l'ente</a:t>
            </a:r>
            <a:r>
              <a:rPr lang="it-IT" sz="2800" b="0" u="none" spc="-1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64" strike="noStrike">
                <a:solidFill>
                  <a:srgbClr val="000000"/>
                </a:solidFill>
                <a:effectLst/>
                <a:uFillTx/>
                <a:latin typeface="Calibri"/>
              </a:rPr>
              <a:t>gestore</a:t>
            </a:r>
            <a:r>
              <a:rPr lang="it-IT" sz="2800" b="0" u="none" spc="-3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26" strike="noStrike">
                <a:solidFill>
                  <a:srgbClr val="000000"/>
                </a:solidFill>
                <a:effectLst/>
                <a:uFillTx/>
                <a:latin typeface="Calibri"/>
              </a:rPr>
              <a:t>per </a:t>
            </a:r>
            <a:r>
              <a:rPr lang="it-IT" sz="2800" b="0" u="none" spc="-130" strike="noStrike">
                <a:solidFill>
                  <a:srgbClr val="000000"/>
                </a:solidFill>
                <a:effectLst/>
                <a:uFillTx/>
                <a:latin typeface="Calibri"/>
              </a:rPr>
              <a:t>ottimizzare</a:t>
            </a:r>
            <a:r>
              <a:rPr lang="it-IT" sz="2800" b="0" u="none" spc="4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90" strike="noStrik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lang="it-IT" sz="28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13" strike="noStrike">
                <a:solidFill>
                  <a:srgbClr val="000000"/>
                </a:solidFill>
                <a:effectLst/>
                <a:uFillTx/>
                <a:latin typeface="Calibri"/>
              </a:rPr>
              <a:t>flussi</a:t>
            </a:r>
            <a:r>
              <a:rPr lang="it-IT" sz="2800" b="0" u="none" spc="-5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11" strike="noStrike">
                <a:solidFill>
                  <a:srgbClr val="000000"/>
                </a:solidFill>
                <a:effectLst/>
                <a:uFillTx/>
                <a:latin typeface="Calibri"/>
              </a:rPr>
              <a:t>di</a:t>
            </a:r>
            <a:r>
              <a:rPr lang="it-IT" sz="2800" b="0" u="none" spc="-204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passeggeri</a:t>
            </a:r>
            <a:r>
              <a:rPr lang="it-IT" sz="2800" b="0" u="none" spc="-65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e </a:t>
            </a:r>
            <a:r>
              <a:rPr lang="it-IT" sz="2800" b="0" u="none" spc="51" strike="noStrike">
                <a:solidFill>
                  <a:srgbClr val="000000"/>
                </a:solidFill>
                <a:effectLst/>
                <a:uFillTx/>
                <a:latin typeface="Calibri"/>
              </a:rPr>
              <a:t>i</a:t>
            </a:r>
            <a:r>
              <a:rPr lang="it-IT" sz="2800" b="0" u="none" spc="-249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90" strike="noStrike">
                <a:solidFill>
                  <a:srgbClr val="000000"/>
                </a:solidFill>
                <a:effectLst/>
                <a:uFillTx/>
                <a:latin typeface="Calibri"/>
              </a:rPr>
              <a:t>tempi</a:t>
            </a:r>
            <a:r>
              <a:rPr lang="it-IT" sz="2800" b="0" u="none" spc="-136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51" strike="noStrike">
                <a:solidFill>
                  <a:srgbClr val="000000"/>
                </a:solidFill>
                <a:effectLst/>
                <a:uFillTx/>
                <a:latin typeface="Calibri"/>
              </a:rPr>
              <a:t>di</a:t>
            </a:r>
            <a:r>
              <a:rPr lang="it-IT" sz="2800" b="0" u="none" spc="-241" strike="noStrike">
                <a:solidFill>
                  <a:srgbClr val="000000"/>
                </a:solidFill>
                <a:effectLst/>
                <a:uFillTx/>
                <a:latin typeface="Calibri"/>
              </a:rPr>
              <a:t> </a:t>
            </a:r>
            <a:r>
              <a:rPr lang="it-IT" sz="2800" b="0" u="none" spc="-11" strike="noStrike">
                <a:solidFill>
                  <a:srgbClr val="000000"/>
                </a:solidFill>
                <a:effectLst/>
                <a:uFillTx/>
                <a:latin typeface="Calibri"/>
              </a:rPr>
              <a:t>servizio. Tempi di ricarica e fermate strategiche sono sempre modificabili.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ettangolo con angoli arrotondati 18"/>
          <p:cNvSpPr/>
          <p:nvPr/>
        </p:nvSpPr>
        <p:spPr>
          <a:xfrm>
            <a:off x="3830400" y="1203120"/>
            <a:ext cx="9280800" cy="953640"/>
          </a:xfrm>
          <a:prstGeom prst="roundRect">
            <a:avLst>
              <a:gd name="adj" fmla="val 16667"/>
            </a:avLst>
          </a:prstGeom>
          <a:noFill/>
          <a:ln w="381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it-IT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p:transition spd="slow">
    <p:push dir="u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ruppo 3"/>
          <p:cNvGrpSpPr/>
          <p:nvPr/>
        </p:nvGrpSpPr>
        <p:grpSpPr>
          <a:xfrm>
            <a:off x="0" y="0"/>
            <a:ext cx="17474760" cy="9753120"/>
            <a:chOff x="0" y="0"/>
            <a:chExt cx="17474760" cy="9753120"/>
          </a:xfrm>
        </p:grpSpPr>
        <p:pic>
          <p:nvPicPr>
            <p:cNvPr id="234" name="Immagine 1"/>
            <p:cNvPicPr/>
            <p:nvPr/>
          </p:nvPicPr>
          <p:blipFill>
            <a:blip r:embed="rId1"/>
            <a:srcRect l="0" t="2837" r="0" b="0"/>
            <a:stretch/>
          </p:blipFill>
          <p:spPr>
            <a:xfrm>
              <a:off x="584280" y="0"/>
              <a:ext cx="16890480" cy="97531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5" name="Rettangolo 2"/>
            <p:cNvSpPr/>
            <p:nvPr/>
          </p:nvSpPr>
          <p:spPr>
            <a:xfrm>
              <a:off x="507960" y="228600"/>
              <a:ext cx="14096520" cy="2666520"/>
            </a:xfrm>
            <a:prstGeom prst="rect">
              <a:avLst/>
            </a:prstGeom>
            <a:solidFill>
              <a:srgbClr val="f1f0ec"/>
            </a:solid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6" name="Rettangolo 12"/>
            <p:cNvSpPr/>
            <p:nvPr/>
          </p:nvSpPr>
          <p:spPr>
            <a:xfrm>
              <a:off x="0" y="8077320"/>
              <a:ext cx="6070320" cy="1294920"/>
            </a:xfrm>
            <a:prstGeom prst="rect">
              <a:avLst/>
            </a:prstGeom>
            <a:solidFill>
              <a:srgbClr val="f1f0ec"/>
            </a:solid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7" name="Rettangolo 13"/>
            <p:cNvSpPr/>
            <p:nvPr/>
          </p:nvSpPr>
          <p:spPr>
            <a:xfrm>
              <a:off x="14960520" y="9029880"/>
              <a:ext cx="2514240" cy="685440"/>
            </a:xfrm>
            <a:prstGeom prst="rect">
              <a:avLst/>
            </a:prstGeom>
            <a:solidFill>
              <a:srgbClr val="f1f0ec"/>
            </a:solidFill>
            <a:ln w="2556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it-IT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38" name="CasellaDiTesto 4"/>
          <p:cNvSpPr/>
          <p:nvPr/>
        </p:nvSpPr>
        <p:spPr>
          <a:xfrm>
            <a:off x="584280" y="533520"/>
            <a:ext cx="9600840" cy="329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it-IT" sz="13800" b="1" u="none" strike="noStrike">
                <a:solidFill>
                  <a:srgbClr val="074773"/>
                </a:solidFill>
                <a:effectLst/>
                <a:uFillTx/>
                <a:latin typeface="Arial"/>
              </a:rPr>
              <a:t>FINE</a:t>
            </a:r>
            <a:endParaRPr lang="en-US" sz="1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it-IT" sz="7200" b="0" u="none" strike="noStrike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Arial"/>
              </a:rPr>
              <a:t>Grazie per l’attenzione!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930</TotalTime>
  <Application>LibreOffice/25.8.4.2$Linux_X86_64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2025-12-23T10:28:22Z</dcterms:created>
  <dc:creator>Fabio</dc:creator>
  <dc:description/>
  <dc:language>en-US</dc:language>
  <cp:lastModifiedBy/>
  <dcterms:modified xsi:type="dcterms:W3CDTF">2026-01-13T11:27:22Z</dcterms:modified>
  <cp:revision>101</cp:revision>
  <dc:subject/>
  <dc:title>Elettrificare la Linea 973: una soluzione Strategica per un Servizio Continuo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2025-12-23T00:00:00Z</vt:filetime>
  </property>
  <property fmtid="{D5CDD505-2E9C-101B-9397-08002B2CF9AE}" pid="3" name="LastSaved">
    <vt:filetime>2025-12-23T00:00:00Z</vt:filetime>
  </property>
  <property fmtid="{D5CDD505-2E9C-101B-9397-08002B2CF9AE}" pid="4" name="PresentationFormat">
    <vt:lpwstr>Personalizzato</vt:lpwstr>
  </property>
  <property fmtid="{D5CDD505-2E9C-101B-9397-08002B2CF9AE}" pid="5" name="Slides">
    <vt:r8>15</vt:r8>
  </property>
</Properties>
</file>