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71" r:id="rId4"/>
    <p:sldId id="260" r:id="rId5"/>
    <p:sldId id="257" r:id="rId6"/>
    <p:sldId id="261" r:id="rId7"/>
    <p:sldId id="272" r:id="rId8"/>
    <p:sldId id="273" r:id="rId9"/>
    <p:sldId id="274" r:id="rId10"/>
    <p:sldId id="275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63A2"/>
    <a:srgbClr val="F1F0EC"/>
    <a:srgbClr val="F2F0EB"/>
    <a:srgbClr val="255082"/>
    <a:srgbClr val="255081"/>
    <a:srgbClr val="5FBC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70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00" y="2628900"/>
            <a:ext cx="15697200" cy="6375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5514" y="452966"/>
            <a:ext cx="15325725" cy="723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08486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214BE35-1A06-4E29-BA7A-7144A855B3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00" y="0"/>
            <a:ext cx="10702544" cy="10702544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03D89AEE-DE74-4E96-9EFE-9B92040B31D8}"/>
              </a:ext>
            </a:extLst>
          </p:cNvPr>
          <p:cNvSpPr/>
          <p:nvPr userDrawn="1"/>
        </p:nvSpPr>
        <p:spPr>
          <a:xfrm>
            <a:off x="0" y="0"/>
            <a:ext cx="17458944" cy="9906000"/>
          </a:xfrm>
          <a:prstGeom prst="rect">
            <a:avLst/>
          </a:prstGeom>
          <a:solidFill>
            <a:schemeClr val="bg1">
              <a:lumMod val="85000"/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08486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08486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1246" y="626533"/>
            <a:ext cx="15540355" cy="66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9490" y="2150533"/>
            <a:ext cx="15375255" cy="222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4.svg"/><Relationship Id="rId4" Type="http://schemas.openxmlformats.org/officeDocument/2006/relationships/image" Target="../media/image19.sv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jpg"/><Relationship Id="rId3" Type="http://schemas.openxmlformats.org/officeDocument/2006/relationships/image" Target="../media/image43.jpg"/><Relationship Id="rId7" Type="http://schemas.openxmlformats.org/officeDocument/2006/relationships/image" Target="../media/image47.jpg"/><Relationship Id="rId12" Type="http://schemas.openxmlformats.org/officeDocument/2006/relationships/image" Target="../media/image52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11" Type="http://schemas.openxmlformats.org/officeDocument/2006/relationships/image" Target="../media/image51.jpg"/><Relationship Id="rId5" Type="http://schemas.openxmlformats.org/officeDocument/2006/relationships/image" Target="../media/image45.png"/><Relationship Id="rId10" Type="http://schemas.openxmlformats.org/officeDocument/2006/relationships/image" Target="../media/image50.jpg"/><Relationship Id="rId4" Type="http://schemas.openxmlformats.org/officeDocument/2006/relationships/image" Target="../media/image44.jpg"/><Relationship Id="rId9" Type="http://schemas.openxmlformats.org/officeDocument/2006/relationships/image" Target="../media/image4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>
            <a:extLst>
              <a:ext uri="{FF2B5EF4-FFF2-40B4-BE49-F238E27FC236}">
                <a16:creationId xmlns:a16="http://schemas.microsoft.com/office/drawing/2014/main" id="{69579A05-92D5-4B9C-BAC2-81AA6F636F95}"/>
              </a:ext>
            </a:extLst>
          </p:cNvPr>
          <p:cNvGrpSpPr/>
          <p:nvPr/>
        </p:nvGrpSpPr>
        <p:grpSpPr>
          <a:xfrm>
            <a:off x="-2159000" y="-2362200"/>
            <a:ext cx="19634201" cy="13411200"/>
            <a:chOff x="-2159000" y="-2362200"/>
            <a:chExt cx="19634201" cy="13411200"/>
          </a:xfrm>
        </p:grpSpPr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A472055C-E9F8-4412-8EF1-B13DEF6DF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23" r="-511" b="14706"/>
            <a:stretch/>
          </p:blipFill>
          <p:spPr>
            <a:xfrm>
              <a:off x="-2159000" y="-2362200"/>
              <a:ext cx="17067545" cy="13411200"/>
            </a:xfrm>
            <a:prstGeom prst="rect">
              <a:avLst/>
            </a:prstGeom>
            <a:effectLst>
              <a:softEdge rad="1270000"/>
            </a:effectLst>
          </p:spPr>
        </p:pic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26A4F38F-7C62-4ABC-BA11-14AD96FF823F}"/>
                </a:ext>
              </a:extLst>
            </p:cNvPr>
            <p:cNvSpPr/>
            <p:nvPr/>
          </p:nvSpPr>
          <p:spPr>
            <a:xfrm>
              <a:off x="8737601" y="-1676400"/>
              <a:ext cx="8737600" cy="12496800"/>
            </a:xfrm>
            <a:prstGeom prst="rect">
              <a:avLst/>
            </a:prstGeom>
            <a:solidFill>
              <a:srgbClr val="F2F0EB">
                <a:alpha val="75000"/>
              </a:srgbClr>
            </a:solidFill>
            <a:ln>
              <a:noFill/>
            </a:ln>
            <a:effectLst>
              <a:softEdge rad="1041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4" name="object 4"/>
          <p:cNvSpPr/>
          <p:nvPr/>
        </p:nvSpPr>
        <p:spPr>
          <a:xfrm>
            <a:off x="10673081" y="-304800"/>
            <a:ext cx="45719" cy="7696200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684000" y="1250950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480800" y="8839200"/>
            <a:ext cx="5353734" cy="65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255" algn="ctr">
              <a:lnSpc>
                <a:spcPct val="106700"/>
              </a:lnSpc>
              <a:spcBef>
                <a:spcPts val="95"/>
              </a:spcBef>
            </a:pPr>
            <a:r>
              <a:rPr lang="it-IT" sz="2000" dirty="0">
                <a:latin typeface="Calibri"/>
                <a:cs typeface="Calibri"/>
              </a:rPr>
              <a:t>Corso di A.S.E.T., f</a:t>
            </a:r>
            <a:r>
              <a:rPr sz="2000" dirty="0" err="1">
                <a:latin typeface="Calibri"/>
                <a:cs typeface="Calibri"/>
              </a:rPr>
              <a:t>acoltà</a:t>
            </a:r>
            <a:r>
              <a:rPr sz="2000" spc="-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Electrical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Engineering</a:t>
            </a:r>
            <a:r>
              <a:rPr lang="it-IT" sz="2000" spc="-10" dirty="0">
                <a:latin typeface="Calibri"/>
                <a:cs typeface="Calibri"/>
              </a:rPr>
              <a:t>, Politecnico di Milano.</a:t>
            </a:r>
            <a:r>
              <a:rPr sz="2000" spc="-10" dirty="0">
                <a:latin typeface="Calibri"/>
                <a:cs typeface="Calibri"/>
              </a:rPr>
              <a:t> 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21307" y="8312150"/>
            <a:ext cx="5778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860" dirty="0">
                <a:solidFill>
                  <a:srgbClr val="B5855E"/>
                </a:solidFill>
                <a:latin typeface="Calibri"/>
                <a:cs typeface="Calibri"/>
              </a:rPr>
              <a:t>”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5" name="Titolo 14">
            <a:extLst>
              <a:ext uri="{FF2B5EF4-FFF2-40B4-BE49-F238E27FC236}">
                <a16:creationId xmlns:a16="http://schemas.microsoft.com/office/drawing/2014/main" id="{1278412F-73F2-463A-A083-81B65345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4028" y="796766"/>
            <a:ext cx="6488972" cy="2708434"/>
          </a:xfrm>
        </p:spPr>
        <p:txBody>
          <a:bodyPr/>
          <a:lstStyle/>
          <a:p>
            <a:pPr algn="l"/>
            <a:r>
              <a:rPr lang="it-IT" sz="4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Studio di fattibilità </a:t>
            </a:r>
            <a:br>
              <a:rPr lang="it-IT" sz="4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t-IT" sz="4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 l’elettrificazione</a:t>
            </a:r>
            <a:br>
              <a:rPr lang="it-IT" sz="4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t-IT" sz="4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della Linea Bus 973,</a:t>
            </a:r>
            <a:br>
              <a:rPr lang="it-IT" sz="4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it-IT" sz="4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 tecnologia</a:t>
            </a:r>
            <a:endParaRPr lang="it-IT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itolo 14">
            <a:extLst>
              <a:ext uri="{FF2B5EF4-FFF2-40B4-BE49-F238E27FC236}">
                <a16:creationId xmlns:a16="http://schemas.microsoft.com/office/drawing/2014/main" id="{62C78326-0260-4622-A5EF-48AC2D425F74}"/>
              </a:ext>
            </a:extLst>
          </p:cNvPr>
          <p:cNvSpPr txBox="1">
            <a:spLocks/>
          </p:cNvSpPr>
          <p:nvPr/>
        </p:nvSpPr>
        <p:spPr>
          <a:xfrm>
            <a:off x="11164028" y="4240411"/>
            <a:ext cx="4035338" cy="2769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l"/>
            <a:r>
              <a:rPr lang="it-IT" sz="6000" b="1" spc="114" dirty="0">
                <a:solidFill>
                  <a:srgbClr val="1A63A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it-IT" sz="5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ireless</a:t>
            </a:r>
          </a:p>
          <a:p>
            <a:pPr algn="l"/>
            <a:r>
              <a:rPr lang="it-IT" sz="6000" b="1" spc="114" dirty="0">
                <a:solidFill>
                  <a:srgbClr val="1A63A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it-IT" sz="5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ower </a:t>
            </a:r>
          </a:p>
          <a:p>
            <a:pPr algn="l"/>
            <a:r>
              <a:rPr lang="it-IT" sz="6000" b="1" spc="114" dirty="0">
                <a:solidFill>
                  <a:srgbClr val="1A63A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it-IT" sz="5400" b="1" spc="114" dirty="0">
                <a:solidFill>
                  <a:srgbClr val="15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ransfer</a:t>
            </a:r>
            <a:endParaRPr lang="it-IT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9C2E3DE5-4CAC-45F7-9AEE-E240BD806C78}"/>
              </a:ext>
            </a:extLst>
          </p:cNvPr>
          <p:cNvSpPr txBox="1"/>
          <p:nvPr/>
        </p:nvSpPr>
        <p:spPr>
          <a:xfrm>
            <a:off x="11386122" y="7924800"/>
            <a:ext cx="5657278" cy="7348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255" algn="ctr">
              <a:lnSpc>
                <a:spcPct val="106700"/>
              </a:lnSpc>
              <a:spcBef>
                <a:spcPts val="95"/>
              </a:spcBef>
            </a:pPr>
            <a:r>
              <a:rPr lang="it-IT" sz="2400" dirty="0">
                <a:latin typeface="Calibri"/>
                <a:cs typeface="Calibri"/>
              </a:rPr>
              <a:t>Autori: </a:t>
            </a:r>
          </a:p>
          <a:p>
            <a:pPr marL="12700" marR="5080" indent="8255" algn="ctr">
              <a:lnSpc>
                <a:spcPct val="106700"/>
              </a:lnSpc>
              <a:spcBef>
                <a:spcPts val="95"/>
              </a:spcBef>
            </a:pPr>
            <a:r>
              <a:rPr lang="it-IT" sz="2000" dirty="0">
                <a:latin typeface="Calibri"/>
                <a:cs typeface="Calibri"/>
              </a:rPr>
              <a:t>Fabio Canossi, Joshua Rizzello, Michele Savoldelli.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0DE7499C-ADF6-4E37-BA72-D394A1ADBC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39" t="7206"/>
          <a:stretch/>
        </p:blipFill>
        <p:spPr>
          <a:xfrm>
            <a:off x="14574518" y="3886200"/>
            <a:ext cx="2777631" cy="3703890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8000" y="7805119"/>
            <a:ext cx="635000" cy="1193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4600" y="8376619"/>
            <a:ext cx="457200" cy="622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98000" y="5925519"/>
            <a:ext cx="1181100" cy="1181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98000" y="4084019"/>
            <a:ext cx="1181100" cy="11430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70000" y="457200"/>
            <a:ext cx="15540355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3850" b="1" spc="50" dirty="0" err="1">
                <a:solidFill>
                  <a:srgbClr val="1A63A2"/>
                </a:solidFill>
              </a:rPr>
              <a:t>Tecnologia</a:t>
            </a:r>
            <a:r>
              <a:rPr sz="3850" b="1" spc="265" dirty="0">
                <a:solidFill>
                  <a:srgbClr val="1A63A2"/>
                </a:solidFill>
              </a:rPr>
              <a:t> </a:t>
            </a:r>
            <a:r>
              <a:rPr lang="it-IT" sz="3850" b="1" spc="160" dirty="0">
                <a:solidFill>
                  <a:srgbClr val="1A63A2"/>
                </a:solidFill>
              </a:rPr>
              <a:t>a</a:t>
            </a:r>
            <a:r>
              <a:rPr sz="3850" b="1" spc="160" dirty="0" err="1">
                <a:solidFill>
                  <a:srgbClr val="1A63A2"/>
                </a:solidFill>
              </a:rPr>
              <a:t>bilitante</a:t>
            </a:r>
            <a:endParaRPr sz="3850" dirty="0"/>
          </a:p>
        </p:txBody>
      </p:sp>
      <p:sp>
        <p:nvSpPr>
          <p:cNvPr id="11" name="object 11"/>
          <p:cNvSpPr txBox="1"/>
          <p:nvPr/>
        </p:nvSpPr>
        <p:spPr>
          <a:xfrm>
            <a:off x="1270000" y="1266119"/>
            <a:ext cx="14748510" cy="202921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8575" marR="17780" indent="-3810" algn="just">
              <a:lnSpc>
                <a:spcPts val="3100"/>
              </a:lnSpc>
              <a:spcBef>
                <a:spcPts val="465"/>
              </a:spcBef>
            </a:pPr>
            <a:r>
              <a:rPr lang="it-IT" sz="2400" spc="-50" dirty="0">
                <a:latin typeface="Calibri"/>
                <a:cs typeface="Calibri"/>
              </a:rPr>
              <a:t>Il trasferimento di potenza elettrica avviene tramite </a:t>
            </a:r>
            <a:r>
              <a:rPr lang="it-IT" sz="2400" spc="-50" dirty="0">
                <a:solidFill>
                  <a:srgbClr val="1A63A2"/>
                </a:solidFill>
                <a:latin typeface="Calibri"/>
                <a:cs typeface="Calibri"/>
              </a:rPr>
              <a:t>l’accoppiamento induttivo statico di due bobine </a:t>
            </a:r>
            <a:r>
              <a:rPr lang="it-IT" sz="2400" spc="-50" dirty="0">
                <a:solidFill>
                  <a:schemeClr val="tx1"/>
                </a:solidFill>
                <a:latin typeface="Calibri"/>
                <a:cs typeface="Calibri"/>
              </a:rPr>
              <a:t>(</a:t>
            </a:r>
            <a:r>
              <a:rPr lang="it-IT" sz="2400" spc="-50" dirty="0" err="1">
                <a:solidFill>
                  <a:schemeClr val="tx1"/>
                </a:solidFill>
                <a:latin typeface="Calibri"/>
                <a:cs typeface="Calibri"/>
              </a:rPr>
              <a:t>pad</a:t>
            </a:r>
            <a:r>
              <a:rPr lang="it-IT" sz="2400" spc="-50" dirty="0">
                <a:solidFill>
                  <a:schemeClr val="tx1"/>
                </a:solidFill>
                <a:latin typeface="Calibri"/>
                <a:cs typeface="Calibri"/>
              </a:rPr>
              <a:t>). </a:t>
            </a:r>
            <a:r>
              <a:rPr lang="it-IT" sz="2400" spc="-50" dirty="0">
                <a:latin typeface="Calibri"/>
                <a:cs typeface="Calibri"/>
              </a:rPr>
              <a:t>La prima,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spc="-25" dirty="0" err="1">
                <a:latin typeface="Calibri"/>
                <a:cs typeface="Calibri"/>
              </a:rPr>
              <a:t>trasmittente</a:t>
            </a:r>
            <a:r>
              <a:rPr lang="it-IT" sz="2400" spc="-25" dirty="0">
                <a:latin typeface="Calibri"/>
                <a:cs typeface="Calibri"/>
              </a:rPr>
              <a:t>,</a:t>
            </a:r>
            <a:r>
              <a:rPr lang="it-IT" sz="2400" spc="-5" dirty="0">
                <a:latin typeface="Calibri"/>
                <a:cs typeface="Calibri"/>
              </a:rPr>
              <a:t> </a:t>
            </a:r>
            <a:r>
              <a:rPr lang="it-IT" sz="2400" spc="-50" dirty="0">
                <a:latin typeface="Calibri"/>
                <a:cs typeface="Calibri"/>
              </a:rPr>
              <a:t>installata sopra o sotto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lang="it-IT" sz="2400" spc="-7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l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manto </a:t>
            </a:r>
            <a:r>
              <a:rPr sz="2400" spc="-40" dirty="0">
                <a:latin typeface="Calibri"/>
                <a:cs typeface="Calibri"/>
              </a:rPr>
              <a:t>stradale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alimenta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una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bobina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ricevente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sotto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il</a:t>
            </a:r>
            <a:r>
              <a:rPr sz="2400" spc="-16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veicolo.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La</a:t>
            </a:r>
            <a:r>
              <a:rPr sz="2400" spc="-165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tecnologia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risonante</a:t>
            </a:r>
            <a:r>
              <a:rPr lang="it-IT" sz="2400" spc="-10" dirty="0">
                <a:latin typeface="Calibri"/>
                <a:cs typeface="Calibri"/>
              </a:rPr>
              <a:t> (</a:t>
            </a:r>
            <a:r>
              <a:rPr lang="it-IT" sz="2400" spc="-10" dirty="0">
                <a:solidFill>
                  <a:srgbClr val="1A63A2"/>
                </a:solidFill>
                <a:latin typeface="Calibri"/>
                <a:cs typeface="Calibri"/>
              </a:rPr>
              <a:t>RIWPT</a:t>
            </a:r>
            <a:r>
              <a:rPr lang="it-IT" sz="2400" spc="-10" dirty="0">
                <a:latin typeface="Calibri"/>
                <a:cs typeface="Calibri"/>
              </a:rPr>
              <a:t>), attraverso circuiti di compensazione, minimizza l’impedenza reattiva,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35" dirty="0" err="1">
                <a:latin typeface="Calibri"/>
                <a:cs typeface="Calibri"/>
              </a:rPr>
              <a:t>garan</a:t>
            </a:r>
            <a:r>
              <a:rPr lang="it-IT" sz="2400" spc="-35" dirty="0">
                <a:latin typeface="Calibri"/>
                <a:cs typeface="Calibri"/>
              </a:rPr>
              <a:t>tendo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un'efficienza </a:t>
            </a:r>
            <a:r>
              <a:rPr sz="2400" spc="-45" dirty="0">
                <a:latin typeface="Calibri"/>
                <a:cs typeface="Calibri"/>
              </a:rPr>
              <a:t>superiore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90</a:t>
            </a:r>
            <a:r>
              <a:rPr lang="it-IT" sz="2000" spc="-142" baseline="30030" dirty="0">
                <a:latin typeface="Calibri"/>
                <a:cs typeface="Calibri"/>
              </a:rPr>
              <a:t> </a:t>
            </a:r>
            <a:r>
              <a:rPr lang="it-IT" sz="2000" spc="-142" dirty="0">
                <a:latin typeface="Calibri"/>
                <a:cs typeface="Calibri"/>
              </a:rPr>
              <a:t>%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anche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traferro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fino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a</a:t>
            </a:r>
            <a:r>
              <a:rPr sz="2400" spc="-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250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mm,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tipico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degli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autobus.</a:t>
            </a:r>
            <a:r>
              <a:rPr lang="it-IT" sz="2400" spc="-10" dirty="0">
                <a:latin typeface="Calibri"/>
                <a:cs typeface="Calibri"/>
              </a:rPr>
              <a:t> Nel modello coefficiente di accoppiamento terrà conto di distanza e disallineamento dei </a:t>
            </a:r>
            <a:r>
              <a:rPr lang="it-IT" sz="2400" spc="-10" dirty="0" err="1">
                <a:latin typeface="Calibri"/>
                <a:cs typeface="Calibri"/>
              </a:rPr>
              <a:t>pad</a:t>
            </a:r>
            <a:r>
              <a:rPr lang="it-IT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72794" y="3954902"/>
            <a:ext cx="5110480" cy="12496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25120" marR="5080" indent="-313055">
              <a:lnSpc>
                <a:spcPct val="89800"/>
              </a:lnSpc>
              <a:spcBef>
                <a:spcPts val="470"/>
              </a:spcBef>
              <a:buChar char="•"/>
              <a:tabLst>
                <a:tab pos="325120" algn="l"/>
                <a:tab pos="331470" algn="l"/>
              </a:tabLst>
            </a:pPr>
            <a:r>
              <a:rPr sz="2900" dirty="0">
                <a:latin typeface="Calibri"/>
                <a:cs typeface="Calibri"/>
              </a:rPr>
              <a:t>	</a:t>
            </a:r>
            <a:r>
              <a:rPr sz="2900" dirty="0">
                <a:solidFill>
                  <a:srgbClr val="1A63A2"/>
                </a:solidFill>
                <a:latin typeface="Calibri"/>
                <a:cs typeface="Calibri"/>
              </a:rPr>
              <a:t>Automazione</a:t>
            </a:r>
            <a:r>
              <a:rPr sz="2900" spc="-45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1A63A2"/>
                </a:solidFill>
                <a:latin typeface="Calibri"/>
                <a:cs typeface="Calibri"/>
              </a:rPr>
              <a:t>Totale:</a:t>
            </a:r>
            <a:r>
              <a:rPr sz="2900" spc="-12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Nessun </a:t>
            </a:r>
            <a:r>
              <a:rPr sz="2850" spc="-45" dirty="0">
                <a:latin typeface="Calibri"/>
                <a:cs typeface="Calibri"/>
              </a:rPr>
              <a:t>intervento</a:t>
            </a:r>
            <a:r>
              <a:rPr sz="2850" spc="-40" dirty="0">
                <a:latin typeface="Calibri"/>
                <a:cs typeface="Calibri"/>
              </a:rPr>
              <a:t> </a:t>
            </a:r>
            <a:r>
              <a:rPr sz="2850" spc="-70" dirty="0">
                <a:latin typeface="Calibri"/>
                <a:cs typeface="Calibri"/>
              </a:rPr>
              <a:t>umano,</a:t>
            </a:r>
            <a:r>
              <a:rPr sz="2850" spc="-60" dirty="0">
                <a:latin typeface="Calibri"/>
                <a:cs typeface="Calibri"/>
              </a:rPr>
              <a:t> </a:t>
            </a:r>
            <a:r>
              <a:rPr sz="2850" spc="-45" dirty="0">
                <a:latin typeface="Calibri"/>
                <a:cs typeface="Calibri"/>
              </a:rPr>
              <a:t>nessuna</a:t>
            </a:r>
            <a:r>
              <a:rPr sz="2850" spc="-120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usura meccanica.</a:t>
            </a:r>
            <a:endParaRPr sz="28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785494" y="6018652"/>
            <a:ext cx="5597525" cy="8636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11785" marR="5080" indent="-299720">
              <a:lnSpc>
                <a:spcPts val="3100"/>
              </a:lnSpc>
              <a:spcBef>
                <a:spcPts val="535"/>
              </a:spcBef>
              <a:buChar char="•"/>
              <a:tabLst>
                <a:tab pos="311785" algn="l"/>
                <a:tab pos="320675" algn="l"/>
              </a:tabLst>
            </a:pPr>
            <a:r>
              <a:rPr sz="2900" dirty="0">
                <a:latin typeface="Calibri"/>
                <a:cs typeface="Calibri"/>
              </a:rPr>
              <a:t>	</a:t>
            </a:r>
            <a:r>
              <a:rPr sz="2900" dirty="0">
                <a:solidFill>
                  <a:srgbClr val="1A63A2"/>
                </a:solidFill>
                <a:latin typeface="Calibri"/>
                <a:cs typeface="Calibri"/>
              </a:rPr>
              <a:t>Integrazione</a:t>
            </a:r>
            <a:r>
              <a:rPr sz="2900" spc="-7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1A63A2"/>
                </a:solidFill>
                <a:latin typeface="Calibri"/>
                <a:cs typeface="Calibri"/>
              </a:rPr>
              <a:t>Urbana:</a:t>
            </a:r>
            <a:r>
              <a:rPr sz="2900" spc="-45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sz="2900" spc="-105" dirty="0">
                <a:latin typeface="Calibri"/>
                <a:cs typeface="Calibri"/>
              </a:rPr>
              <a:t>Impatto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visivo </a:t>
            </a:r>
            <a:r>
              <a:rPr sz="2900" spc="-65" dirty="0">
                <a:latin typeface="Calibri"/>
                <a:cs typeface="Calibri"/>
              </a:rPr>
              <a:t>nullo,</a:t>
            </a:r>
            <a:r>
              <a:rPr sz="2900" spc="40" dirty="0">
                <a:latin typeface="Calibri"/>
                <a:cs typeface="Calibri"/>
              </a:rPr>
              <a:t> </a:t>
            </a:r>
            <a:r>
              <a:rPr sz="2900" spc="-75" dirty="0">
                <a:latin typeface="Calibri"/>
                <a:cs typeface="Calibri"/>
              </a:rPr>
              <a:t>nessuna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-65" dirty="0">
                <a:latin typeface="Calibri"/>
                <a:cs typeface="Calibri"/>
              </a:rPr>
              <a:t>infrastruttura</a:t>
            </a:r>
            <a:r>
              <a:rPr sz="2900" spc="-17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aerea.</a:t>
            </a:r>
            <a:endParaRPr sz="29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71131" y="7740913"/>
            <a:ext cx="4779645" cy="12788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24485" marR="5080" indent="-312420" algn="just">
              <a:lnSpc>
                <a:spcPts val="3100"/>
              </a:lnSpc>
              <a:spcBef>
                <a:spcPts val="675"/>
              </a:spcBef>
              <a:buChar char="•"/>
              <a:tabLst>
                <a:tab pos="324485" algn="l"/>
                <a:tab pos="332740" algn="l"/>
              </a:tabLst>
            </a:pPr>
            <a:r>
              <a:rPr sz="3050" dirty="0">
                <a:solidFill>
                  <a:srgbClr val="1A63A2"/>
                </a:solidFill>
                <a:latin typeface="Calibri"/>
                <a:cs typeface="Calibri"/>
              </a:rPr>
              <a:t>	</a:t>
            </a:r>
            <a:r>
              <a:rPr sz="3050" spc="-50" dirty="0">
                <a:solidFill>
                  <a:srgbClr val="1A63A2"/>
                </a:solidFill>
                <a:latin typeface="Calibri"/>
                <a:cs typeface="Calibri"/>
              </a:rPr>
              <a:t>Batterie</a:t>
            </a:r>
            <a:r>
              <a:rPr sz="3050" spc="-95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sz="3050" spc="-45" dirty="0">
                <a:solidFill>
                  <a:srgbClr val="1A63A2"/>
                </a:solidFill>
                <a:latin typeface="Calibri"/>
                <a:cs typeface="Calibri"/>
              </a:rPr>
              <a:t>Ridotte:</a:t>
            </a:r>
            <a:r>
              <a:rPr sz="3050" spc="-8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sz="3050" spc="-135" dirty="0">
                <a:latin typeface="Calibri"/>
                <a:cs typeface="Calibri"/>
              </a:rPr>
              <a:t>Potenziale</a:t>
            </a:r>
            <a:r>
              <a:rPr sz="3050" spc="-25" dirty="0">
                <a:latin typeface="Calibri"/>
                <a:cs typeface="Calibri"/>
              </a:rPr>
              <a:t> di </a:t>
            </a:r>
            <a:r>
              <a:rPr sz="2950" spc="-70" dirty="0">
                <a:latin typeface="Calibri"/>
                <a:cs typeface="Calibri"/>
              </a:rPr>
              <a:t>downsizing</a:t>
            </a:r>
            <a:r>
              <a:rPr sz="2950" spc="-75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del</a:t>
            </a:r>
            <a:r>
              <a:rPr sz="2950" spc="-114" dirty="0">
                <a:latin typeface="Calibri"/>
                <a:cs typeface="Calibri"/>
              </a:rPr>
              <a:t> </a:t>
            </a:r>
            <a:r>
              <a:rPr sz="2950" spc="-90" dirty="0">
                <a:latin typeface="Calibri"/>
                <a:cs typeface="Calibri"/>
              </a:rPr>
              <a:t>pacco</a:t>
            </a:r>
            <a:r>
              <a:rPr sz="2950" spc="-75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batterie, </a:t>
            </a:r>
            <a:r>
              <a:rPr sz="3050" spc="-140" dirty="0">
                <a:latin typeface="Calibri"/>
                <a:cs typeface="Calibri"/>
              </a:rPr>
              <a:t>riducendo</a:t>
            </a:r>
            <a:r>
              <a:rPr sz="3050" spc="40" dirty="0">
                <a:latin typeface="Calibri"/>
                <a:cs typeface="Calibri"/>
              </a:rPr>
              <a:t> </a:t>
            </a:r>
            <a:r>
              <a:rPr sz="3050" spc="-135" dirty="0">
                <a:latin typeface="Calibri"/>
                <a:cs typeface="Calibri"/>
              </a:rPr>
              <a:t>peso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85" dirty="0">
                <a:latin typeface="Calibri"/>
                <a:cs typeface="Calibri"/>
              </a:rPr>
              <a:t>e</a:t>
            </a:r>
            <a:r>
              <a:rPr sz="3050" spc="-13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costi.</a:t>
            </a:r>
            <a:endParaRPr sz="3050" dirty="0">
              <a:latin typeface="Calibri"/>
              <a:cs typeface="Calibri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5EE41CEB-F692-44C0-A53E-A6E66219C18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541"/>
          <a:stretch/>
        </p:blipFill>
        <p:spPr>
          <a:xfrm>
            <a:off x="840926" y="3733800"/>
            <a:ext cx="7454713" cy="5564537"/>
          </a:xfrm>
          <a:prstGeom prst="rect">
            <a:avLst/>
          </a:prstGeom>
        </p:spPr>
      </p:pic>
      <p:sp>
        <p:nvSpPr>
          <p:cNvPr id="21" name="object 4">
            <a:extLst>
              <a:ext uri="{FF2B5EF4-FFF2-40B4-BE49-F238E27FC236}">
                <a16:creationId xmlns:a16="http://schemas.microsoft.com/office/drawing/2014/main" id="{32F0879F-5D15-44C2-AC17-7A94BAB34A02}"/>
              </a:ext>
            </a:extLst>
          </p:cNvPr>
          <p:cNvSpPr/>
          <p:nvPr/>
        </p:nvSpPr>
        <p:spPr>
          <a:xfrm>
            <a:off x="8890000" y="3733800"/>
            <a:ext cx="116075" cy="5564538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00DBC6F8-B81C-4384-8EA0-FF9CAC4317B1}"/>
              </a:ext>
            </a:extLst>
          </p:cNvPr>
          <p:cNvSpPr/>
          <p:nvPr/>
        </p:nvSpPr>
        <p:spPr>
          <a:xfrm>
            <a:off x="965200" y="592667"/>
            <a:ext cx="76200" cy="2702662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10">
            <a:extLst>
              <a:ext uri="{FF2B5EF4-FFF2-40B4-BE49-F238E27FC236}">
                <a16:creationId xmlns:a16="http://schemas.microsoft.com/office/drawing/2014/main" id="{B862AD80-DFFF-4908-9EB4-AD29F61B3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0000" y="626533"/>
            <a:ext cx="15540355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Obiettivi del progetto</a:t>
            </a:r>
            <a:endParaRPr sz="3850" dirty="0"/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794134CF-5861-4952-AFBA-406E2205A0A5}"/>
              </a:ext>
            </a:extLst>
          </p:cNvPr>
          <p:cNvSpPr txBox="1"/>
          <p:nvPr/>
        </p:nvSpPr>
        <p:spPr>
          <a:xfrm>
            <a:off x="1270000" y="1435452"/>
            <a:ext cx="14748510" cy="182402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8575" marR="17780" indent="-3810" algn="just">
              <a:lnSpc>
                <a:spcPts val="3100"/>
              </a:lnSpc>
              <a:spcBef>
                <a:spcPts val="465"/>
              </a:spcBef>
            </a:pPr>
            <a:r>
              <a:rPr lang="it-IT" sz="2400" dirty="0">
                <a:latin typeface="Calibri"/>
                <a:cs typeface="Calibri"/>
              </a:rPr>
              <a:t>L’obiettivo è valutare la fattibilità tecnica ed energetica di un sistema di ricarica WPT statico per la linea milanese del bus 973, tramite la produzione di codice </a:t>
            </a:r>
            <a:r>
              <a:rPr lang="it-IT" sz="2400" dirty="0" err="1">
                <a:latin typeface="Calibri"/>
                <a:cs typeface="Calibri"/>
              </a:rPr>
              <a:t>MatLab</a:t>
            </a:r>
            <a:r>
              <a:rPr lang="it-IT" sz="2400" dirty="0">
                <a:latin typeface="Calibri"/>
                <a:cs typeface="Calibri"/>
              </a:rPr>
              <a:t> scalabile. L’analisi mira a:</a:t>
            </a:r>
          </a:p>
          <a:p>
            <a:pPr marL="28575" marR="17780" indent="-3810" algn="just">
              <a:lnSpc>
                <a:spcPts val="3100"/>
              </a:lnSpc>
              <a:spcBef>
                <a:spcPts val="465"/>
              </a:spcBef>
            </a:pPr>
            <a:r>
              <a:rPr lang="it-IT" sz="2800" b="1" dirty="0">
                <a:solidFill>
                  <a:srgbClr val="1A63A2"/>
                </a:solidFill>
                <a:latin typeface="Calibri"/>
                <a:cs typeface="Calibri"/>
              </a:rPr>
              <a:t>1. </a:t>
            </a:r>
            <a:r>
              <a:rPr lang="it-IT" sz="2400" dirty="0">
                <a:latin typeface="Calibri"/>
                <a:cs typeface="Calibri"/>
              </a:rPr>
              <a:t>Modellare il consumo energetico basandosi su dati cinematici reali.</a:t>
            </a:r>
          </a:p>
          <a:p>
            <a:pPr marL="28575" marR="17780" indent="-3810" algn="just">
              <a:lnSpc>
                <a:spcPts val="3100"/>
              </a:lnSpc>
              <a:spcBef>
                <a:spcPts val="465"/>
              </a:spcBef>
            </a:pPr>
            <a:r>
              <a:rPr lang="it-IT" sz="2800" b="1" dirty="0">
                <a:solidFill>
                  <a:srgbClr val="1A63A2"/>
                </a:solidFill>
                <a:latin typeface="Calibri"/>
                <a:cs typeface="Calibri"/>
              </a:rPr>
              <a:t>2. </a:t>
            </a:r>
            <a:r>
              <a:rPr lang="it-IT" sz="2400" dirty="0">
                <a:latin typeface="Calibri"/>
                <a:cs typeface="Calibri"/>
              </a:rPr>
              <a:t>Verificare il bilancio energetico considerando diversi scenari di ricarica nelle soste programmate.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EB329C48-C0E0-4087-80BD-802D1546C640}"/>
              </a:ext>
            </a:extLst>
          </p:cNvPr>
          <p:cNvSpPr/>
          <p:nvPr/>
        </p:nvSpPr>
        <p:spPr>
          <a:xfrm>
            <a:off x="948683" y="762000"/>
            <a:ext cx="45719" cy="2497477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F42E7727-E597-40BF-A6F8-EE13C81AD712}"/>
              </a:ext>
            </a:extLst>
          </p:cNvPr>
          <p:cNvSpPr txBox="1">
            <a:spLocks/>
          </p:cNvSpPr>
          <p:nvPr/>
        </p:nvSpPr>
        <p:spPr>
          <a:xfrm>
            <a:off x="1274445" y="3691656"/>
            <a:ext cx="15540355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Focus sulla linea 973</a:t>
            </a:r>
            <a:endParaRPr lang="it-IT" sz="3850" dirty="0"/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5BD4C911-A5D8-438C-824F-02360D411A2B}"/>
              </a:ext>
            </a:extLst>
          </p:cNvPr>
          <p:cNvSpPr txBox="1"/>
          <p:nvPr/>
        </p:nvSpPr>
        <p:spPr>
          <a:xfrm>
            <a:off x="1274445" y="4500575"/>
            <a:ext cx="14748510" cy="123412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8575" marR="17780" indent="-3810" algn="just">
              <a:lnSpc>
                <a:spcPts val="3100"/>
              </a:lnSpc>
              <a:spcBef>
                <a:spcPts val="465"/>
              </a:spcBef>
            </a:pPr>
            <a:r>
              <a:rPr lang="it-IT" sz="2400" dirty="0">
                <a:latin typeface="Calibri"/>
                <a:cs typeface="Calibri"/>
              </a:rPr>
              <a:t>La linea 973 (</a:t>
            </a:r>
            <a:r>
              <a:rPr lang="it-IT" sz="2400" dirty="0">
                <a:solidFill>
                  <a:srgbClr val="1A63A2"/>
                </a:solidFill>
                <a:latin typeface="Calibri"/>
                <a:cs typeface="Calibri"/>
              </a:rPr>
              <a:t>Milano P.za Cinque Giornate </a:t>
            </a:r>
            <a:r>
              <a:rPr lang="it-IT" sz="2400" dirty="0">
                <a:solidFill>
                  <a:schemeClr val="tx1"/>
                </a:solidFill>
                <a:latin typeface="Calibri"/>
                <a:cs typeface="Calibri"/>
              </a:rPr>
              <a:t>-</a:t>
            </a:r>
            <a:r>
              <a:rPr lang="it-IT" sz="2400" dirty="0">
                <a:solidFill>
                  <a:srgbClr val="1A63A2"/>
                </a:solidFill>
                <a:latin typeface="Calibri"/>
                <a:cs typeface="Calibri"/>
              </a:rPr>
              <a:t> Linate Aeroporto </a:t>
            </a:r>
            <a:r>
              <a:rPr lang="it-IT" sz="2400" dirty="0">
                <a:solidFill>
                  <a:schemeClr val="tx1"/>
                </a:solidFill>
                <a:latin typeface="Calibri"/>
                <a:cs typeface="Calibri"/>
              </a:rPr>
              <a:t>-</a:t>
            </a:r>
            <a:r>
              <a:rPr lang="it-IT" sz="2400" dirty="0">
                <a:solidFill>
                  <a:srgbClr val="1A63A2"/>
                </a:solidFill>
                <a:latin typeface="Calibri"/>
                <a:cs typeface="Calibri"/>
              </a:rPr>
              <a:t> San Felicino</a:t>
            </a:r>
            <a:r>
              <a:rPr lang="it-IT" sz="2400" dirty="0">
                <a:latin typeface="Calibri"/>
                <a:cs typeface="Calibri"/>
              </a:rPr>
              <a:t>) sostituisce la vecchia linea 73, ed è stata scelta perché presenta caratteristiche ideali per il WPT, principalmente grazie a ampie porzioni del percorso su corsie preferenziali che garantiscono regolarità del moto e facilità di allineamento ai </a:t>
            </a:r>
            <a:r>
              <a:rPr lang="it-IT" sz="2400" dirty="0" err="1">
                <a:latin typeface="Calibri"/>
                <a:cs typeface="Calibri"/>
              </a:rPr>
              <a:t>pad</a:t>
            </a:r>
            <a:r>
              <a:rPr lang="it-IT" sz="2400" dirty="0">
                <a:latin typeface="Calibri"/>
                <a:cs typeface="Calibri"/>
              </a:rPr>
              <a:t> nei capolinea.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37627165-E109-4E41-9A70-272F3CA12F3A}"/>
              </a:ext>
            </a:extLst>
          </p:cNvPr>
          <p:cNvSpPr/>
          <p:nvPr/>
        </p:nvSpPr>
        <p:spPr>
          <a:xfrm>
            <a:off x="953127" y="3827123"/>
            <a:ext cx="45719" cy="2088548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95FC70A-56B0-4535-8788-70553DACE0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90" b="3104"/>
          <a:stretch/>
        </p:blipFill>
        <p:spPr>
          <a:xfrm>
            <a:off x="3667726" y="6019800"/>
            <a:ext cx="10139748" cy="3380729"/>
          </a:xfrm>
          <a:prstGeom prst="rect">
            <a:avLst/>
          </a:prstGeom>
          <a:effectLst>
            <a:softEdge rad="254000"/>
          </a:effectLst>
        </p:spPr>
      </p:pic>
    </p:spTree>
    <p:extLst>
      <p:ext uri="{BB962C8B-B14F-4D97-AF65-F5344CB8AC3E}">
        <p14:creationId xmlns:p14="http://schemas.microsoft.com/office/powerpoint/2010/main" val="136650714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600" y="3975100"/>
            <a:ext cx="2286000" cy="2273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9100" y="4902200"/>
            <a:ext cx="889000" cy="406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88000" y="3975100"/>
            <a:ext cx="2286000" cy="2273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05800" y="4902200"/>
            <a:ext cx="889000" cy="406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39300" y="3975100"/>
            <a:ext cx="2286000" cy="2273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369800" y="4902200"/>
            <a:ext cx="889000" cy="4064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703300" y="3962400"/>
            <a:ext cx="2286000" cy="2286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70001" y="1691321"/>
            <a:ext cx="15392399" cy="128047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10795" algn="just">
              <a:lnSpc>
                <a:spcPts val="3200"/>
              </a:lnSpc>
              <a:spcBef>
                <a:spcPts val="385"/>
              </a:spcBef>
            </a:pPr>
            <a:r>
              <a:rPr sz="2850" dirty="0">
                <a:latin typeface="Calibri"/>
                <a:cs typeface="Calibri"/>
              </a:rPr>
              <a:t>Per</a:t>
            </a:r>
            <a:r>
              <a:rPr sz="2850" spc="-165" dirty="0">
                <a:latin typeface="Calibri"/>
                <a:cs typeface="Calibri"/>
              </a:rPr>
              <a:t> </a:t>
            </a:r>
            <a:r>
              <a:rPr sz="2850" spc="-55" dirty="0">
                <a:latin typeface="Calibri"/>
                <a:cs typeface="Calibri"/>
              </a:rPr>
              <a:t>garantire</a:t>
            </a:r>
            <a:r>
              <a:rPr sz="2850" spc="-105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la</a:t>
            </a:r>
            <a:r>
              <a:rPr sz="2850" spc="-165" dirty="0">
                <a:latin typeface="Calibri"/>
                <a:cs typeface="Calibri"/>
              </a:rPr>
              <a:t> </a:t>
            </a:r>
            <a:r>
              <a:rPr sz="2850" spc="-45" dirty="0" err="1">
                <a:latin typeface="Calibri"/>
                <a:cs typeface="Calibri"/>
              </a:rPr>
              <a:t>massima</a:t>
            </a:r>
            <a:r>
              <a:rPr sz="2850" spc="-75" dirty="0">
                <a:latin typeface="Calibri"/>
                <a:cs typeface="Calibri"/>
              </a:rPr>
              <a:t> </a:t>
            </a:r>
            <a:r>
              <a:rPr sz="2850" spc="-45" dirty="0" err="1">
                <a:latin typeface="Calibri"/>
                <a:cs typeface="Calibri"/>
              </a:rPr>
              <a:t>accuratezza</a:t>
            </a:r>
            <a:r>
              <a:rPr lang="it-IT" sz="2850" spc="-45" dirty="0">
                <a:latin typeface="Calibri"/>
                <a:cs typeface="Calibri"/>
              </a:rPr>
              <a:t> è stato </a:t>
            </a:r>
            <a:r>
              <a:rPr sz="2850" spc="-35" dirty="0" err="1">
                <a:latin typeface="Calibri"/>
                <a:cs typeface="Calibri"/>
              </a:rPr>
              <a:t>costruito</a:t>
            </a:r>
            <a:r>
              <a:rPr sz="2850" spc="-50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un</a:t>
            </a:r>
            <a:r>
              <a:rPr sz="2850" spc="-135" dirty="0">
                <a:latin typeface="Calibri"/>
                <a:cs typeface="Calibri"/>
              </a:rPr>
              <a:t> </a:t>
            </a:r>
            <a:r>
              <a:rPr sz="2850" spc="-55" dirty="0">
                <a:latin typeface="Calibri"/>
                <a:cs typeface="Calibri"/>
              </a:rPr>
              <a:t>modello</a:t>
            </a:r>
            <a:r>
              <a:rPr sz="2850" spc="-65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digitale </a:t>
            </a:r>
            <a:r>
              <a:rPr sz="2850" dirty="0">
                <a:latin typeface="Calibri"/>
                <a:cs typeface="Calibri"/>
              </a:rPr>
              <a:t>completo</a:t>
            </a:r>
            <a:r>
              <a:rPr sz="2850" spc="395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della</a:t>
            </a:r>
            <a:r>
              <a:rPr sz="2850" spc="375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linea</a:t>
            </a:r>
            <a:r>
              <a:rPr sz="2850" spc="360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973</a:t>
            </a:r>
            <a:r>
              <a:rPr sz="2850" spc="295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in</a:t>
            </a:r>
            <a:r>
              <a:rPr sz="2850" spc="300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ambiente</a:t>
            </a:r>
            <a:r>
              <a:rPr sz="2850" spc="434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MATLAB,</a:t>
            </a:r>
            <a:r>
              <a:rPr sz="2850" spc="330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basato</a:t>
            </a:r>
            <a:r>
              <a:rPr sz="2850" spc="465" dirty="0"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su</a:t>
            </a:r>
            <a:r>
              <a:rPr sz="2850" spc="305" dirty="0">
                <a:latin typeface="Calibri"/>
                <a:cs typeface="Calibri"/>
              </a:rPr>
              <a:t> </a:t>
            </a:r>
            <a:r>
              <a:rPr sz="2850" dirty="0" err="1">
                <a:latin typeface="Calibri"/>
                <a:cs typeface="Calibri"/>
              </a:rPr>
              <a:t>dati</a:t>
            </a:r>
            <a:r>
              <a:rPr sz="2850" spc="335" dirty="0">
                <a:latin typeface="Calibri"/>
                <a:cs typeface="Calibri"/>
              </a:rPr>
              <a:t> </a:t>
            </a:r>
            <a:r>
              <a:rPr sz="2850" dirty="0" err="1">
                <a:latin typeface="Calibri"/>
                <a:cs typeface="Calibri"/>
              </a:rPr>
              <a:t>cinematici</a:t>
            </a:r>
            <a:r>
              <a:rPr lang="it-IT" sz="2850" spc="420" dirty="0">
                <a:latin typeface="Calibri"/>
                <a:cs typeface="Calibri"/>
              </a:rPr>
              <a:t> </a:t>
            </a:r>
            <a:r>
              <a:rPr sz="2850" spc="-30" dirty="0" err="1">
                <a:latin typeface="Calibri"/>
                <a:cs typeface="Calibri"/>
              </a:rPr>
              <a:t>raccolti</a:t>
            </a:r>
            <a:r>
              <a:rPr sz="2850" spc="-50" dirty="0">
                <a:latin typeface="Calibri"/>
                <a:cs typeface="Calibri"/>
              </a:rPr>
              <a:t> </a:t>
            </a:r>
            <a:r>
              <a:rPr sz="2850" spc="-90" dirty="0">
                <a:latin typeface="Calibri"/>
                <a:cs typeface="Calibri"/>
              </a:rPr>
              <a:t>direttamente</a:t>
            </a:r>
            <a:r>
              <a:rPr sz="2850" spc="35" dirty="0">
                <a:latin typeface="Calibri"/>
                <a:cs typeface="Calibri"/>
              </a:rPr>
              <a:t> </a:t>
            </a:r>
            <a:r>
              <a:rPr sz="2850" dirty="0" err="1">
                <a:latin typeface="Calibri"/>
                <a:cs typeface="Calibri"/>
              </a:rPr>
              <a:t>sul</a:t>
            </a:r>
            <a:r>
              <a:rPr sz="2850" spc="-165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campo</a:t>
            </a:r>
            <a:r>
              <a:rPr lang="it-IT" sz="2850" spc="-10" dirty="0">
                <a:latin typeface="Calibri"/>
                <a:cs typeface="Calibri"/>
              </a:rPr>
              <a:t> e alcuni parametri medi ricavati dalla letteratura già esistente per modellare il veicolo e la sua dinamica.</a:t>
            </a:r>
            <a:endParaRPr sz="285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1499" y="6496050"/>
            <a:ext cx="3129915" cy="764312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95910" marR="255904" algn="ctr">
              <a:lnSpc>
                <a:spcPts val="2800"/>
              </a:lnSpc>
              <a:spcBef>
                <a:spcPts val="360"/>
              </a:spcBef>
            </a:pPr>
            <a:r>
              <a:rPr sz="2500" b="1" spc="215" dirty="0">
                <a:latin typeface="Calibri"/>
                <a:cs typeface="Calibri"/>
              </a:rPr>
              <a:t>Raccolta</a:t>
            </a:r>
            <a:r>
              <a:rPr sz="2500" b="1" spc="140" dirty="0">
                <a:latin typeface="Calibri"/>
                <a:cs typeface="Calibri"/>
              </a:rPr>
              <a:t> </a:t>
            </a:r>
            <a:r>
              <a:rPr sz="2500" b="1" spc="220" dirty="0">
                <a:latin typeface="Calibri"/>
                <a:cs typeface="Calibri"/>
              </a:rPr>
              <a:t>Dati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b="1" spc="185" dirty="0" err="1">
                <a:latin typeface="Calibri"/>
                <a:cs typeface="Calibri"/>
              </a:rPr>
              <a:t>sul</a:t>
            </a:r>
            <a:r>
              <a:rPr sz="2500" b="1" spc="185" dirty="0">
                <a:latin typeface="Calibri"/>
                <a:cs typeface="Calibri"/>
              </a:rPr>
              <a:t> </a:t>
            </a:r>
            <a:r>
              <a:rPr sz="2500" b="1" spc="270" dirty="0">
                <a:latin typeface="Calibri"/>
                <a:cs typeface="Calibri"/>
              </a:rPr>
              <a:t>Campo</a:t>
            </a:r>
            <a:endParaRPr sz="2500" b="1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76299" y="6362357"/>
            <a:ext cx="3099435" cy="534762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sz="2600" b="1" spc="130" dirty="0" err="1">
                <a:latin typeface="Calibri"/>
                <a:cs typeface="Calibri"/>
              </a:rPr>
              <a:t>Elaborazione</a:t>
            </a:r>
            <a:r>
              <a:rPr sz="2600" b="1" spc="170" dirty="0">
                <a:latin typeface="Calibri"/>
                <a:cs typeface="Calibri"/>
              </a:rPr>
              <a:t> </a:t>
            </a:r>
            <a:r>
              <a:rPr sz="2600" b="1" spc="155" dirty="0" err="1">
                <a:latin typeface="Calibri"/>
                <a:cs typeface="Calibri"/>
              </a:rPr>
              <a:t>Dati</a:t>
            </a:r>
            <a:endParaRPr sz="2600" b="1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30784" y="6404263"/>
            <a:ext cx="3284854" cy="51167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2600" b="1" spc="130" dirty="0" err="1">
                <a:latin typeface="Calibri"/>
                <a:cs typeface="Calibri"/>
              </a:rPr>
              <a:t>Modello</a:t>
            </a:r>
            <a:r>
              <a:rPr sz="2600" b="1" spc="130" dirty="0">
                <a:latin typeface="Calibri"/>
                <a:cs typeface="Calibri"/>
              </a:rPr>
              <a:t> </a:t>
            </a:r>
            <a:r>
              <a:rPr sz="2600" b="1" spc="130" dirty="0" err="1">
                <a:latin typeface="Calibri"/>
                <a:cs typeface="Calibri"/>
              </a:rPr>
              <a:t>Energetico</a:t>
            </a:r>
            <a:endParaRPr sz="2600" b="1" spc="13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2637" y="6502400"/>
            <a:ext cx="3100705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869"/>
              </a:spcBef>
            </a:pPr>
            <a:r>
              <a:rPr sz="2600" b="1" spc="130" dirty="0" err="1">
                <a:latin typeface="Calibri"/>
                <a:cs typeface="Calibri"/>
              </a:rPr>
              <a:t>Simulazione</a:t>
            </a:r>
            <a:r>
              <a:rPr sz="2600" b="1" spc="130" dirty="0">
                <a:latin typeface="Calibri"/>
                <a:cs typeface="Calibri"/>
              </a:rPr>
              <a:t> </a:t>
            </a:r>
            <a:r>
              <a:rPr sz="2600" b="1" spc="130" dirty="0" err="1">
                <a:latin typeface="Calibri"/>
                <a:cs typeface="Calibri"/>
              </a:rPr>
              <a:t>Scenari</a:t>
            </a:r>
            <a:r>
              <a:rPr lang="it-IT" sz="2600" b="1" spc="130" dirty="0">
                <a:latin typeface="Calibri"/>
                <a:cs typeface="Calibri"/>
              </a:rPr>
              <a:t> WPT</a:t>
            </a:r>
            <a:endParaRPr sz="2600" b="1" spc="130" dirty="0">
              <a:latin typeface="Calibri"/>
              <a:cs typeface="Calibri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DDB4A55B-1735-4F57-9B5B-B77331538059}"/>
              </a:ext>
            </a:extLst>
          </p:cNvPr>
          <p:cNvSpPr txBox="1">
            <a:spLocks/>
          </p:cNvSpPr>
          <p:nvPr/>
        </p:nvSpPr>
        <p:spPr>
          <a:xfrm>
            <a:off x="1270001" y="872594"/>
            <a:ext cx="14399274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Approccio</a:t>
            </a:r>
            <a:endParaRPr lang="it-IT" sz="3850" dirty="0"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F113988A-E3C3-47EE-9271-32677EFEF36C}"/>
              </a:ext>
            </a:extLst>
          </p:cNvPr>
          <p:cNvSpPr/>
          <p:nvPr/>
        </p:nvSpPr>
        <p:spPr>
          <a:xfrm>
            <a:off x="948683" y="1008062"/>
            <a:ext cx="112816" cy="1962150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F99E6844-2DFC-43CF-9A2B-8815DBDB99E7}"/>
              </a:ext>
            </a:extLst>
          </p:cNvPr>
          <p:cNvSpPr txBox="1"/>
          <p:nvPr/>
        </p:nvSpPr>
        <p:spPr>
          <a:xfrm>
            <a:off x="1054572" y="7700665"/>
            <a:ext cx="3129915" cy="666016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ctr">
              <a:lnSpc>
                <a:spcPts val="2400"/>
              </a:lnSpc>
              <a:spcBef>
                <a:spcPts val="919"/>
              </a:spcBef>
            </a:pPr>
            <a:r>
              <a:rPr sz="2400" spc="-85" dirty="0" err="1">
                <a:latin typeface="Calibri"/>
                <a:cs typeface="Calibri"/>
              </a:rPr>
              <a:t>Acquisizione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dati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20" dirty="0" err="1">
                <a:latin typeface="Calibri"/>
                <a:cs typeface="Calibri"/>
              </a:rPr>
              <a:t>cinematici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con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25" dirty="0">
                <a:latin typeface="Calibri"/>
                <a:cs typeface="Calibri"/>
              </a:rPr>
              <a:t>frequenza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fino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20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Hz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37D51B1D-1D1E-40E8-86D8-25EF872C8F6F}"/>
              </a:ext>
            </a:extLst>
          </p:cNvPr>
          <p:cNvSpPr txBox="1"/>
          <p:nvPr/>
        </p:nvSpPr>
        <p:spPr>
          <a:xfrm>
            <a:off x="5210935" y="7546776"/>
            <a:ext cx="3129915" cy="973793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065" marR="5080" algn="ctr">
              <a:lnSpc>
                <a:spcPts val="2400"/>
              </a:lnSpc>
              <a:spcBef>
                <a:spcPts val="1360"/>
              </a:spcBef>
            </a:pPr>
            <a:r>
              <a:rPr lang="it-IT" sz="2400" spc="-105" dirty="0">
                <a:latin typeface="Calibri"/>
                <a:cs typeface="Calibri"/>
              </a:rPr>
              <a:t>Algoritmi</a:t>
            </a:r>
            <a:r>
              <a:rPr lang="it-IT" sz="2400" spc="-5" dirty="0">
                <a:latin typeface="Calibri"/>
                <a:cs typeface="Calibri"/>
              </a:rPr>
              <a:t> </a:t>
            </a:r>
            <a:r>
              <a:rPr lang="it-IT" sz="2400" spc="-145" dirty="0">
                <a:latin typeface="Calibri"/>
                <a:cs typeface="Calibri"/>
              </a:rPr>
              <a:t>per</a:t>
            </a:r>
            <a:r>
              <a:rPr lang="it-IT" sz="2400" spc="-50" dirty="0">
                <a:latin typeface="Calibri"/>
                <a:cs typeface="Calibri"/>
              </a:rPr>
              <a:t> </a:t>
            </a:r>
            <a:r>
              <a:rPr lang="it-IT" sz="2400" spc="-105" dirty="0">
                <a:latin typeface="Calibri"/>
                <a:cs typeface="Calibri"/>
              </a:rPr>
              <a:t>identificare</a:t>
            </a:r>
            <a:r>
              <a:rPr lang="it-IT" sz="2400" spc="95" dirty="0">
                <a:latin typeface="Calibri"/>
                <a:cs typeface="Calibri"/>
              </a:rPr>
              <a:t> </a:t>
            </a:r>
            <a:r>
              <a:rPr lang="it-IT" sz="2400" spc="-35" dirty="0">
                <a:latin typeface="Calibri"/>
                <a:cs typeface="Calibri"/>
              </a:rPr>
              <a:t>le </a:t>
            </a:r>
            <a:r>
              <a:rPr lang="it-IT" sz="2400" spc="-114" dirty="0">
                <a:latin typeface="Calibri"/>
                <a:cs typeface="Calibri"/>
              </a:rPr>
              <a:t>soste</a:t>
            </a:r>
            <a:r>
              <a:rPr lang="it-IT" sz="2400" spc="-20" dirty="0">
                <a:latin typeface="Calibri"/>
                <a:cs typeface="Calibri"/>
              </a:rPr>
              <a:t> </a:t>
            </a:r>
            <a:r>
              <a:rPr lang="it-IT" sz="2400" spc="-90" dirty="0">
                <a:latin typeface="Calibri"/>
                <a:cs typeface="Calibri"/>
              </a:rPr>
              <a:t>reali</a:t>
            </a:r>
            <a:r>
              <a:rPr lang="it-IT" sz="2400" spc="-45" dirty="0">
                <a:latin typeface="Calibri"/>
                <a:cs typeface="Calibri"/>
              </a:rPr>
              <a:t> </a:t>
            </a:r>
            <a:r>
              <a:rPr lang="it-IT" sz="2400" spc="-120" dirty="0">
                <a:latin typeface="Calibri"/>
                <a:cs typeface="Calibri"/>
              </a:rPr>
              <a:t>e</a:t>
            </a:r>
            <a:r>
              <a:rPr lang="it-IT" sz="2400" spc="-30" dirty="0">
                <a:latin typeface="Calibri"/>
                <a:cs typeface="Calibri"/>
              </a:rPr>
              <a:t> </a:t>
            </a:r>
            <a:r>
              <a:rPr lang="it-IT" sz="2400" spc="-105" dirty="0">
                <a:latin typeface="Calibri"/>
                <a:cs typeface="Calibri"/>
              </a:rPr>
              <a:t>calcolare</a:t>
            </a:r>
            <a:r>
              <a:rPr lang="it-IT" sz="2400" spc="5" dirty="0">
                <a:latin typeface="Calibri"/>
                <a:cs typeface="Calibri"/>
              </a:rPr>
              <a:t> </a:t>
            </a:r>
            <a:r>
              <a:rPr lang="it-IT" sz="2400" spc="-50" dirty="0">
                <a:solidFill>
                  <a:srgbClr val="161616"/>
                </a:solidFill>
                <a:latin typeface="Calibri"/>
                <a:cs typeface="Calibri"/>
              </a:rPr>
              <a:t>i </a:t>
            </a:r>
            <a:r>
              <a:rPr lang="it-IT" sz="2400" spc="-175" dirty="0">
                <a:latin typeface="Calibri"/>
                <a:cs typeface="Calibri"/>
              </a:rPr>
              <a:t>tempi</a:t>
            </a:r>
            <a:r>
              <a:rPr lang="it-IT" sz="2400" spc="40" dirty="0">
                <a:latin typeface="Calibri"/>
                <a:cs typeface="Calibri"/>
              </a:rPr>
              <a:t> </a:t>
            </a:r>
            <a:r>
              <a:rPr lang="it-IT" sz="2400" spc="-20" dirty="0">
                <a:latin typeface="Calibri"/>
                <a:cs typeface="Calibri"/>
              </a:rPr>
              <a:t>medi</a:t>
            </a:r>
            <a:endParaRPr lang="it-IT" sz="2400" dirty="0">
              <a:latin typeface="Calibri"/>
              <a:cs typeface="Calibri"/>
            </a:endParaRPr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A09F1E2B-2575-458D-AF73-8F987965C4C4}"/>
              </a:ext>
            </a:extLst>
          </p:cNvPr>
          <p:cNvSpPr txBox="1"/>
          <p:nvPr/>
        </p:nvSpPr>
        <p:spPr>
          <a:xfrm>
            <a:off x="9321117" y="7239000"/>
            <a:ext cx="3129915" cy="1589346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065" marR="5080" algn="ctr">
              <a:lnSpc>
                <a:spcPts val="2400"/>
              </a:lnSpc>
              <a:spcBef>
                <a:spcPts val="1360"/>
              </a:spcBef>
            </a:pPr>
            <a:r>
              <a:rPr lang="it-IT" sz="2400" spc="-105" dirty="0">
                <a:latin typeface="Calibri"/>
                <a:cs typeface="Calibri"/>
              </a:rPr>
              <a:t>Calcolo del consumo energetico istantaneo basato sulle caratteristiche del veicolo e del modello dinamico</a:t>
            </a:r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E54B1B61-5E44-469F-81AD-E7BF6DBDA25D}"/>
              </a:ext>
            </a:extLst>
          </p:cNvPr>
          <p:cNvSpPr txBox="1"/>
          <p:nvPr/>
        </p:nvSpPr>
        <p:spPr>
          <a:xfrm>
            <a:off x="13431299" y="7421494"/>
            <a:ext cx="3129915" cy="128156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18135" marR="304165" indent="-635" algn="ctr">
              <a:lnSpc>
                <a:spcPts val="2400"/>
              </a:lnSpc>
              <a:spcBef>
                <a:spcPts val="1019"/>
              </a:spcBef>
            </a:pPr>
            <a:r>
              <a:rPr lang="it-IT" sz="2400" spc="-65" dirty="0">
                <a:latin typeface="Calibri"/>
                <a:cs typeface="Calibri"/>
              </a:rPr>
              <a:t>Verifica</a:t>
            </a:r>
            <a:r>
              <a:rPr lang="it-IT" sz="2400" spc="-15" dirty="0">
                <a:latin typeface="Calibri"/>
                <a:cs typeface="Calibri"/>
              </a:rPr>
              <a:t> </a:t>
            </a:r>
            <a:r>
              <a:rPr lang="it-IT" sz="2400" spc="-40" dirty="0">
                <a:latin typeface="Calibri"/>
                <a:cs typeface="Calibri"/>
              </a:rPr>
              <a:t>del</a:t>
            </a:r>
            <a:r>
              <a:rPr lang="it-IT" sz="2400" spc="-60" dirty="0">
                <a:latin typeface="Calibri"/>
                <a:cs typeface="Calibri"/>
              </a:rPr>
              <a:t> </a:t>
            </a:r>
            <a:r>
              <a:rPr lang="it-IT" sz="2400" spc="-10" dirty="0">
                <a:latin typeface="Calibri"/>
                <a:cs typeface="Calibri"/>
              </a:rPr>
              <a:t>bilancio </a:t>
            </a:r>
            <a:r>
              <a:rPr lang="it-IT" sz="2400" spc="-70" dirty="0">
                <a:latin typeface="Calibri"/>
                <a:cs typeface="Calibri"/>
              </a:rPr>
              <a:t>energetico</a:t>
            </a:r>
            <a:r>
              <a:rPr lang="it-IT" sz="2400" spc="-30" dirty="0">
                <a:latin typeface="Calibri"/>
                <a:cs typeface="Calibri"/>
              </a:rPr>
              <a:t> </a:t>
            </a:r>
            <a:r>
              <a:rPr lang="it-IT" sz="2400" spc="-20" dirty="0">
                <a:latin typeface="Calibri"/>
                <a:cs typeface="Calibri"/>
              </a:rPr>
              <a:t>con</a:t>
            </a:r>
            <a:r>
              <a:rPr lang="it-IT" sz="2400" spc="-110" dirty="0">
                <a:latin typeface="Calibri"/>
                <a:cs typeface="Calibri"/>
              </a:rPr>
              <a:t> </a:t>
            </a:r>
            <a:r>
              <a:rPr lang="it-IT" sz="2400" spc="-55" dirty="0">
                <a:latin typeface="Calibri"/>
                <a:cs typeface="Calibri"/>
              </a:rPr>
              <a:t>diversi </a:t>
            </a:r>
            <a:r>
              <a:rPr lang="it-IT" sz="2400" spc="-65" dirty="0">
                <a:latin typeface="Calibri"/>
                <a:cs typeface="Calibri"/>
              </a:rPr>
              <a:t>scenari</a:t>
            </a:r>
            <a:r>
              <a:rPr lang="it-IT" sz="2400" spc="-10" dirty="0">
                <a:latin typeface="Calibri"/>
                <a:cs typeface="Calibri"/>
              </a:rPr>
              <a:t> di</a:t>
            </a:r>
            <a:r>
              <a:rPr lang="it-IT" sz="2400" spc="-120" dirty="0">
                <a:latin typeface="Calibri"/>
                <a:cs typeface="Calibri"/>
              </a:rPr>
              <a:t> </a:t>
            </a:r>
            <a:r>
              <a:rPr lang="it-IT" sz="2400" spc="-10" dirty="0">
                <a:latin typeface="Calibri"/>
                <a:cs typeface="Calibri"/>
              </a:rPr>
              <a:t>ricarica</a:t>
            </a:r>
            <a:endParaRPr lang="it-IT" sz="24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0">
            <a:extLst>
              <a:ext uri="{FF2B5EF4-FFF2-40B4-BE49-F238E27FC236}">
                <a16:creationId xmlns:a16="http://schemas.microsoft.com/office/drawing/2014/main" id="{5C45D80E-4C6C-4715-9BBE-E9FC45C4D9E5}"/>
              </a:ext>
            </a:extLst>
          </p:cNvPr>
          <p:cNvSpPr txBox="1"/>
          <p:nvPr/>
        </p:nvSpPr>
        <p:spPr>
          <a:xfrm>
            <a:off x="1270001" y="1691321"/>
            <a:ext cx="11705935" cy="2203808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10795" algn="just">
              <a:lnSpc>
                <a:spcPts val="3200"/>
              </a:lnSpc>
              <a:spcBef>
                <a:spcPts val="385"/>
              </a:spcBef>
            </a:pPr>
            <a:r>
              <a:rPr lang="it-IT" sz="2850" dirty="0">
                <a:latin typeface="Calibri"/>
                <a:cs typeface="Calibri"/>
              </a:rPr>
              <a:t>È stata condotta una campagna di acquisizione dati a bordo dei bus. Tramite l’applicazione </a:t>
            </a:r>
            <a:r>
              <a:rPr lang="it-IT" sz="2850" dirty="0" err="1">
                <a:latin typeface="Calibri"/>
                <a:cs typeface="Calibri"/>
              </a:rPr>
              <a:t>MatlabMobile</a:t>
            </a:r>
            <a:r>
              <a:rPr lang="it-IT" sz="2850" dirty="0">
                <a:latin typeface="Calibri"/>
                <a:cs typeface="Calibri"/>
              </a:rPr>
              <a:t> sono state campionate per ogni viaggio completo da capolinea a capolinea le seguenti grandezze:</a:t>
            </a:r>
          </a:p>
          <a:p>
            <a:pPr marL="12700" marR="5080" indent="10795" algn="just">
              <a:lnSpc>
                <a:spcPts val="3200"/>
              </a:lnSpc>
              <a:spcBef>
                <a:spcPts val="385"/>
              </a:spcBef>
            </a:pPr>
            <a:r>
              <a:rPr lang="it-IT" sz="2850" b="1" dirty="0">
                <a:solidFill>
                  <a:srgbClr val="1A63A2"/>
                </a:solidFill>
                <a:latin typeface="Calibri"/>
                <a:cs typeface="Calibri"/>
              </a:rPr>
              <a:t>•</a:t>
            </a:r>
            <a:r>
              <a:rPr lang="it-IT" sz="2850" dirty="0">
                <a:latin typeface="Calibri"/>
                <a:cs typeface="Calibri"/>
              </a:rPr>
              <a:t> </a:t>
            </a:r>
            <a:r>
              <a:rPr lang="it-IT" sz="2850" dirty="0">
                <a:solidFill>
                  <a:srgbClr val="1A63A2"/>
                </a:solidFill>
                <a:latin typeface="Calibri"/>
                <a:cs typeface="Calibri"/>
              </a:rPr>
              <a:t>Velocità</a:t>
            </a:r>
            <a:r>
              <a:rPr lang="it-IT" sz="2850" dirty="0">
                <a:latin typeface="Calibri"/>
                <a:cs typeface="Calibri"/>
              </a:rPr>
              <a:t> e </a:t>
            </a:r>
            <a:r>
              <a:rPr lang="it-IT" sz="2850" dirty="0">
                <a:solidFill>
                  <a:srgbClr val="1A63A2"/>
                </a:solidFill>
                <a:latin typeface="Calibri"/>
                <a:cs typeface="Calibri"/>
              </a:rPr>
              <a:t>Posizione</a:t>
            </a:r>
            <a:r>
              <a:rPr lang="it-IT" sz="2850" dirty="0">
                <a:latin typeface="Calibri"/>
                <a:cs typeface="Calibri"/>
              </a:rPr>
              <a:t> (da GPS): </a:t>
            </a:r>
            <a:r>
              <a:rPr lang="it-IT" sz="2850" dirty="0" err="1">
                <a:latin typeface="Calibri"/>
                <a:cs typeface="Calibri"/>
              </a:rPr>
              <a:t>fs</a:t>
            </a:r>
            <a:r>
              <a:rPr lang="it-IT" sz="2850" dirty="0">
                <a:latin typeface="Calibri"/>
                <a:cs typeface="Calibri"/>
              </a:rPr>
              <a:t> = 1 Hz.</a:t>
            </a:r>
          </a:p>
          <a:p>
            <a:pPr marL="12700" marR="5080" indent="10795" algn="just">
              <a:lnSpc>
                <a:spcPts val="3200"/>
              </a:lnSpc>
              <a:spcBef>
                <a:spcPts val="385"/>
              </a:spcBef>
            </a:pPr>
            <a:r>
              <a:rPr lang="it-IT" sz="2850" b="1" dirty="0">
                <a:solidFill>
                  <a:srgbClr val="1A63A2"/>
                </a:solidFill>
                <a:latin typeface="Calibri"/>
                <a:cs typeface="Calibri"/>
              </a:rPr>
              <a:t>•</a:t>
            </a:r>
            <a:r>
              <a:rPr lang="it-IT" sz="2850" dirty="0">
                <a:latin typeface="Calibri"/>
                <a:cs typeface="Calibri"/>
              </a:rPr>
              <a:t> </a:t>
            </a:r>
            <a:r>
              <a:rPr lang="it-IT" sz="2850" dirty="0">
                <a:solidFill>
                  <a:srgbClr val="1A63A2"/>
                </a:solidFill>
                <a:latin typeface="Calibri"/>
                <a:cs typeface="Calibri"/>
              </a:rPr>
              <a:t>Accelerazione</a:t>
            </a:r>
            <a:r>
              <a:rPr lang="it-IT" sz="2850" dirty="0">
                <a:latin typeface="Calibri"/>
                <a:cs typeface="Calibri"/>
              </a:rPr>
              <a:t> (da accelerometro): </a:t>
            </a:r>
            <a:r>
              <a:rPr lang="it-IT" sz="2850" dirty="0" err="1">
                <a:latin typeface="Calibri"/>
                <a:cs typeface="Calibri"/>
              </a:rPr>
              <a:t>fs</a:t>
            </a:r>
            <a:r>
              <a:rPr lang="it-IT" sz="2850" dirty="0">
                <a:latin typeface="Calibri"/>
                <a:cs typeface="Calibri"/>
              </a:rPr>
              <a:t> = 20 Hz.</a:t>
            </a: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7EF9A695-ACF3-4000-AC94-73144E98EDB5}"/>
              </a:ext>
            </a:extLst>
          </p:cNvPr>
          <p:cNvSpPr txBox="1">
            <a:spLocks/>
          </p:cNvSpPr>
          <p:nvPr/>
        </p:nvSpPr>
        <p:spPr>
          <a:xfrm>
            <a:off x="1270001" y="872594"/>
            <a:ext cx="14399274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Raccolta dati</a:t>
            </a:r>
            <a:endParaRPr lang="it-IT" sz="3850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D7B77138-FD9D-4F2A-8B64-3BCD2BFABF17}"/>
              </a:ext>
            </a:extLst>
          </p:cNvPr>
          <p:cNvSpPr/>
          <p:nvPr/>
        </p:nvSpPr>
        <p:spPr>
          <a:xfrm>
            <a:off x="916238" y="1008062"/>
            <a:ext cx="201362" cy="3335338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D91E6B8-DFFB-4543-9648-42CADB7241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81" r="8982"/>
          <a:stretch/>
        </p:blipFill>
        <p:spPr>
          <a:xfrm>
            <a:off x="13309600" y="1169203"/>
            <a:ext cx="3886201" cy="2505075"/>
          </a:xfrm>
          <a:prstGeom prst="rect">
            <a:avLst/>
          </a:prstGeom>
          <a:effectLst>
            <a:softEdge rad="241300"/>
          </a:effectLst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2A686B7-73C9-41D3-85C7-7AA0912024E0}"/>
              </a:ext>
            </a:extLst>
          </p:cNvPr>
          <p:cNvSpPr txBox="1"/>
          <p:nvPr/>
        </p:nvSpPr>
        <p:spPr>
          <a:xfrm>
            <a:off x="1193801" y="3944699"/>
            <a:ext cx="15697199" cy="779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lvl="0" indent="10795" algn="just" defTabSz="914400" eaLnBrk="1" fontAlgn="auto" latinLnBrk="0" hangingPunct="1">
              <a:lnSpc>
                <a:spcPts val="32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50" dirty="0">
                <a:latin typeface="Calibri"/>
                <a:cs typeface="Calibri"/>
              </a:rPr>
              <a:t>I dati sono stati presi in diverse fasce orarie per coprire varie condizioni di traffico e affollamento.</a:t>
            </a:r>
          </a:p>
          <a:p>
            <a:endParaRPr lang="it-IT"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F615019A-506F-4402-83D3-0497C058A4E5}"/>
              </a:ext>
            </a:extLst>
          </p:cNvPr>
          <p:cNvSpPr txBox="1"/>
          <p:nvPr/>
        </p:nvSpPr>
        <p:spPr>
          <a:xfrm>
            <a:off x="1242763" y="5695527"/>
            <a:ext cx="15343437" cy="459741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10795" algn="just">
              <a:lnSpc>
                <a:spcPts val="3200"/>
              </a:lnSpc>
              <a:spcBef>
                <a:spcPts val="385"/>
              </a:spcBef>
            </a:pPr>
            <a:r>
              <a:rPr lang="it-IT" sz="2850" dirty="0">
                <a:latin typeface="Calibri"/>
                <a:cs typeface="Calibri"/>
              </a:rPr>
              <a:t>L’analisi tecnica dei dati si è articolata in due fasi: 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0B969F2A-83DF-4159-916C-F7A50F30B071}"/>
              </a:ext>
            </a:extLst>
          </p:cNvPr>
          <p:cNvSpPr txBox="1">
            <a:spLocks/>
          </p:cNvSpPr>
          <p:nvPr/>
        </p:nvSpPr>
        <p:spPr>
          <a:xfrm>
            <a:off x="1242763" y="4876800"/>
            <a:ext cx="14399274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Elaborazione dati</a:t>
            </a:r>
            <a:endParaRPr lang="it-IT" sz="3850" dirty="0"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B53124D5-C5A0-4EEE-9D9F-1EC89D0D8301}"/>
              </a:ext>
            </a:extLst>
          </p:cNvPr>
          <p:cNvSpPr/>
          <p:nvPr/>
        </p:nvSpPr>
        <p:spPr>
          <a:xfrm>
            <a:off x="916238" y="5012268"/>
            <a:ext cx="174124" cy="1143000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Elemento grafico 21" descr="Batteria in carica">
            <a:extLst>
              <a:ext uri="{FF2B5EF4-FFF2-40B4-BE49-F238E27FC236}">
                <a16:creationId xmlns:a16="http://schemas.microsoft.com/office/drawing/2014/main" id="{083BF01E-6A96-40AB-BA16-1F5D2FDF1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9201" y="7825429"/>
            <a:ext cx="1295399" cy="1295399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9F3524D-D5FB-4A8B-8513-9B84AC781475}"/>
              </a:ext>
            </a:extLst>
          </p:cNvPr>
          <p:cNvSpPr txBox="1"/>
          <p:nvPr/>
        </p:nvSpPr>
        <p:spPr>
          <a:xfrm>
            <a:off x="3726727" y="7957500"/>
            <a:ext cx="449580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50" b="1" dirty="0">
                <a:solidFill>
                  <a:srgbClr val="1A63A2"/>
                </a:solidFill>
                <a:latin typeface="Calibri"/>
                <a:cs typeface="Calibri"/>
              </a:rPr>
              <a:t>Caratterizzazione delle soste</a:t>
            </a:r>
          </a:p>
          <a:p>
            <a:r>
              <a:rPr lang="it-IT" dirty="0" err="1"/>
              <a:t>DataElaboration.m</a:t>
            </a:r>
            <a:r>
              <a:rPr lang="it-IT" dirty="0"/>
              <a:t> 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156594F-91B1-4EAC-B3FF-1C0F73295E87}"/>
              </a:ext>
            </a:extLst>
          </p:cNvPr>
          <p:cNvSpPr txBox="1"/>
          <p:nvPr/>
        </p:nvSpPr>
        <p:spPr>
          <a:xfrm>
            <a:off x="11508882" y="7957500"/>
            <a:ext cx="525780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50" b="1" dirty="0">
                <a:solidFill>
                  <a:srgbClr val="1A63A2"/>
                </a:solidFill>
                <a:latin typeface="Calibri"/>
                <a:cs typeface="Calibri"/>
              </a:rPr>
              <a:t>Modellazione energetica</a:t>
            </a:r>
          </a:p>
          <a:p>
            <a:r>
              <a:rPr lang="it-IT" dirty="0" err="1"/>
              <a:t>Energy.m</a:t>
            </a:r>
            <a:r>
              <a:rPr lang="it-IT" dirty="0"/>
              <a:t> </a:t>
            </a:r>
          </a:p>
        </p:txBody>
      </p:sp>
      <p:pic>
        <p:nvPicPr>
          <p:cNvPr id="31" name="Elemento grafico 30" descr="Freccia leggermente curva">
            <a:extLst>
              <a:ext uri="{FF2B5EF4-FFF2-40B4-BE49-F238E27FC236}">
                <a16:creationId xmlns:a16="http://schemas.microsoft.com/office/drawing/2014/main" id="{D0EF6FCD-27C1-4BFB-99A5-68EAA1F4CA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45765">
            <a:off x="9223393" y="6584002"/>
            <a:ext cx="914400" cy="914400"/>
          </a:xfrm>
          <a:prstGeom prst="rect">
            <a:avLst/>
          </a:prstGeom>
        </p:spPr>
      </p:pic>
      <p:pic>
        <p:nvPicPr>
          <p:cNvPr id="34" name="Elemento grafico 33" descr="Freccia leggermente curva">
            <a:extLst>
              <a:ext uri="{FF2B5EF4-FFF2-40B4-BE49-F238E27FC236}">
                <a16:creationId xmlns:a16="http://schemas.microsoft.com/office/drawing/2014/main" id="{F45C9AD9-1265-4989-8B1F-D855FC3CB3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54235" flipH="1">
            <a:off x="7765327" y="6581794"/>
            <a:ext cx="914400" cy="914400"/>
          </a:xfrm>
          <a:prstGeom prst="rect">
            <a:avLst/>
          </a:prstGeom>
        </p:spPr>
      </p:pic>
      <p:grpSp>
        <p:nvGrpSpPr>
          <p:cNvPr id="35" name="Gruppo 34">
            <a:extLst>
              <a:ext uri="{FF2B5EF4-FFF2-40B4-BE49-F238E27FC236}">
                <a16:creationId xmlns:a16="http://schemas.microsoft.com/office/drawing/2014/main" id="{44D093C3-98E9-4FAF-8FEB-243BEAAEA8C7}"/>
              </a:ext>
            </a:extLst>
          </p:cNvPr>
          <p:cNvGrpSpPr/>
          <p:nvPr/>
        </p:nvGrpSpPr>
        <p:grpSpPr>
          <a:xfrm>
            <a:off x="1879600" y="7357790"/>
            <a:ext cx="2062596" cy="1938610"/>
            <a:chOff x="4089400" y="6361678"/>
            <a:chExt cx="3200400" cy="2701803"/>
          </a:xfrm>
        </p:grpSpPr>
        <p:pic>
          <p:nvPicPr>
            <p:cNvPr id="36" name="Immagine 35">
              <a:extLst>
                <a:ext uri="{FF2B5EF4-FFF2-40B4-BE49-F238E27FC236}">
                  <a16:creationId xmlns:a16="http://schemas.microsoft.com/office/drawing/2014/main" id="{5534764F-542B-4F5A-B37C-D13504654C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30027" y1="35417" x2="28150" y2="39338"/>
                          <a14:foregroundMark x1="28150" y1="39338" x2="56971" y2="40196"/>
                          <a14:foregroundMark x1="56971" y1="40196" x2="66354" y2="39583"/>
                          <a14:foregroundMark x1="66354" y1="39583" x2="70107" y2="39583"/>
                          <a14:foregroundMark x1="70107" y1="39583" x2="73727" y2="38725"/>
                          <a14:foregroundMark x1="73727" y1="38725" x2="70777" y2="35907"/>
                          <a14:foregroundMark x1="70777" y1="35907" x2="35925" y2="38113"/>
                          <a14:foregroundMark x1="35925" y1="38113" x2="31635" y2="36029"/>
                          <a14:foregroundMark x1="31635" y1="36029" x2="30831" y2="35294"/>
                          <a14:backgroundMark x1="39276" y1="57721" x2="48391" y2="61765"/>
                          <a14:backgroundMark x1="48391" y1="61765" x2="49062" y2="61887"/>
                          <a14:backgroundMark x1="56702" y1="58578" x2="63405" y2="613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49" t="17949" r="15385" b="23077"/>
            <a:stretch/>
          </p:blipFill>
          <p:spPr>
            <a:xfrm>
              <a:off x="4089400" y="6361678"/>
              <a:ext cx="3200400" cy="2701803"/>
            </a:xfrm>
            <a:prstGeom prst="rect">
              <a:avLst/>
            </a:prstGeom>
          </p:spPr>
        </p:pic>
        <p:pic>
          <p:nvPicPr>
            <p:cNvPr id="37" name="Elemento grafico 36" descr="Bus">
              <a:extLst>
                <a:ext uri="{FF2B5EF4-FFF2-40B4-BE49-F238E27FC236}">
                  <a16:creationId xmlns:a16="http://schemas.microsoft.com/office/drawing/2014/main" id="{2A646CBE-771F-4773-9D74-485133926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898794" y="7163337"/>
              <a:ext cx="1562100" cy="15621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10">
            <a:extLst>
              <a:ext uri="{FF2B5EF4-FFF2-40B4-BE49-F238E27FC236}">
                <a16:creationId xmlns:a16="http://schemas.microsoft.com/office/drawing/2014/main" id="{5FD37DE1-3C6F-416D-9321-E4B7908838D3}"/>
              </a:ext>
            </a:extLst>
          </p:cNvPr>
          <p:cNvSpPr txBox="1"/>
          <p:nvPr/>
        </p:nvSpPr>
        <p:spPr>
          <a:xfrm>
            <a:off x="1246183" y="1343198"/>
            <a:ext cx="14959017" cy="125912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10795" algn="just">
              <a:lnSpc>
                <a:spcPts val="3200"/>
              </a:lnSpc>
              <a:spcBef>
                <a:spcPts val="385"/>
              </a:spcBef>
            </a:pPr>
            <a:r>
              <a:rPr lang="it-IT" sz="2400" spc="-70" dirty="0">
                <a:latin typeface="Calibri"/>
                <a:cs typeface="Calibri"/>
              </a:rPr>
              <a:t>Per determinare la finestra temporale disponibile per la ricarica, è stato sviluppato un algoritmo di stop </a:t>
            </a:r>
            <a:r>
              <a:rPr lang="it-IT" sz="2400" spc="-70" dirty="0" err="1">
                <a:latin typeface="Calibri"/>
                <a:cs typeface="Calibri"/>
              </a:rPr>
              <a:t>detection</a:t>
            </a:r>
            <a:r>
              <a:rPr lang="it-IT" sz="2400" spc="-70" dirty="0">
                <a:latin typeface="Calibri"/>
                <a:cs typeface="Calibri"/>
              </a:rPr>
              <a:t> (</a:t>
            </a:r>
            <a:r>
              <a:rPr lang="it-IT" sz="2400" spc="-70" dirty="0" err="1">
                <a:solidFill>
                  <a:srgbClr val="1A63A2"/>
                </a:solidFill>
                <a:latin typeface="Calibri"/>
                <a:cs typeface="Calibri"/>
              </a:rPr>
              <a:t>DataElaboration.m</a:t>
            </a:r>
            <a:r>
              <a:rPr lang="it-IT" sz="2400" spc="-70" dirty="0">
                <a:latin typeface="Calibri"/>
                <a:cs typeface="Calibri"/>
              </a:rPr>
              <a:t>), che</a:t>
            </a:r>
            <a:r>
              <a:rPr lang="it-IT" sz="2400" spc="-114" dirty="0">
                <a:latin typeface="Calibri"/>
                <a:cs typeface="Calibri"/>
              </a:rPr>
              <a:t> </a:t>
            </a:r>
            <a:r>
              <a:rPr lang="it-IT" sz="2400" spc="-50" dirty="0">
                <a:latin typeface="Calibri"/>
                <a:cs typeface="Calibri"/>
              </a:rPr>
              <a:t>analizza</a:t>
            </a:r>
            <a:r>
              <a:rPr lang="it-IT" sz="2400" spc="85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i</a:t>
            </a:r>
            <a:r>
              <a:rPr lang="it-IT" sz="2400" spc="-135" dirty="0">
                <a:latin typeface="Calibri"/>
                <a:cs typeface="Calibri"/>
              </a:rPr>
              <a:t> </a:t>
            </a:r>
            <a:r>
              <a:rPr lang="it-IT" sz="2400" spc="-25" dirty="0">
                <a:latin typeface="Calibri"/>
                <a:cs typeface="Calibri"/>
              </a:rPr>
              <a:t>dati</a:t>
            </a:r>
            <a:r>
              <a:rPr lang="it-IT" sz="2400" spc="-100" dirty="0">
                <a:latin typeface="Calibri"/>
                <a:cs typeface="Calibri"/>
              </a:rPr>
              <a:t> </a:t>
            </a:r>
            <a:r>
              <a:rPr lang="it-IT" sz="2400" spc="55" dirty="0">
                <a:latin typeface="Calibri"/>
                <a:cs typeface="Calibri"/>
              </a:rPr>
              <a:t>GPS</a:t>
            </a:r>
            <a:r>
              <a:rPr lang="it-IT" sz="2400" spc="-120" dirty="0">
                <a:latin typeface="Calibri"/>
                <a:cs typeface="Calibri"/>
              </a:rPr>
              <a:t> </a:t>
            </a:r>
            <a:r>
              <a:rPr lang="it-IT" sz="2400" spc="-40" dirty="0">
                <a:latin typeface="Calibri"/>
                <a:cs typeface="Calibri"/>
              </a:rPr>
              <a:t>per</a:t>
            </a:r>
            <a:r>
              <a:rPr lang="it-IT" sz="2400" spc="-125" dirty="0">
                <a:latin typeface="Calibri"/>
                <a:cs typeface="Calibri"/>
              </a:rPr>
              <a:t> </a:t>
            </a:r>
            <a:r>
              <a:rPr lang="it-IT" sz="2400" spc="-40" dirty="0">
                <a:latin typeface="Calibri"/>
                <a:cs typeface="Calibri"/>
              </a:rPr>
              <a:t>isolare</a:t>
            </a:r>
            <a:r>
              <a:rPr lang="it-IT" sz="2400" spc="-75" dirty="0">
                <a:latin typeface="Calibri"/>
                <a:cs typeface="Calibri"/>
              </a:rPr>
              <a:t> </a:t>
            </a:r>
            <a:r>
              <a:rPr lang="it-IT" sz="2400" spc="-20" dirty="0">
                <a:latin typeface="Calibri"/>
                <a:cs typeface="Calibri"/>
              </a:rPr>
              <a:t>le</a:t>
            </a:r>
            <a:r>
              <a:rPr lang="it-IT" sz="2400" spc="-140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soste</a:t>
            </a:r>
            <a:r>
              <a:rPr lang="it-IT" sz="2400" spc="-165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effettive</a:t>
            </a:r>
            <a:r>
              <a:rPr lang="it-IT" sz="2400" spc="-80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in</a:t>
            </a:r>
            <a:r>
              <a:rPr lang="it-IT" sz="2400" spc="-90" dirty="0">
                <a:latin typeface="Calibri"/>
                <a:cs typeface="Calibri"/>
              </a:rPr>
              <a:t> </a:t>
            </a:r>
            <a:r>
              <a:rPr lang="it-IT" sz="2400" spc="-85" dirty="0">
                <a:latin typeface="Calibri"/>
                <a:cs typeface="Calibri"/>
              </a:rPr>
              <a:t>fermata</a:t>
            </a:r>
            <a:r>
              <a:rPr lang="it-IT" sz="2400" spc="-15" dirty="0">
                <a:latin typeface="Calibri"/>
                <a:cs typeface="Calibri"/>
              </a:rPr>
              <a:t> </a:t>
            </a:r>
            <a:r>
              <a:rPr lang="it-IT" sz="2400" spc="-40" dirty="0">
                <a:latin typeface="Calibri"/>
                <a:cs typeface="Calibri"/>
              </a:rPr>
              <a:t>(velocità</a:t>
            </a:r>
            <a:r>
              <a:rPr lang="it-IT" sz="2400" spc="70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&lt;</a:t>
            </a:r>
            <a:r>
              <a:rPr lang="it-IT" sz="2400" spc="-70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0.3</a:t>
            </a:r>
            <a:r>
              <a:rPr lang="it-IT" sz="2400" spc="-160" dirty="0">
                <a:latin typeface="Calibri"/>
                <a:cs typeface="Calibri"/>
              </a:rPr>
              <a:t> </a:t>
            </a:r>
            <a:r>
              <a:rPr lang="it-IT" sz="2400" spc="-20" dirty="0">
                <a:latin typeface="Calibri"/>
                <a:cs typeface="Calibri"/>
              </a:rPr>
              <a:t>m/s, </a:t>
            </a:r>
            <a:r>
              <a:rPr lang="it-IT" sz="2400" dirty="0">
                <a:latin typeface="Calibri"/>
                <a:cs typeface="Calibri"/>
              </a:rPr>
              <a:t>distanza</a:t>
            </a:r>
            <a:r>
              <a:rPr lang="it-IT" sz="2400" spc="25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&lt;</a:t>
            </a:r>
            <a:r>
              <a:rPr lang="it-IT" sz="2400" spc="-30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15</a:t>
            </a:r>
            <a:r>
              <a:rPr lang="it-IT" sz="2400" spc="-165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m</a:t>
            </a:r>
            <a:r>
              <a:rPr lang="it-IT" sz="2400" spc="-150" dirty="0">
                <a:latin typeface="Calibri"/>
                <a:cs typeface="Calibri"/>
              </a:rPr>
              <a:t> </a:t>
            </a:r>
            <a:r>
              <a:rPr lang="it-IT" sz="2400" spc="-30" dirty="0">
                <a:latin typeface="Calibri"/>
                <a:cs typeface="Calibri"/>
              </a:rPr>
              <a:t>dalla</a:t>
            </a:r>
            <a:r>
              <a:rPr lang="it-IT" sz="2400" spc="-70" dirty="0">
                <a:latin typeface="Calibri"/>
                <a:cs typeface="Calibri"/>
              </a:rPr>
              <a:t> </a:t>
            </a:r>
            <a:r>
              <a:rPr lang="it-IT" sz="2400" spc="-25" dirty="0">
                <a:latin typeface="Calibri"/>
                <a:cs typeface="Calibri"/>
              </a:rPr>
              <a:t>coordinata</a:t>
            </a:r>
            <a:r>
              <a:rPr lang="it-IT" sz="2400" spc="-105" dirty="0">
                <a:latin typeface="Calibri"/>
                <a:cs typeface="Calibri"/>
              </a:rPr>
              <a:t> </a:t>
            </a:r>
            <a:r>
              <a:rPr lang="it-IT" sz="2400" spc="-25" dirty="0">
                <a:latin typeface="Calibri"/>
                <a:cs typeface="Calibri"/>
              </a:rPr>
              <a:t>ufficiale della pensilina), </a:t>
            </a:r>
            <a:r>
              <a:rPr lang="it-IT" sz="2400" spc="-15" dirty="0">
                <a:latin typeface="Calibri"/>
                <a:cs typeface="Calibri"/>
              </a:rPr>
              <a:t>escludendo</a:t>
            </a:r>
            <a:r>
              <a:rPr lang="it-IT" sz="2400" spc="40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le</a:t>
            </a:r>
            <a:r>
              <a:rPr lang="it-IT" sz="2400" spc="-114" dirty="0">
                <a:latin typeface="Calibri"/>
                <a:cs typeface="Calibri"/>
              </a:rPr>
              <a:t> </a:t>
            </a:r>
            <a:r>
              <a:rPr lang="it-IT" sz="2400" spc="-45" dirty="0">
                <a:latin typeface="Calibri"/>
                <a:cs typeface="Calibri"/>
              </a:rPr>
              <a:t>fermate</a:t>
            </a:r>
            <a:r>
              <a:rPr lang="it-IT" sz="2400" spc="-55" dirty="0">
                <a:latin typeface="Calibri"/>
                <a:cs typeface="Calibri"/>
              </a:rPr>
              <a:t> </a:t>
            </a:r>
            <a:r>
              <a:rPr lang="it-IT" sz="2400" dirty="0">
                <a:latin typeface="Calibri"/>
                <a:cs typeface="Calibri"/>
              </a:rPr>
              <a:t>per</a:t>
            </a:r>
            <a:r>
              <a:rPr lang="it-IT" sz="2400" spc="-15" dirty="0">
                <a:latin typeface="Calibri"/>
                <a:cs typeface="Calibri"/>
              </a:rPr>
              <a:t> </a:t>
            </a:r>
            <a:r>
              <a:rPr lang="it-IT" sz="2400" spc="-25" dirty="0">
                <a:latin typeface="Calibri"/>
                <a:cs typeface="Calibri"/>
              </a:rPr>
              <a:t>traffico e/o semafori.</a:t>
            </a:r>
            <a:r>
              <a:rPr lang="it-IT" sz="2400" spc="-30" dirty="0">
                <a:latin typeface="Calibri"/>
                <a:cs typeface="Calibri"/>
              </a:rPr>
              <a:t> </a:t>
            </a:r>
          </a:p>
        </p:txBody>
      </p:sp>
      <p:sp>
        <p:nvSpPr>
          <p:cNvPr id="32" name="object 10">
            <a:extLst>
              <a:ext uri="{FF2B5EF4-FFF2-40B4-BE49-F238E27FC236}">
                <a16:creationId xmlns:a16="http://schemas.microsoft.com/office/drawing/2014/main" id="{20EDE264-25AA-412E-BEF6-322B16F3E6A6}"/>
              </a:ext>
            </a:extLst>
          </p:cNvPr>
          <p:cNvSpPr txBox="1">
            <a:spLocks/>
          </p:cNvSpPr>
          <p:nvPr/>
        </p:nvSpPr>
        <p:spPr>
          <a:xfrm>
            <a:off x="1270001" y="528912"/>
            <a:ext cx="14399274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Identificazione delle pensiline </a:t>
            </a:r>
            <a:endParaRPr lang="it-IT" sz="3850" dirty="0"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0F4220C0-A1E1-427D-B41F-22AEA52A42F1}"/>
              </a:ext>
            </a:extLst>
          </p:cNvPr>
          <p:cNvSpPr/>
          <p:nvPr/>
        </p:nvSpPr>
        <p:spPr>
          <a:xfrm>
            <a:off x="1041400" y="592667"/>
            <a:ext cx="45719" cy="2009658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94BBD138-8AC4-41AC-A5BB-0E1519EA59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8"/>
          <a:stretch/>
        </p:blipFill>
        <p:spPr>
          <a:xfrm>
            <a:off x="1269261" y="3019873"/>
            <a:ext cx="10363939" cy="6581327"/>
          </a:xfrm>
          <a:prstGeom prst="rect">
            <a:avLst/>
          </a:prstGeom>
        </p:spPr>
      </p:pic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75B992B-111E-4204-8373-5F37856E71D8}"/>
              </a:ext>
            </a:extLst>
          </p:cNvPr>
          <p:cNvSpPr txBox="1"/>
          <p:nvPr/>
        </p:nvSpPr>
        <p:spPr>
          <a:xfrm>
            <a:off x="12471401" y="3809382"/>
            <a:ext cx="3732306" cy="1302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lvl="0" indent="10795" algn="just" defTabSz="914400" eaLnBrk="1" fontAlgn="auto" latinLnBrk="0" hangingPunct="1">
              <a:lnSpc>
                <a:spcPts val="32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400" spc="-30" dirty="0">
                <a:latin typeface="Calibri"/>
                <a:cs typeface="Calibri"/>
              </a:rPr>
              <a:t>Il codice è stato validato plottando su una mappa vettoriale:</a:t>
            </a: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B25D2C5C-BC15-4556-8C51-32B4D0ECDFB6}"/>
              </a:ext>
            </a:extLst>
          </p:cNvPr>
          <p:cNvSpPr/>
          <p:nvPr/>
        </p:nvSpPr>
        <p:spPr>
          <a:xfrm rot="16200000" flipH="1">
            <a:off x="14269241" y="1569241"/>
            <a:ext cx="45719" cy="3826200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6C2AFB9A-22FD-447D-9E20-D0D628F01BF3}"/>
              </a:ext>
            </a:extLst>
          </p:cNvPr>
          <p:cNvSpPr txBox="1"/>
          <p:nvPr/>
        </p:nvSpPr>
        <p:spPr>
          <a:xfrm>
            <a:off x="12471400" y="4854238"/>
            <a:ext cx="3870738" cy="135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lvl="0" indent="10795" algn="just" defTabSz="914400" eaLnBrk="1" fontAlgn="auto" latinLnBrk="0" hangingPunct="1">
              <a:lnSpc>
                <a:spcPts val="32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2400" b="1" spc="-30" dirty="0">
              <a:solidFill>
                <a:srgbClr val="1A63A2"/>
              </a:solidFill>
              <a:latin typeface="Calibri"/>
              <a:cs typeface="Calibri"/>
            </a:endParaRPr>
          </a:p>
          <a:p>
            <a:pPr marL="355600" marR="5080" lvl="0" indent="-342900" algn="just" defTabSz="914400" eaLnBrk="1" fontAlgn="auto" latinLnBrk="0" hangingPunct="1">
              <a:lnSpc>
                <a:spcPts val="32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2400" spc="-30" dirty="0">
                <a:solidFill>
                  <a:schemeClr val="tx1"/>
                </a:solidFill>
                <a:latin typeface="Calibri"/>
                <a:cs typeface="Calibri"/>
              </a:rPr>
              <a:t>il</a:t>
            </a:r>
            <a:r>
              <a:rPr lang="it-IT" sz="2400" b="1" spc="-3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lang="it-IT" sz="2400" spc="-30" dirty="0">
                <a:solidFill>
                  <a:srgbClr val="1A63A2"/>
                </a:solidFill>
                <a:latin typeface="Calibri"/>
                <a:cs typeface="Calibri"/>
              </a:rPr>
              <a:t>percorso</a:t>
            </a:r>
            <a:r>
              <a:rPr lang="it-IT" sz="2400" b="1" spc="-3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lang="it-IT" sz="2400" spc="-30" dirty="0">
                <a:solidFill>
                  <a:schemeClr val="tx1"/>
                </a:solidFill>
                <a:latin typeface="Calibri"/>
                <a:cs typeface="Calibri"/>
              </a:rPr>
              <a:t>da log GPS con relativa</a:t>
            </a:r>
            <a:r>
              <a:rPr lang="it-IT" sz="2400" b="1" spc="-3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lang="it-IT" sz="2400" spc="-30" dirty="0">
                <a:solidFill>
                  <a:srgbClr val="1A63A2"/>
                </a:solidFill>
                <a:latin typeface="Calibri"/>
                <a:cs typeface="Calibri"/>
              </a:rPr>
              <a:t>velocità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386FA83-79FC-46F4-9980-B395E57C2CDF}"/>
              </a:ext>
            </a:extLst>
          </p:cNvPr>
          <p:cNvSpPr txBox="1"/>
          <p:nvPr/>
        </p:nvSpPr>
        <p:spPr>
          <a:xfrm>
            <a:off x="12471400" y="6353731"/>
            <a:ext cx="3870738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5080" lvl="0" indent="-342900" algn="just" defTabSz="914400" eaLnBrk="1" fontAlgn="auto" latinLnBrk="0" hangingPunct="1">
              <a:lnSpc>
                <a:spcPts val="32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2400" spc="-30" dirty="0">
                <a:solidFill>
                  <a:schemeClr val="tx1"/>
                </a:solidFill>
                <a:latin typeface="Calibri"/>
                <a:cs typeface="Calibri"/>
              </a:rPr>
              <a:t>le</a:t>
            </a:r>
            <a:r>
              <a:rPr lang="it-IT" sz="2400" b="1" spc="-3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lang="it-IT" sz="2400" spc="-30" dirty="0">
                <a:solidFill>
                  <a:srgbClr val="1A63A2"/>
                </a:solidFill>
                <a:latin typeface="Calibri"/>
                <a:cs typeface="Calibri"/>
              </a:rPr>
              <a:t>fermate</a:t>
            </a:r>
            <a:r>
              <a:rPr lang="it-IT" sz="2400" b="1" spc="-3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lang="it-IT" sz="2400" spc="-30" dirty="0">
                <a:solidFill>
                  <a:srgbClr val="1A63A2"/>
                </a:solidFill>
                <a:latin typeface="Calibri"/>
                <a:cs typeface="Calibri"/>
              </a:rPr>
              <a:t>ufficiali</a:t>
            </a:r>
            <a:r>
              <a:rPr lang="it-IT" sz="2400" b="1" spc="-3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lang="it-IT" sz="2400" spc="-30" dirty="0">
                <a:solidFill>
                  <a:schemeClr val="tx1"/>
                </a:solidFill>
                <a:latin typeface="Calibri"/>
                <a:cs typeface="Calibri"/>
              </a:rPr>
              <a:t>(in verde) </a:t>
            </a:r>
            <a:endParaRPr lang="it-IT" sz="2400" b="1" spc="-30" dirty="0">
              <a:solidFill>
                <a:srgbClr val="1A63A2"/>
              </a:solidFill>
              <a:latin typeface="Calibri"/>
              <a:cs typeface="Calibri"/>
            </a:endParaRPr>
          </a:p>
          <a:p>
            <a:endParaRPr lang="it-IT" b="1" dirty="0">
              <a:solidFill>
                <a:srgbClr val="1A63A2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41E559F-472A-42F2-9AF2-D3C1CF9A64A5}"/>
              </a:ext>
            </a:extLst>
          </p:cNvPr>
          <p:cNvSpPr txBox="1"/>
          <p:nvPr/>
        </p:nvSpPr>
        <p:spPr>
          <a:xfrm>
            <a:off x="12471400" y="7420531"/>
            <a:ext cx="3870738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5080" lvl="0" indent="-342900" algn="just" defTabSz="914400" eaLnBrk="1" fontAlgn="auto" latinLnBrk="0" hangingPunct="1">
              <a:lnSpc>
                <a:spcPts val="32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2400" spc="-30" dirty="0">
                <a:solidFill>
                  <a:schemeClr val="tx1"/>
                </a:solidFill>
                <a:latin typeface="Calibri"/>
                <a:cs typeface="Calibri"/>
              </a:rPr>
              <a:t>le </a:t>
            </a:r>
            <a:r>
              <a:rPr lang="it-IT" sz="2400" spc="-30" dirty="0">
                <a:solidFill>
                  <a:srgbClr val="1A63A2"/>
                </a:solidFill>
                <a:latin typeface="Calibri"/>
                <a:cs typeface="Calibri"/>
              </a:rPr>
              <a:t>fermate</a:t>
            </a:r>
            <a:r>
              <a:rPr lang="it-IT" sz="2400" b="1" spc="-3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lang="it-IT" sz="2400" spc="-30" dirty="0">
                <a:solidFill>
                  <a:srgbClr val="1A63A2"/>
                </a:solidFill>
                <a:latin typeface="Calibri"/>
                <a:cs typeface="Calibri"/>
              </a:rPr>
              <a:t>calcolate</a:t>
            </a:r>
            <a:r>
              <a:rPr lang="it-IT" sz="2400" b="1" spc="-30" dirty="0">
                <a:solidFill>
                  <a:srgbClr val="1A63A2"/>
                </a:solidFill>
                <a:latin typeface="Calibri"/>
                <a:cs typeface="Calibri"/>
              </a:rPr>
              <a:t> </a:t>
            </a:r>
            <a:r>
              <a:rPr lang="it-IT" sz="2400" spc="-30" dirty="0">
                <a:solidFill>
                  <a:schemeClr val="tx1"/>
                </a:solidFill>
                <a:latin typeface="Calibri"/>
                <a:cs typeface="Calibri"/>
              </a:rPr>
              <a:t>con il metodo descritto (in rosso)</a:t>
            </a:r>
            <a:endParaRPr lang="it-IT"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it-IT" b="1" dirty="0">
              <a:solidFill>
                <a:srgbClr val="1A63A2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0">
            <a:extLst>
              <a:ext uri="{FF2B5EF4-FFF2-40B4-BE49-F238E27FC236}">
                <a16:creationId xmlns:a16="http://schemas.microsoft.com/office/drawing/2014/main" id="{20EDE264-25AA-412E-BEF6-322B16F3E6A6}"/>
              </a:ext>
            </a:extLst>
          </p:cNvPr>
          <p:cNvSpPr txBox="1">
            <a:spLocks/>
          </p:cNvSpPr>
          <p:nvPr/>
        </p:nvSpPr>
        <p:spPr>
          <a:xfrm>
            <a:off x="1270001" y="872594"/>
            <a:ext cx="14399274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Stima dei tempi di fermata</a:t>
            </a:r>
            <a:endParaRPr lang="it-IT" sz="3850" dirty="0"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0F4220C0-A1E1-427D-B41F-22AEA52A42F1}"/>
              </a:ext>
            </a:extLst>
          </p:cNvPr>
          <p:cNvSpPr/>
          <p:nvPr/>
        </p:nvSpPr>
        <p:spPr>
          <a:xfrm>
            <a:off x="1041400" y="1008061"/>
            <a:ext cx="76200" cy="1963739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0">
            <a:extLst>
              <a:ext uri="{FF2B5EF4-FFF2-40B4-BE49-F238E27FC236}">
                <a16:creationId xmlns:a16="http://schemas.microsoft.com/office/drawing/2014/main" id="{A76CE530-0DC5-4B63-8CFF-475B31F5CF43}"/>
              </a:ext>
            </a:extLst>
          </p:cNvPr>
          <p:cNvSpPr txBox="1"/>
          <p:nvPr/>
        </p:nvSpPr>
        <p:spPr>
          <a:xfrm>
            <a:off x="1270001" y="1652849"/>
            <a:ext cx="13706475" cy="13189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it-IT" sz="2800" dirty="0">
                <a:latin typeface="Calibri"/>
                <a:cs typeface="Calibri"/>
              </a:rPr>
              <a:t>Lo stesso script calcola la media temporale delle soste validate su tutti i log di dati disponibili.</a:t>
            </a:r>
          </a:p>
          <a:p>
            <a:pPr marL="12700" algn="just">
              <a:spcBef>
                <a:spcPts val="105"/>
              </a:spcBef>
            </a:pPr>
            <a:r>
              <a:rPr lang="it-IT" sz="2800" dirty="0">
                <a:latin typeface="Calibri"/>
                <a:cs typeface="Calibri"/>
              </a:rPr>
              <a:t>I</a:t>
            </a:r>
            <a:r>
              <a:rPr lang="it-IT" sz="2800" spc="-130" dirty="0">
                <a:latin typeface="Calibri"/>
                <a:cs typeface="Calibri"/>
              </a:rPr>
              <a:t> </a:t>
            </a:r>
            <a:r>
              <a:rPr lang="it-IT" sz="2800" spc="-25" dirty="0">
                <a:latin typeface="Calibri"/>
                <a:cs typeface="Calibri"/>
              </a:rPr>
              <a:t>risultati</a:t>
            </a:r>
            <a:r>
              <a:rPr lang="it-IT" sz="2800" spc="-120" dirty="0">
                <a:latin typeface="Calibri"/>
                <a:cs typeface="Calibri"/>
              </a:rPr>
              <a:t> </a:t>
            </a:r>
            <a:r>
              <a:rPr lang="it-IT" sz="2800" spc="-30" dirty="0">
                <a:latin typeface="Calibri"/>
                <a:cs typeface="Calibri"/>
              </a:rPr>
              <a:t>mostrano</a:t>
            </a:r>
            <a:r>
              <a:rPr lang="it-IT" sz="2800" spc="40" dirty="0">
                <a:latin typeface="Calibri"/>
                <a:cs typeface="Calibri"/>
              </a:rPr>
              <a:t> </a:t>
            </a:r>
            <a:r>
              <a:rPr lang="it-IT" sz="2800" dirty="0">
                <a:latin typeface="Calibri"/>
                <a:cs typeface="Calibri"/>
              </a:rPr>
              <a:t>che</a:t>
            </a:r>
            <a:r>
              <a:rPr lang="it-IT" sz="2800" spc="-60" dirty="0">
                <a:latin typeface="Calibri"/>
                <a:cs typeface="Calibri"/>
              </a:rPr>
              <a:t> </a:t>
            </a:r>
            <a:r>
              <a:rPr lang="it-IT" sz="2800" spc="-25" dirty="0">
                <a:latin typeface="Calibri"/>
                <a:cs typeface="Calibri"/>
              </a:rPr>
              <a:t>la </a:t>
            </a:r>
            <a:r>
              <a:rPr lang="it-IT" sz="2800" spc="-80" dirty="0">
                <a:latin typeface="Calibri"/>
                <a:cs typeface="Calibri"/>
              </a:rPr>
              <a:t>maggior</a:t>
            </a:r>
            <a:r>
              <a:rPr lang="it-IT" sz="2800" spc="-90" dirty="0">
                <a:latin typeface="Calibri"/>
                <a:cs typeface="Calibri"/>
              </a:rPr>
              <a:t> </a:t>
            </a:r>
            <a:r>
              <a:rPr lang="it-IT" sz="2800" spc="-100" dirty="0">
                <a:latin typeface="Calibri"/>
                <a:cs typeface="Calibri"/>
              </a:rPr>
              <a:t>parte</a:t>
            </a:r>
            <a:r>
              <a:rPr lang="it-IT" sz="2800" spc="-65" dirty="0">
                <a:latin typeface="Calibri"/>
                <a:cs typeface="Calibri"/>
              </a:rPr>
              <a:t> </a:t>
            </a:r>
            <a:r>
              <a:rPr lang="it-IT" sz="2800" spc="-40" dirty="0">
                <a:latin typeface="Calibri"/>
                <a:cs typeface="Calibri"/>
              </a:rPr>
              <a:t>delle</a:t>
            </a:r>
            <a:r>
              <a:rPr lang="it-IT" sz="2800" spc="-65" dirty="0">
                <a:latin typeface="Calibri"/>
                <a:cs typeface="Calibri"/>
              </a:rPr>
              <a:t> </a:t>
            </a:r>
            <a:r>
              <a:rPr lang="it-IT" sz="2800" spc="-60" dirty="0">
                <a:latin typeface="Calibri"/>
                <a:cs typeface="Calibri"/>
              </a:rPr>
              <a:t>soste</a:t>
            </a:r>
            <a:r>
              <a:rPr lang="it-IT" sz="2800" spc="-105" dirty="0">
                <a:latin typeface="Calibri"/>
                <a:cs typeface="Calibri"/>
              </a:rPr>
              <a:t> </a:t>
            </a:r>
            <a:r>
              <a:rPr lang="it-IT" sz="2800" spc="-100" dirty="0">
                <a:latin typeface="Calibri"/>
                <a:cs typeface="Calibri"/>
              </a:rPr>
              <a:t>intermedie</a:t>
            </a:r>
            <a:r>
              <a:rPr lang="it-IT" sz="2800" spc="90" dirty="0">
                <a:latin typeface="Calibri"/>
                <a:cs typeface="Calibri"/>
              </a:rPr>
              <a:t> </a:t>
            </a:r>
            <a:r>
              <a:rPr lang="it-IT" sz="2800" dirty="0">
                <a:latin typeface="Calibri"/>
                <a:cs typeface="Calibri"/>
              </a:rPr>
              <a:t>è</a:t>
            </a:r>
            <a:r>
              <a:rPr lang="it-IT" sz="2800" spc="-145" dirty="0">
                <a:latin typeface="Calibri"/>
                <a:cs typeface="Calibri"/>
              </a:rPr>
              <a:t> </a:t>
            </a:r>
            <a:r>
              <a:rPr lang="it-IT" sz="2800" spc="-90" dirty="0">
                <a:latin typeface="Calibri"/>
                <a:cs typeface="Calibri"/>
              </a:rPr>
              <a:t>troppo</a:t>
            </a:r>
            <a:r>
              <a:rPr lang="it-IT" sz="2800" spc="-50" dirty="0">
                <a:latin typeface="Calibri"/>
                <a:cs typeface="Calibri"/>
              </a:rPr>
              <a:t> </a:t>
            </a:r>
            <a:r>
              <a:rPr lang="it-IT" sz="2800" spc="-70" dirty="0">
                <a:latin typeface="Calibri"/>
                <a:cs typeface="Calibri"/>
              </a:rPr>
              <a:t>breve</a:t>
            </a:r>
            <a:r>
              <a:rPr lang="it-IT" sz="2800" spc="-100" dirty="0">
                <a:latin typeface="Calibri"/>
                <a:cs typeface="Calibri"/>
              </a:rPr>
              <a:t> </a:t>
            </a:r>
            <a:r>
              <a:rPr lang="it-IT" sz="2800" spc="-85" dirty="0">
                <a:latin typeface="Calibri"/>
                <a:cs typeface="Calibri"/>
              </a:rPr>
              <a:t>per</a:t>
            </a:r>
            <a:r>
              <a:rPr lang="it-IT" sz="2800" spc="-80" dirty="0">
                <a:latin typeface="Calibri"/>
                <a:cs typeface="Calibri"/>
              </a:rPr>
              <a:t> </a:t>
            </a:r>
            <a:r>
              <a:rPr lang="it-IT" sz="2800" spc="-75" dirty="0">
                <a:latin typeface="Calibri"/>
                <a:cs typeface="Calibri"/>
              </a:rPr>
              <a:t>una</a:t>
            </a:r>
            <a:r>
              <a:rPr lang="it-IT" sz="2800" spc="-90" dirty="0">
                <a:latin typeface="Calibri"/>
                <a:cs typeface="Calibri"/>
              </a:rPr>
              <a:t> </a:t>
            </a:r>
            <a:r>
              <a:rPr lang="it-IT" sz="2800" spc="-50" dirty="0">
                <a:latin typeface="Calibri"/>
                <a:cs typeface="Calibri"/>
              </a:rPr>
              <a:t>ricarica</a:t>
            </a:r>
            <a:r>
              <a:rPr lang="it-IT" sz="2800" spc="-30" dirty="0">
                <a:latin typeface="Calibri"/>
                <a:cs typeface="Calibri"/>
              </a:rPr>
              <a:t> </a:t>
            </a:r>
            <a:r>
              <a:rPr lang="it-IT" sz="2800" spc="-10" dirty="0">
                <a:latin typeface="Calibri"/>
                <a:cs typeface="Calibri"/>
              </a:rPr>
              <a:t>significativa.</a:t>
            </a:r>
            <a:r>
              <a:rPr lang="it-IT"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</a:t>
            </a:r>
            <a:r>
              <a:rPr sz="2700" spc="-155" dirty="0">
                <a:latin typeface="Calibri"/>
                <a:cs typeface="Calibri"/>
              </a:rPr>
              <a:t> </a:t>
            </a:r>
            <a:r>
              <a:rPr sz="2700" spc="-150" dirty="0">
                <a:latin typeface="Calibri"/>
                <a:cs typeface="Calibri"/>
              </a:rPr>
              <a:t>tempi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90" dirty="0">
                <a:latin typeface="Calibri"/>
                <a:cs typeface="Calibri"/>
              </a:rPr>
              <a:t>medi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</a:t>
            </a:r>
            <a:r>
              <a:rPr sz="2700" spc="-150" dirty="0">
                <a:latin typeface="Calibri"/>
                <a:cs typeface="Calibri"/>
              </a:rPr>
              <a:t> </a:t>
            </a:r>
            <a:r>
              <a:rPr sz="2700" spc="-105" dirty="0">
                <a:latin typeface="Calibri"/>
                <a:cs typeface="Calibri"/>
              </a:rPr>
              <a:t>sosta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14" dirty="0">
                <a:latin typeface="Calibri"/>
                <a:cs typeface="Calibri"/>
              </a:rPr>
              <a:t>nella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maggior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5" dirty="0">
                <a:latin typeface="Calibri"/>
                <a:cs typeface="Calibri"/>
              </a:rPr>
              <a:t>parte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14" dirty="0">
                <a:latin typeface="Calibri"/>
                <a:cs typeface="Calibri"/>
              </a:rPr>
              <a:t>delle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35" dirty="0" err="1">
                <a:latin typeface="Calibri"/>
                <a:cs typeface="Calibri"/>
              </a:rPr>
              <a:t>fermate</a:t>
            </a:r>
            <a:r>
              <a:rPr sz="2700" spc="95" dirty="0">
                <a:latin typeface="Calibri"/>
                <a:cs typeface="Calibri"/>
              </a:rPr>
              <a:t> </a:t>
            </a:r>
            <a:r>
              <a:rPr sz="2700" spc="-135" dirty="0" err="1">
                <a:latin typeface="Calibri"/>
                <a:cs typeface="Calibri"/>
              </a:rPr>
              <a:t>sono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90" dirty="0">
                <a:latin typeface="Calibri"/>
                <a:cs typeface="Calibri"/>
              </a:rPr>
              <a:t>inferiori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-95" dirty="0">
                <a:latin typeface="Calibri"/>
                <a:cs typeface="Calibri"/>
              </a:rPr>
              <a:t>ai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30-</a:t>
            </a:r>
            <a:r>
              <a:rPr sz="2700" dirty="0">
                <a:latin typeface="Calibri"/>
                <a:cs typeface="Calibri"/>
              </a:rPr>
              <a:t>40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secondi.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E0855D1-68AC-4D80-B2A2-80D6023EF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1" y="3505200"/>
            <a:ext cx="7553459" cy="5005948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97E656A-9528-4C65-8356-5CBD15DB0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061" y="3527122"/>
            <a:ext cx="7615715" cy="5005948"/>
          </a:xfrm>
          <a:prstGeom prst="rect">
            <a:avLst/>
          </a:prstGeom>
        </p:spPr>
      </p:pic>
      <p:sp>
        <p:nvSpPr>
          <p:cNvPr id="8" name="object 30">
            <a:extLst>
              <a:ext uri="{FF2B5EF4-FFF2-40B4-BE49-F238E27FC236}">
                <a16:creationId xmlns:a16="http://schemas.microsoft.com/office/drawing/2014/main" id="{C0E611BF-D66B-4D44-8D88-850E34E5BDC1}"/>
              </a:ext>
            </a:extLst>
          </p:cNvPr>
          <p:cNvSpPr txBox="1"/>
          <p:nvPr/>
        </p:nvSpPr>
        <p:spPr>
          <a:xfrm>
            <a:off x="2371771" y="8941207"/>
            <a:ext cx="5010016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it-IT" sz="2800" dirty="0">
                <a:latin typeface="Calibri"/>
                <a:cs typeface="Calibri"/>
              </a:rPr>
              <a:t>Milano        San Felicino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FB0F32D-025C-4ADE-B92E-2E78C2A91F9A}"/>
              </a:ext>
            </a:extLst>
          </p:cNvPr>
          <p:cNvSpPr/>
          <p:nvPr/>
        </p:nvSpPr>
        <p:spPr>
          <a:xfrm>
            <a:off x="3009879" y="8839200"/>
            <a:ext cx="3733800" cy="648366"/>
          </a:xfrm>
          <a:prstGeom prst="roundRect">
            <a:avLst/>
          </a:prstGeom>
          <a:noFill/>
          <a:ln w="57150">
            <a:solidFill>
              <a:srgbClr val="1A6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23698681-6CDC-4441-A8A0-AE571F4C141C}"/>
              </a:ext>
            </a:extLst>
          </p:cNvPr>
          <p:cNvCxnSpPr>
            <a:cxnSpLocks/>
          </p:cNvCxnSpPr>
          <p:nvPr/>
        </p:nvCxnSpPr>
        <p:spPr>
          <a:xfrm>
            <a:off x="1422400" y="5181600"/>
            <a:ext cx="731520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40BB1874-E7DC-4D19-BFCD-560628EAB71B}"/>
              </a:ext>
            </a:extLst>
          </p:cNvPr>
          <p:cNvCxnSpPr>
            <a:cxnSpLocks/>
          </p:cNvCxnSpPr>
          <p:nvPr/>
        </p:nvCxnSpPr>
        <p:spPr>
          <a:xfrm>
            <a:off x="9347200" y="7924800"/>
            <a:ext cx="723900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192FBB3-3153-4196-ADD3-2885B0745DDC}"/>
              </a:ext>
            </a:extLst>
          </p:cNvPr>
          <p:cNvSpPr txBox="1"/>
          <p:nvPr/>
        </p:nvSpPr>
        <p:spPr>
          <a:xfrm>
            <a:off x="8242300" y="4889063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40s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322C8AD-6A3C-482B-BDA0-7C46FCCA72C5}"/>
              </a:ext>
            </a:extLst>
          </p:cNvPr>
          <p:cNvSpPr txBox="1"/>
          <p:nvPr/>
        </p:nvSpPr>
        <p:spPr>
          <a:xfrm>
            <a:off x="16052800" y="762000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40s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6AA7E9C-2566-47A1-BFB5-D5BF8B38E80F}"/>
              </a:ext>
            </a:extLst>
          </p:cNvPr>
          <p:cNvSpPr txBox="1"/>
          <p:nvPr/>
        </p:nvSpPr>
        <p:spPr>
          <a:xfrm rot="16200000">
            <a:off x="4110683" y="5998518"/>
            <a:ext cx="874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1A63A2"/>
                </a:solidFill>
              </a:rPr>
              <a:t>Linate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326A631F-B1B8-40B3-9B1C-01F24C640865}"/>
              </a:ext>
            </a:extLst>
          </p:cNvPr>
          <p:cNvCxnSpPr>
            <a:cxnSpLocks/>
          </p:cNvCxnSpPr>
          <p:nvPr/>
        </p:nvCxnSpPr>
        <p:spPr>
          <a:xfrm>
            <a:off x="4318000" y="9189190"/>
            <a:ext cx="457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ct 30">
            <a:extLst>
              <a:ext uri="{FF2B5EF4-FFF2-40B4-BE49-F238E27FC236}">
                <a16:creationId xmlns:a16="http://schemas.microsoft.com/office/drawing/2014/main" id="{199038A0-1B90-4131-B637-B1035E48DAD2}"/>
              </a:ext>
            </a:extLst>
          </p:cNvPr>
          <p:cNvSpPr txBox="1"/>
          <p:nvPr/>
        </p:nvSpPr>
        <p:spPr>
          <a:xfrm>
            <a:off x="10461692" y="8943840"/>
            <a:ext cx="5010016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it-IT" sz="2800" dirty="0">
                <a:latin typeface="Calibri"/>
                <a:cs typeface="Calibri"/>
              </a:rPr>
              <a:t>San Felicino        Milano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3CA55145-938A-4DC9-9F03-5B1B6C19B311}"/>
              </a:ext>
            </a:extLst>
          </p:cNvPr>
          <p:cNvSpPr/>
          <p:nvPr/>
        </p:nvSpPr>
        <p:spPr>
          <a:xfrm>
            <a:off x="11099800" y="8841833"/>
            <a:ext cx="3733800" cy="648366"/>
          </a:xfrm>
          <a:prstGeom prst="roundRect">
            <a:avLst/>
          </a:prstGeom>
          <a:noFill/>
          <a:ln w="57150">
            <a:solidFill>
              <a:srgbClr val="1A6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BA0B281A-2C58-4070-817C-76F5BD6D7E30}"/>
              </a:ext>
            </a:extLst>
          </p:cNvPr>
          <p:cNvCxnSpPr>
            <a:cxnSpLocks/>
          </p:cNvCxnSpPr>
          <p:nvPr/>
        </p:nvCxnSpPr>
        <p:spPr>
          <a:xfrm>
            <a:off x="13081000" y="9197840"/>
            <a:ext cx="457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0E5E1889-F24D-4C35-90CA-FAD388F99478}"/>
              </a:ext>
            </a:extLst>
          </p:cNvPr>
          <p:cNvSpPr txBox="1"/>
          <p:nvPr/>
        </p:nvSpPr>
        <p:spPr>
          <a:xfrm rot="16200000">
            <a:off x="12565906" y="7257306"/>
            <a:ext cx="874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1A63A2"/>
                </a:solidFill>
              </a:rPr>
              <a:t>Linate</a:t>
            </a:r>
          </a:p>
        </p:txBody>
      </p:sp>
    </p:spTree>
    <p:extLst>
      <p:ext uri="{BB962C8B-B14F-4D97-AF65-F5344CB8AC3E}">
        <p14:creationId xmlns:p14="http://schemas.microsoft.com/office/powerpoint/2010/main" val="103001735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0">
            <a:extLst>
              <a:ext uri="{FF2B5EF4-FFF2-40B4-BE49-F238E27FC236}">
                <a16:creationId xmlns:a16="http://schemas.microsoft.com/office/drawing/2014/main" id="{20EDE264-25AA-412E-BEF6-322B16F3E6A6}"/>
              </a:ext>
            </a:extLst>
          </p:cNvPr>
          <p:cNvSpPr txBox="1">
            <a:spLocks/>
          </p:cNvSpPr>
          <p:nvPr/>
        </p:nvSpPr>
        <p:spPr>
          <a:xfrm>
            <a:off x="1270001" y="872594"/>
            <a:ext cx="14399274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Modello energetico del veicolo</a:t>
            </a:r>
            <a:endParaRPr lang="it-IT" sz="3850" dirty="0"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0F4220C0-A1E1-427D-B41F-22AEA52A42F1}"/>
              </a:ext>
            </a:extLst>
          </p:cNvPr>
          <p:cNvSpPr/>
          <p:nvPr/>
        </p:nvSpPr>
        <p:spPr>
          <a:xfrm>
            <a:off x="1041400" y="1008061"/>
            <a:ext cx="76200" cy="2381802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0">
            <a:extLst>
              <a:ext uri="{FF2B5EF4-FFF2-40B4-BE49-F238E27FC236}">
                <a16:creationId xmlns:a16="http://schemas.microsoft.com/office/drawing/2014/main" id="{A76CE530-0DC5-4B63-8CFF-475B31F5CF43}"/>
              </a:ext>
            </a:extLst>
          </p:cNvPr>
          <p:cNvSpPr txBox="1"/>
          <p:nvPr/>
        </p:nvSpPr>
        <p:spPr>
          <a:xfrm>
            <a:off x="1270001" y="1652849"/>
            <a:ext cx="14935199" cy="17370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it-IT" sz="2800" dirty="0">
                <a:latin typeface="Calibri"/>
                <a:cs typeface="Calibri"/>
              </a:rPr>
              <a:t>Lo script </a:t>
            </a:r>
            <a:r>
              <a:rPr lang="it-IT" sz="2800" dirty="0" err="1">
                <a:latin typeface="Calibri"/>
                <a:cs typeface="Calibri"/>
              </a:rPr>
              <a:t>Energy.m</a:t>
            </a:r>
            <a:r>
              <a:rPr lang="it-IT" sz="2800" dirty="0">
                <a:latin typeface="Calibri"/>
                <a:cs typeface="Calibri"/>
              </a:rPr>
              <a:t> calcola la potenza richiesta alla batteria istante per istante, considerando i dati di accelerazione e velocità campionate e i dati di targa di Autobus </a:t>
            </a:r>
            <a:r>
              <a:rPr lang="it-IT" sz="2800" dirty="0" err="1">
                <a:latin typeface="Calibri"/>
                <a:cs typeface="Calibri"/>
              </a:rPr>
              <a:t>Solaris</a:t>
            </a:r>
            <a:r>
              <a:rPr lang="it-IT" sz="2800" dirty="0">
                <a:latin typeface="Calibri"/>
                <a:cs typeface="Calibri"/>
              </a:rPr>
              <a:t> Urbino trovati in letteratura. È stato considerata inoltre una potenza necessaria per i servizi ausiliari di 5kW e un numero di passeggeri medio di 40 in base alla nostra esperienza durante la campagna di raccolta dati.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26FF86D-2199-472D-9FC7-06BDEA7BD650}"/>
                  </a:ext>
                </a:extLst>
              </p:cNvPr>
              <p:cNvSpPr txBox="1"/>
              <p:nvPr/>
            </p:nvSpPr>
            <p:spPr>
              <a:xfrm>
                <a:off x="1651000" y="3842837"/>
                <a:ext cx="5334000" cy="957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800" dirty="0">
                    <a:solidFill>
                      <a:schemeClr val="tx1"/>
                    </a:solidFill>
                  </a:rPr>
                  <a:t>P</a:t>
                </a:r>
                <a14:m>
                  <m:oMath xmlns:m="http://schemas.openxmlformats.org/officeDocument/2006/math">
                    <m:r>
                      <a:rPr lang="it-IT" sz="280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𝑡𝑜𝑡</m:t>
                    </m:r>
                  </m:oMath>
                </a14:m>
                <a:r>
                  <a:rPr lang="it-IT" sz="2800" dirty="0">
                    <a:solidFill>
                      <a:schemeClr val="tx1"/>
                    </a:solidFill>
                  </a:rPr>
                  <a:t>=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it-IT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it-IT" sz="3600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𝑟𝑢𝑜𝑡𝑒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η</m:t>
                        </m:r>
                      </m:den>
                    </m:f>
                  </m:oMath>
                </a14:m>
                <a:r>
                  <a:rPr lang="it-IT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800" dirty="0">
                    <a:solidFill>
                      <a:schemeClr val="tx1"/>
                    </a:solidFill>
                  </a:rPr>
                  <a:t>+ P</a:t>
                </a:r>
                <a:r>
                  <a:rPr lang="it-IT" sz="2800" i="1" baseline="-25000" dirty="0">
                    <a:solidFill>
                      <a:schemeClr val="tx1"/>
                    </a:solidFill>
                  </a:rPr>
                  <a:t>reg</a:t>
                </a:r>
                <a:r>
                  <a:rPr lang="it-IT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η</m:t>
                    </m:r>
                    <m:r>
                      <a:rPr lang="it-IT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 </a:t>
                </a:r>
                <a:r>
                  <a:rPr lang="it-IT" sz="2800" dirty="0">
                    <a:solidFill>
                      <a:schemeClr val="tx1"/>
                    </a:solidFill>
                  </a:rPr>
                  <a:t>S ) + </a:t>
                </a:r>
                <a:r>
                  <a:rPr lang="it-IT" sz="2800" dirty="0" err="1">
                    <a:solidFill>
                      <a:schemeClr val="tx1"/>
                    </a:solidFill>
                  </a:rPr>
                  <a:t>P</a:t>
                </a:r>
                <a:r>
                  <a:rPr lang="it-IT" i="1" dirty="0" err="1">
                    <a:solidFill>
                      <a:schemeClr val="tx1"/>
                    </a:solidFill>
                  </a:rPr>
                  <a:t>aux</a:t>
                </a:r>
                <a:endParaRPr lang="it-IT" sz="2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26FF86D-2199-472D-9FC7-06BDEA7BD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3842837"/>
                <a:ext cx="5334000" cy="957763"/>
              </a:xfrm>
              <a:prstGeom prst="rect">
                <a:avLst/>
              </a:prstGeom>
              <a:blipFill>
                <a:blip r:embed="rId2"/>
                <a:stretch>
                  <a:fillRect l="-24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DCA2E38-7006-4B71-8F86-566F9DB1C2AD}"/>
              </a:ext>
            </a:extLst>
          </p:cNvPr>
          <p:cNvSpPr/>
          <p:nvPr/>
        </p:nvSpPr>
        <p:spPr>
          <a:xfrm>
            <a:off x="1574800" y="3657600"/>
            <a:ext cx="5486400" cy="1295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227CE50-50C0-4074-BD31-71D6F60821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829"/>
          <a:stretch/>
        </p:blipFill>
        <p:spPr>
          <a:xfrm>
            <a:off x="8466650" y="4046481"/>
            <a:ext cx="7983149" cy="5178969"/>
          </a:xfrm>
          <a:prstGeom prst="rect">
            <a:avLst/>
          </a:prstGeom>
        </p:spPr>
      </p:pic>
      <p:sp>
        <p:nvSpPr>
          <p:cNvPr id="25" name="object 30">
            <a:extLst>
              <a:ext uri="{FF2B5EF4-FFF2-40B4-BE49-F238E27FC236}">
                <a16:creationId xmlns:a16="http://schemas.microsoft.com/office/drawing/2014/main" id="{5295C424-E76A-44AB-81E8-43F93EA56DE9}"/>
              </a:ext>
            </a:extLst>
          </p:cNvPr>
          <p:cNvSpPr txBox="1"/>
          <p:nvPr/>
        </p:nvSpPr>
        <p:spPr>
          <a:xfrm>
            <a:off x="1270001" y="5334000"/>
            <a:ext cx="6096000" cy="389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it-IT" sz="2800" dirty="0">
                <a:latin typeface="Calibri"/>
                <a:cs typeface="Calibri"/>
              </a:rPr>
              <a:t>La potenza richiesta alle ruote tiene conto di </a:t>
            </a:r>
            <a:r>
              <a:rPr lang="it-IT" sz="2800" dirty="0">
                <a:solidFill>
                  <a:srgbClr val="1A63A2"/>
                </a:solidFill>
                <a:latin typeface="Calibri"/>
                <a:cs typeface="Calibri"/>
              </a:rPr>
              <a:t>inerzia</a:t>
            </a:r>
            <a:r>
              <a:rPr lang="it-IT" sz="2800" dirty="0">
                <a:latin typeface="Calibri"/>
                <a:cs typeface="Calibri"/>
              </a:rPr>
              <a:t> (</a:t>
            </a:r>
            <a:r>
              <a:rPr lang="it-IT" sz="2800" i="1" dirty="0">
                <a:latin typeface="Calibri"/>
                <a:cs typeface="Calibri"/>
              </a:rPr>
              <a:t>accelerazione</a:t>
            </a:r>
            <a:r>
              <a:rPr lang="it-IT" sz="2800" dirty="0">
                <a:latin typeface="Calibri"/>
                <a:cs typeface="Calibri"/>
              </a:rPr>
              <a:t>), resistenza al </a:t>
            </a:r>
            <a:r>
              <a:rPr lang="it-IT" sz="2800" dirty="0">
                <a:solidFill>
                  <a:srgbClr val="1A63A2"/>
                </a:solidFill>
                <a:latin typeface="Calibri"/>
                <a:cs typeface="Calibri"/>
              </a:rPr>
              <a:t>rotolamento</a:t>
            </a:r>
            <a:r>
              <a:rPr lang="it-IT" sz="2800" dirty="0">
                <a:latin typeface="Calibri"/>
                <a:cs typeface="Calibri"/>
              </a:rPr>
              <a:t> e resistenza </a:t>
            </a:r>
            <a:r>
              <a:rPr lang="it-IT" sz="2800" dirty="0">
                <a:solidFill>
                  <a:srgbClr val="1A63A2"/>
                </a:solidFill>
                <a:latin typeface="Calibri"/>
                <a:cs typeface="Calibri"/>
              </a:rPr>
              <a:t>aerodinamica</a:t>
            </a:r>
            <a:r>
              <a:rPr lang="it-IT" sz="2800" dirty="0">
                <a:latin typeface="Calibri"/>
                <a:cs typeface="Calibri"/>
              </a:rPr>
              <a:t>. È stato considerato un </a:t>
            </a:r>
            <a:r>
              <a:rPr lang="it-IT" sz="2800" dirty="0">
                <a:solidFill>
                  <a:srgbClr val="1A63A2"/>
                </a:solidFill>
                <a:latin typeface="Calibri"/>
                <a:cs typeface="Calibri"/>
              </a:rPr>
              <a:t>fattore di split</a:t>
            </a:r>
            <a:r>
              <a:rPr lang="it-IT" sz="2800" dirty="0">
                <a:latin typeface="Calibri"/>
                <a:cs typeface="Calibri"/>
              </a:rPr>
              <a:t> S=0,4 e un ugual rendimento (</a:t>
            </a:r>
            <a:r>
              <a:rPr lang="el-GR" sz="2800" dirty="0">
                <a:latin typeface="Calibri"/>
                <a:cs typeface="Calibri"/>
              </a:rPr>
              <a:t>η</a:t>
            </a:r>
            <a:r>
              <a:rPr lang="it-IT" sz="2800" dirty="0">
                <a:latin typeface="Calibri"/>
                <a:cs typeface="Calibri"/>
              </a:rPr>
              <a:t>) della </a:t>
            </a:r>
            <a:r>
              <a:rPr lang="it-IT" sz="2800" dirty="0">
                <a:solidFill>
                  <a:srgbClr val="1A63A2"/>
                </a:solidFill>
                <a:latin typeface="Calibri"/>
                <a:cs typeface="Calibri"/>
              </a:rPr>
              <a:t>trasmissione batteria-ruote </a:t>
            </a:r>
            <a:r>
              <a:rPr lang="it-IT" sz="2800" dirty="0">
                <a:latin typeface="Calibri"/>
                <a:cs typeface="Calibri"/>
              </a:rPr>
              <a:t>sia in senso diretto che in </a:t>
            </a:r>
            <a:r>
              <a:rPr lang="it-IT" sz="2800" dirty="0">
                <a:solidFill>
                  <a:srgbClr val="1A63A2"/>
                </a:solidFill>
                <a:latin typeface="Calibri"/>
                <a:cs typeface="Calibri"/>
              </a:rPr>
              <a:t>frenata rigenerativa</a:t>
            </a:r>
            <a:r>
              <a:rPr lang="it-IT" sz="2800" dirty="0">
                <a:latin typeface="Calibri"/>
                <a:cs typeface="Calibri"/>
              </a:rPr>
              <a:t>. Per il calcolo della potenza rigenerata in frenata (P</a:t>
            </a:r>
            <a:r>
              <a:rPr lang="it-IT" sz="2800" baseline="-25000" dirty="0">
                <a:latin typeface="Calibri"/>
                <a:cs typeface="Calibri"/>
              </a:rPr>
              <a:t>reg</a:t>
            </a:r>
            <a:r>
              <a:rPr lang="it-IT" sz="2800" dirty="0">
                <a:latin typeface="Calibri"/>
                <a:cs typeface="Calibri"/>
              </a:rPr>
              <a:t>) si rimanda allo script.</a:t>
            </a:r>
          </a:p>
        </p:txBody>
      </p:sp>
    </p:spTree>
    <p:extLst>
      <p:ext uri="{BB962C8B-B14F-4D97-AF65-F5344CB8AC3E}">
        <p14:creationId xmlns:p14="http://schemas.microsoft.com/office/powerpoint/2010/main" val="282587669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0">
            <a:extLst>
              <a:ext uri="{FF2B5EF4-FFF2-40B4-BE49-F238E27FC236}">
                <a16:creationId xmlns:a16="http://schemas.microsoft.com/office/drawing/2014/main" id="{20EDE264-25AA-412E-BEF6-322B16F3E6A6}"/>
              </a:ext>
            </a:extLst>
          </p:cNvPr>
          <p:cNvSpPr txBox="1">
            <a:spLocks/>
          </p:cNvSpPr>
          <p:nvPr/>
        </p:nvSpPr>
        <p:spPr>
          <a:xfrm>
            <a:off x="1270001" y="872594"/>
            <a:ext cx="14399274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Consumi medi e </a:t>
            </a:r>
            <a:r>
              <a:rPr lang="it-IT" sz="3850" b="1" spc="50" dirty="0" err="1">
                <a:solidFill>
                  <a:srgbClr val="1A63A2"/>
                </a:solidFill>
              </a:rPr>
              <a:t>SoC</a:t>
            </a:r>
            <a:r>
              <a:rPr lang="it-IT" sz="3850" b="1" spc="50" dirty="0">
                <a:solidFill>
                  <a:srgbClr val="1A63A2"/>
                </a:solidFill>
              </a:rPr>
              <a:t> della batteria</a:t>
            </a:r>
            <a:endParaRPr lang="it-IT" sz="3850" dirty="0"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0F4220C0-A1E1-427D-B41F-22AEA52A42F1}"/>
              </a:ext>
            </a:extLst>
          </p:cNvPr>
          <p:cNvSpPr/>
          <p:nvPr/>
        </p:nvSpPr>
        <p:spPr>
          <a:xfrm>
            <a:off x="1041400" y="1008061"/>
            <a:ext cx="76200" cy="2381802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0">
            <a:extLst>
              <a:ext uri="{FF2B5EF4-FFF2-40B4-BE49-F238E27FC236}">
                <a16:creationId xmlns:a16="http://schemas.microsoft.com/office/drawing/2014/main" id="{F8E8087B-917B-49E3-8759-DBED26DAD54A}"/>
              </a:ext>
            </a:extLst>
          </p:cNvPr>
          <p:cNvSpPr txBox="1"/>
          <p:nvPr/>
        </p:nvSpPr>
        <p:spPr>
          <a:xfrm>
            <a:off x="1803400" y="8364831"/>
            <a:ext cx="14858999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it-IT" sz="2800" dirty="0">
                <a:latin typeface="Calibri"/>
                <a:cs typeface="Calibri"/>
              </a:rPr>
              <a:t>Qualora si volesse considerare un diverso tipo di autobus, di batteria, un numero diverso di passeggeri o un consumo dei servizi ausiliari diverso (estate/inverno) è sufficiente modificare il dato nello script.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93BC25A4-6BAF-4B38-9085-D2DDE2BD1322}"/>
              </a:ext>
            </a:extLst>
          </p:cNvPr>
          <p:cNvSpPr txBox="1"/>
          <p:nvPr/>
        </p:nvSpPr>
        <p:spPr>
          <a:xfrm>
            <a:off x="1269998" y="1584977"/>
            <a:ext cx="15392401" cy="17370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it-IT" sz="2800" dirty="0">
                <a:latin typeface="Calibri"/>
                <a:cs typeface="Calibri"/>
              </a:rPr>
              <a:t>Considerando una capacità della batteria del bus di </a:t>
            </a:r>
            <a:r>
              <a:rPr lang="it-IT" sz="2800" dirty="0">
                <a:solidFill>
                  <a:srgbClr val="1A63A2"/>
                </a:solidFill>
                <a:latin typeface="Calibri"/>
                <a:cs typeface="Calibri"/>
              </a:rPr>
              <a:t>300 kWh</a:t>
            </a:r>
            <a:r>
              <a:rPr lang="it-IT" sz="2800" dirty="0">
                <a:latin typeface="Calibri"/>
                <a:cs typeface="Calibri"/>
              </a:rPr>
              <a:t>, il consumo di energia ad ogni corsa </a:t>
            </a:r>
            <a:r>
              <a:rPr lang="it-IT" sz="2800" dirty="0" err="1">
                <a:latin typeface="Calibri"/>
                <a:cs typeface="Calibri"/>
              </a:rPr>
              <a:t>andata+ritorno</a:t>
            </a:r>
            <a:r>
              <a:rPr lang="it-IT" sz="2800" dirty="0">
                <a:latin typeface="Calibri"/>
                <a:cs typeface="Calibri"/>
              </a:rPr>
              <a:t>, senza ricariche intermedie, porta la batteria a scaricarsi poco meno del </a:t>
            </a:r>
            <a:r>
              <a:rPr lang="it-IT" sz="2800" dirty="0">
                <a:solidFill>
                  <a:srgbClr val="1A63A2"/>
                </a:solidFill>
                <a:latin typeface="Calibri"/>
                <a:cs typeface="Calibri"/>
              </a:rPr>
              <a:t>15%</a:t>
            </a:r>
            <a:r>
              <a:rPr lang="it-IT" sz="2800" dirty="0">
                <a:latin typeface="Calibri"/>
                <a:cs typeface="Calibri"/>
              </a:rPr>
              <a:t>. Nello specifico, in base ai nostri dati, mediamente si consumano 18.3 kWh durante il tragitto di andata e 19.7 kWh durante il ritorno.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30548DB4-DF98-4FFC-9946-7E00BCB7F155}"/>
              </a:ext>
            </a:extLst>
          </p:cNvPr>
          <p:cNvGrpSpPr/>
          <p:nvPr/>
        </p:nvGrpSpPr>
        <p:grpSpPr>
          <a:xfrm>
            <a:off x="889000" y="3581400"/>
            <a:ext cx="10964263" cy="4419914"/>
            <a:chOff x="1226669" y="3581400"/>
            <a:chExt cx="10964263" cy="4419914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A2870014-562A-491E-BA02-765FDA9BB5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1573"/>
            <a:stretch/>
          </p:blipFill>
          <p:spPr>
            <a:xfrm>
              <a:off x="1226669" y="4191000"/>
              <a:ext cx="10964263" cy="3810314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E8AD3698-EE75-4309-AA9A-6900CC20C55E}"/>
                </a:ext>
              </a:extLst>
            </p:cNvPr>
            <p:cNvSpPr/>
            <p:nvPr/>
          </p:nvSpPr>
          <p:spPr>
            <a:xfrm>
              <a:off x="9804400" y="5257800"/>
              <a:ext cx="1752600" cy="875240"/>
            </a:xfrm>
            <a:prstGeom prst="rect">
              <a:avLst/>
            </a:prstGeom>
            <a:solidFill>
              <a:srgbClr val="F1F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01D294BC-8F38-4E4C-988A-D16CFFDCD38C}"/>
                </a:ext>
              </a:extLst>
            </p:cNvPr>
            <p:cNvSpPr txBox="1"/>
            <p:nvPr/>
          </p:nvSpPr>
          <p:spPr>
            <a:xfrm>
              <a:off x="9537700" y="5248870"/>
              <a:ext cx="2286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/>
                <a:t>Discesa del </a:t>
              </a:r>
              <a:r>
                <a:rPr lang="it-IT" b="1" dirty="0">
                  <a:solidFill>
                    <a:srgbClr val="1A63A2"/>
                  </a:solidFill>
                </a:rPr>
                <a:t>~15%</a:t>
              </a:r>
            </a:p>
            <a:p>
              <a:pPr algn="ctr"/>
              <a:r>
                <a:rPr lang="it-IT" b="1" dirty="0"/>
                <a:t>per ogni ciclo </a:t>
              </a:r>
            </a:p>
            <a:p>
              <a:pPr algn="ctr"/>
              <a:r>
                <a:rPr lang="it-IT" b="1" dirty="0"/>
                <a:t>A/R</a:t>
              </a: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6888D7C1-43F7-4A8B-AB1B-25962D6C8C7D}"/>
                </a:ext>
              </a:extLst>
            </p:cNvPr>
            <p:cNvSpPr txBox="1"/>
            <p:nvPr/>
          </p:nvSpPr>
          <p:spPr>
            <a:xfrm>
              <a:off x="2413000" y="3581400"/>
              <a:ext cx="91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dirty="0">
                  <a:solidFill>
                    <a:srgbClr val="1A63A2"/>
                  </a:solidFill>
                </a:rPr>
                <a:t>Andamento dello State of </a:t>
              </a:r>
              <a:r>
                <a:rPr lang="it-IT" sz="2000" b="1" dirty="0" err="1">
                  <a:solidFill>
                    <a:srgbClr val="1A63A2"/>
                  </a:solidFill>
                </a:rPr>
                <a:t>Charge</a:t>
              </a:r>
              <a:r>
                <a:rPr lang="it-IT" sz="2000" b="1" dirty="0">
                  <a:solidFill>
                    <a:srgbClr val="1A63A2"/>
                  </a:solidFill>
                </a:rPr>
                <a:t> (</a:t>
              </a:r>
              <a:r>
                <a:rPr lang="it-IT" sz="2000" b="1" dirty="0" err="1">
                  <a:solidFill>
                    <a:srgbClr val="1A63A2"/>
                  </a:solidFill>
                </a:rPr>
                <a:t>SoC</a:t>
              </a:r>
              <a:r>
                <a:rPr lang="it-IT" sz="2000" b="1" dirty="0">
                  <a:solidFill>
                    <a:srgbClr val="1A63A2"/>
                  </a:solidFill>
                </a:rPr>
                <a:t>) – ciclo A/R  sulla media dei log</a:t>
              </a:r>
            </a:p>
          </p:txBody>
        </p:sp>
      </p:grpSp>
      <p:pic>
        <p:nvPicPr>
          <p:cNvPr id="14" name="Elemento grafico 13" descr="Punto esclamativo">
            <a:extLst>
              <a:ext uri="{FF2B5EF4-FFF2-40B4-BE49-F238E27FC236}">
                <a16:creationId xmlns:a16="http://schemas.microsoft.com/office/drawing/2014/main" id="{3C79469C-C16C-423C-951F-751D9AA00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8339878"/>
            <a:ext cx="914400" cy="914400"/>
          </a:xfrm>
          <a:prstGeom prst="rect">
            <a:avLst/>
          </a:prstGeom>
        </p:spPr>
      </p:pic>
      <p:grpSp>
        <p:nvGrpSpPr>
          <p:cNvPr id="24" name="Gruppo 23">
            <a:extLst>
              <a:ext uri="{FF2B5EF4-FFF2-40B4-BE49-F238E27FC236}">
                <a16:creationId xmlns:a16="http://schemas.microsoft.com/office/drawing/2014/main" id="{A150FB62-A71B-463D-AAAC-88450AC45BE3}"/>
              </a:ext>
            </a:extLst>
          </p:cNvPr>
          <p:cNvGrpSpPr/>
          <p:nvPr/>
        </p:nvGrpSpPr>
        <p:grpSpPr>
          <a:xfrm>
            <a:off x="12623800" y="6328566"/>
            <a:ext cx="3505200" cy="1672434"/>
            <a:chOff x="12776200" y="5791201"/>
            <a:chExt cx="3505200" cy="1672434"/>
          </a:xfrm>
        </p:grpSpPr>
        <p:sp>
          <p:nvSpPr>
            <p:cNvPr id="18" name="Rettangolo con angoli arrotondati 17">
              <a:extLst>
                <a:ext uri="{FF2B5EF4-FFF2-40B4-BE49-F238E27FC236}">
                  <a16:creationId xmlns:a16="http://schemas.microsoft.com/office/drawing/2014/main" id="{F0613082-6866-4C23-9FAE-72F379522571}"/>
                </a:ext>
              </a:extLst>
            </p:cNvPr>
            <p:cNvSpPr/>
            <p:nvPr/>
          </p:nvSpPr>
          <p:spPr>
            <a:xfrm>
              <a:off x="12776200" y="5791201"/>
              <a:ext cx="3505200" cy="1496915"/>
            </a:xfrm>
            <a:prstGeom prst="roundRect">
              <a:avLst/>
            </a:prstGeom>
            <a:noFill/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3056B354-588E-46D1-B0C4-4F03747E3681}"/>
                </a:ext>
              </a:extLst>
            </p:cNvPr>
            <p:cNvSpPr txBox="1"/>
            <p:nvPr/>
          </p:nvSpPr>
          <p:spPr>
            <a:xfrm>
              <a:off x="12852400" y="6019800"/>
              <a:ext cx="335280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dirty="0">
                  <a:solidFill>
                    <a:schemeClr val="accent6">
                      <a:lumMod val="75000"/>
                    </a:schemeClr>
                  </a:solidFill>
                </a:rPr>
                <a:t>Consumo totale ciclo A/R</a:t>
              </a:r>
              <a:endParaRPr lang="it-IT" sz="2000" dirty="0"/>
            </a:p>
            <a:p>
              <a:pPr algn="ctr"/>
              <a:endParaRPr lang="it-IT" dirty="0"/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FC78B6D0-7B8A-44B9-BFC3-1F61B47F8BFF}"/>
                </a:ext>
              </a:extLst>
            </p:cNvPr>
            <p:cNvSpPr txBox="1"/>
            <p:nvPr/>
          </p:nvSpPr>
          <p:spPr>
            <a:xfrm>
              <a:off x="12840447" y="6355639"/>
              <a:ext cx="33528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4800" b="1" dirty="0">
                  <a:solidFill>
                    <a:schemeClr val="accent6">
                      <a:lumMod val="75000"/>
                    </a:schemeClr>
                  </a:solidFill>
                </a:rPr>
                <a:t>~38 kWh</a:t>
              </a:r>
              <a:endParaRPr lang="it-IT" sz="4800" b="1" dirty="0"/>
            </a:p>
            <a:p>
              <a:pPr algn="ctr"/>
              <a:endParaRPr lang="it-IT" dirty="0"/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59647552-2DD5-420C-9DDC-9F6EFCC80AF3}"/>
              </a:ext>
            </a:extLst>
          </p:cNvPr>
          <p:cNvGrpSpPr/>
          <p:nvPr/>
        </p:nvGrpSpPr>
        <p:grpSpPr>
          <a:xfrm>
            <a:off x="11775824" y="3414119"/>
            <a:ext cx="2448177" cy="1767481"/>
            <a:chOff x="12852401" y="5814710"/>
            <a:chExt cx="3399392" cy="1207891"/>
          </a:xfrm>
        </p:grpSpPr>
        <p:sp>
          <p:nvSpPr>
            <p:cNvPr id="30" name="Rettangolo con angoli arrotondati 29">
              <a:extLst>
                <a:ext uri="{FF2B5EF4-FFF2-40B4-BE49-F238E27FC236}">
                  <a16:creationId xmlns:a16="http://schemas.microsoft.com/office/drawing/2014/main" id="{EB2ED1A5-D546-4A30-8094-EEEAA870FCE9}"/>
                </a:ext>
              </a:extLst>
            </p:cNvPr>
            <p:cNvSpPr/>
            <p:nvPr/>
          </p:nvSpPr>
          <p:spPr>
            <a:xfrm>
              <a:off x="12898992" y="5814710"/>
              <a:ext cx="3352801" cy="1207891"/>
            </a:xfrm>
            <a:prstGeom prst="roundRect">
              <a:avLst/>
            </a:prstGeom>
            <a:noFill/>
            <a:ln w="76200">
              <a:solidFill>
                <a:srgbClr val="1A63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7D409123-BCA7-46FF-BD95-DBAABA75CA1E}"/>
                </a:ext>
              </a:extLst>
            </p:cNvPr>
            <p:cNvSpPr txBox="1"/>
            <p:nvPr/>
          </p:nvSpPr>
          <p:spPr>
            <a:xfrm>
              <a:off x="12852401" y="5866787"/>
              <a:ext cx="3352800" cy="631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solidFill>
                    <a:srgbClr val="1A63A2"/>
                  </a:solidFill>
                </a:rPr>
                <a:t>Consumo medio andata</a:t>
              </a:r>
              <a:endParaRPr lang="it-IT" dirty="0">
                <a:solidFill>
                  <a:srgbClr val="1A63A2"/>
                </a:solidFill>
              </a:endParaRPr>
            </a:p>
            <a:p>
              <a:pPr algn="ctr"/>
              <a:endParaRPr lang="it-IT" dirty="0"/>
            </a:p>
          </p:txBody>
        </p: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1F21C2C9-F5BA-4B77-B97D-41D674B4CBE2}"/>
                </a:ext>
              </a:extLst>
            </p:cNvPr>
            <p:cNvSpPr txBox="1"/>
            <p:nvPr/>
          </p:nvSpPr>
          <p:spPr>
            <a:xfrm>
              <a:off x="12853767" y="6283386"/>
              <a:ext cx="3352800" cy="631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3600" b="1" dirty="0">
                  <a:solidFill>
                    <a:srgbClr val="1A63A2"/>
                  </a:solidFill>
                </a:rPr>
                <a:t>18.3 kWh</a:t>
              </a:r>
            </a:p>
            <a:p>
              <a:pPr algn="ctr"/>
              <a:r>
                <a:rPr lang="it-IT" dirty="0"/>
                <a:t>(6.1% della batteria)</a:t>
              </a:r>
            </a:p>
          </p:txBody>
        </p:sp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34754FB3-F704-4F63-9F96-E1B8CBEA12BC}"/>
              </a:ext>
            </a:extLst>
          </p:cNvPr>
          <p:cNvGrpSpPr/>
          <p:nvPr/>
        </p:nvGrpSpPr>
        <p:grpSpPr>
          <a:xfrm>
            <a:off x="14442823" y="3414117"/>
            <a:ext cx="2448177" cy="1767481"/>
            <a:chOff x="12852401" y="5814710"/>
            <a:chExt cx="3399392" cy="1207891"/>
          </a:xfrm>
        </p:grpSpPr>
        <p:sp>
          <p:nvSpPr>
            <p:cNvPr id="40" name="Rettangolo con angoli arrotondati 39">
              <a:extLst>
                <a:ext uri="{FF2B5EF4-FFF2-40B4-BE49-F238E27FC236}">
                  <a16:creationId xmlns:a16="http://schemas.microsoft.com/office/drawing/2014/main" id="{6C216E42-94A0-43D7-8B15-F09E4A77E073}"/>
                </a:ext>
              </a:extLst>
            </p:cNvPr>
            <p:cNvSpPr/>
            <p:nvPr/>
          </p:nvSpPr>
          <p:spPr>
            <a:xfrm>
              <a:off x="12898992" y="5814710"/>
              <a:ext cx="3352801" cy="1207891"/>
            </a:xfrm>
            <a:prstGeom prst="roundRect">
              <a:avLst/>
            </a:prstGeom>
            <a:noFill/>
            <a:ln w="76200">
              <a:solidFill>
                <a:srgbClr val="1A63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A8A38B74-6145-4073-9CB1-6B94C77F6B73}"/>
                </a:ext>
              </a:extLst>
            </p:cNvPr>
            <p:cNvSpPr txBox="1"/>
            <p:nvPr/>
          </p:nvSpPr>
          <p:spPr>
            <a:xfrm>
              <a:off x="12852401" y="5866787"/>
              <a:ext cx="3352800" cy="631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solidFill>
                    <a:srgbClr val="1A63A2"/>
                  </a:solidFill>
                </a:rPr>
                <a:t>Consumo medio ritorno</a:t>
              </a:r>
              <a:endParaRPr lang="it-IT" dirty="0">
                <a:solidFill>
                  <a:srgbClr val="1A63A2"/>
                </a:solidFill>
              </a:endParaRPr>
            </a:p>
            <a:p>
              <a:pPr algn="ctr"/>
              <a:endParaRPr lang="it-IT" dirty="0"/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346226EA-20B4-4445-952B-F55589949738}"/>
                </a:ext>
              </a:extLst>
            </p:cNvPr>
            <p:cNvSpPr txBox="1"/>
            <p:nvPr/>
          </p:nvSpPr>
          <p:spPr>
            <a:xfrm>
              <a:off x="12853767" y="6283386"/>
              <a:ext cx="3352800" cy="631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3600" b="1" dirty="0">
                  <a:solidFill>
                    <a:srgbClr val="1A63A2"/>
                  </a:solidFill>
                </a:rPr>
                <a:t>19.7 kWh</a:t>
              </a:r>
            </a:p>
            <a:p>
              <a:pPr algn="ctr"/>
              <a:r>
                <a:rPr lang="it-IT" dirty="0"/>
                <a:t>(6.6% della batteria)</a:t>
              </a:r>
            </a:p>
          </p:txBody>
        </p:sp>
      </p:grpSp>
      <p:pic>
        <p:nvPicPr>
          <p:cNvPr id="28" name="Elemento grafico 27" descr="Freccia, curva oraria">
            <a:extLst>
              <a:ext uri="{FF2B5EF4-FFF2-40B4-BE49-F238E27FC236}">
                <a16:creationId xmlns:a16="http://schemas.microsoft.com/office/drawing/2014/main" id="{00CAC509-20DF-43D4-BA12-7D282F527F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669828">
            <a:off x="14869790" y="5293990"/>
            <a:ext cx="914400" cy="914400"/>
          </a:xfrm>
          <a:prstGeom prst="rect">
            <a:avLst/>
          </a:prstGeom>
        </p:spPr>
      </p:pic>
      <p:pic>
        <p:nvPicPr>
          <p:cNvPr id="43" name="Elemento grafico 42" descr="Freccia, curva oraria">
            <a:extLst>
              <a:ext uri="{FF2B5EF4-FFF2-40B4-BE49-F238E27FC236}">
                <a16:creationId xmlns:a16="http://schemas.microsoft.com/office/drawing/2014/main" id="{2B863148-735B-451A-8F0E-753022F0F5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930172" flipH="1">
            <a:off x="13040990" y="529399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9916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0">
            <a:extLst>
              <a:ext uri="{FF2B5EF4-FFF2-40B4-BE49-F238E27FC236}">
                <a16:creationId xmlns:a16="http://schemas.microsoft.com/office/drawing/2014/main" id="{20EDE264-25AA-412E-BEF6-322B16F3E6A6}"/>
              </a:ext>
            </a:extLst>
          </p:cNvPr>
          <p:cNvSpPr txBox="1">
            <a:spLocks/>
          </p:cNvSpPr>
          <p:nvPr/>
        </p:nvSpPr>
        <p:spPr>
          <a:xfrm>
            <a:off x="1270001" y="872594"/>
            <a:ext cx="14399274" cy="690288"/>
          </a:xfrm>
          <a:prstGeom prst="rect">
            <a:avLst/>
          </a:prstGeom>
        </p:spPr>
        <p:txBody>
          <a:bodyPr vert="horz" wrap="square" lIns="0" tIns="96872" rIns="0" bIns="0" rtlCol="0">
            <a:spAutoFit/>
          </a:bodyPr>
          <a:lstStyle>
            <a:lvl1pPr>
              <a:defRPr sz="4150" b="0" i="0">
                <a:solidFill>
                  <a:srgbClr val="08486E"/>
                </a:solidFill>
                <a:latin typeface="Arial MT"/>
                <a:ea typeface="+mj-ea"/>
                <a:cs typeface="Arial MT"/>
              </a:defRPr>
            </a:lvl1pPr>
          </a:lstStyle>
          <a:p>
            <a:pPr>
              <a:spcBef>
                <a:spcPts val="135"/>
              </a:spcBef>
            </a:pPr>
            <a:r>
              <a:rPr lang="it-IT" sz="3850" b="1" spc="50" dirty="0">
                <a:solidFill>
                  <a:srgbClr val="1A63A2"/>
                </a:solidFill>
              </a:rPr>
              <a:t>Scenario con </a:t>
            </a:r>
            <a:r>
              <a:rPr lang="it-IT" sz="3850" b="1" spc="50" dirty="0" err="1">
                <a:solidFill>
                  <a:srgbClr val="1A63A2"/>
                </a:solidFill>
              </a:rPr>
              <a:t>pad</a:t>
            </a:r>
            <a:r>
              <a:rPr lang="it-IT" sz="3850" b="1" spc="50" dirty="0">
                <a:solidFill>
                  <a:srgbClr val="1A63A2"/>
                </a:solidFill>
              </a:rPr>
              <a:t> ad ogni fermata</a:t>
            </a:r>
            <a:endParaRPr lang="it-IT" sz="3850" dirty="0"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0F4220C0-A1E1-427D-B41F-22AEA52A42F1}"/>
              </a:ext>
            </a:extLst>
          </p:cNvPr>
          <p:cNvSpPr/>
          <p:nvPr/>
        </p:nvSpPr>
        <p:spPr>
          <a:xfrm>
            <a:off x="1041400" y="1008061"/>
            <a:ext cx="76200" cy="2381802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ln w="50800">
            <a:solidFill>
              <a:srgbClr val="1A63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93BC25A4-6BAF-4B38-9085-D2DDE2BD1322}"/>
              </a:ext>
            </a:extLst>
          </p:cNvPr>
          <p:cNvSpPr txBox="1"/>
          <p:nvPr/>
        </p:nvSpPr>
        <p:spPr>
          <a:xfrm>
            <a:off x="1269998" y="1584977"/>
            <a:ext cx="15392401" cy="7829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" marR="5080" indent="-12065">
              <a:lnSpc>
                <a:spcPts val="3000"/>
              </a:lnSpc>
              <a:spcBef>
                <a:spcPts val="615"/>
              </a:spcBef>
            </a:pPr>
            <a:r>
              <a:rPr lang="it-IT" sz="2800" dirty="0">
                <a:solidFill>
                  <a:srgbClr val="0F0F0F"/>
                </a:solidFill>
                <a:latin typeface="Calibri"/>
                <a:cs typeface="Calibri"/>
              </a:rPr>
              <a:t>Il</a:t>
            </a:r>
            <a:r>
              <a:rPr lang="it-IT" sz="2800" spc="-19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it-IT" sz="2800" spc="-150" dirty="0">
                <a:latin typeface="Calibri"/>
                <a:cs typeface="Calibri"/>
              </a:rPr>
              <a:t>primo</a:t>
            </a:r>
            <a:r>
              <a:rPr lang="it-IT" sz="2800" spc="-30" dirty="0">
                <a:latin typeface="Calibri"/>
                <a:cs typeface="Calibri"/>
              </a:rPr>
              <a:t> </a:t>
            </a:r>
            <a:r>
              <a:rPr lang="it-IT" sz="2800" spc="-110" dirty="0">
                <a:latin typeface="Calibri"/>
                <a:cs typeface="Calibri"/>
              </a:rPr>
              <a:t>scenario</a:t>
            </a:r>
            <a:r>
              <a:rPr lang="it-IT" sz="2800" spc="-55" dirty="0">
                <a:latin typeface="Calibri"/>
                <a:cs typeface="Calibri"/>
              </a:rPr>
              <a:t> </a:t>
            </a:r>
            <a:r>
              <a:rPr lang="it-IT" sz="2800" spc="-90" dirty="0">
                <a:latin typeface="Calibri"/>
                <a:cs typeface="Calibri"/>
              </a:rPr>
              <a:t>analizzato</a:t>
            </a:r>
            <a:r>
              <a:rPr lang="it-IT" sz="2800" spc="-70" dirty="0">
                <a:latin typeface="Calibri"/>
                <a:cs typeface="Calibri"/>
              </a:rPr>
              <a:t> </a:t>
            </a:r>
            <a:r>
              <a:rPr lang="it-IT" sz="2800" dirty="0">
                <a:latin typeface="Calibri"/>
                <a:cs typeface="Calibri"/>
              </a:rPr>
              <a:t>è</a:t>
            </a:r>
            <a:r>
              <a:rPr lang="it-IT" sz="2800" spc="-165" dirty="0">
                <a:latin typeface="Calibri"/>
                <a:cs typeface="Calibri"/>
              </a:rPr>
              <a:t> </a:t>
            </a:r>
            <a:r>
              <a:rPr lang="it-IT" sz="2800" spc="-120" dirty="0">
                <a:latin typeface="Calibri"/>
                <a:cs typeface="Calibri"/>
              </a:rPr>
              <a:t>stato</a:t>
            </a:r>
            <a:r>
              <a:rPr lang="it-IT" sz="2800" spc="-65" dirty="0">
                <a:latin typeface="Calibri"/>
                <a:cs typeface="Calibri"/>
              </a:rPr>
              <a:t> </a:t>
            </a:r>
            <a:r>
              <a:rPr lang="it-IT" sz="2800" spc="-100" dirty="0">
                <a:latin typeface="Calibri"/>
                <a:cs typeface="Calibri"/>
              </a:rPr>
              <a:t>quello</a:t>
            </a:r>
            <a:r>
              <a:rPr lang="it-IT" sz="2800" spc="-50" dirty="0">
                <a:latin typeface="Calibri"/>
                <a:cs typeface="Calibri"/>
              </a:rPr>
              <a:t> </a:t>
            </a:r>
            <a:r>
              <a:rPr lang="it-IT" sz="2800" spc="-80" dirty="0">
                <a:latin typeface="Calibri"/>
                <a:cs typeface="Calibri"/>
              </a:rPr>
              <a:t>più</a:t>
            </a:r>
            <a:r>
              <a:rPr lang="it-IT" sz="2800" spc="-20" dirty="0">
                <a:latin typeface="Calibri"/>
                <a:cs typeface="Calibri"/>
              </a:rPr>
              <a:t> </a:t>
            </a:r>
            <a:r>
              <a:rPr lang="it-IT" sz="2800" spc="-140" dirty="0">
                <a:latin typeface="Calibri"/>
                <a:cs typeface="Calibri"/>
              </a:rPr>
              <a:t>completo:</a:t>
            </a:r>
            <a:r>
              <a:rPr lang="it-IT" sz="2800" spc="-20" dirty="0">
                <a:latin typeface="Calibri"/>
                <a:cs typeface="Calibri"/>
              </a:rPr>
              <a:t> </a:t>
            </a:r>
            <a:r>
              <a:rPr lang="it-IT" sz="2800" dirty="0">
                <a:latin typeface="Calibri"/>
                <a:cs typeface="Calibri"/>
              </a:rPr>
              <a:t>Installazione</a:t>
            </a:r>
            <a:r>
              <a:rPr lang="it-IT" sz="2800" spc="35" dirty="0">
                <a:latin typeface="Calibri"/>
                <a:cs typeface="Calibri"/>
              </a:rPr>
              <a:t> </a:t>
            </a:r>
            <a:r>
              <a:rPr lang="it-IT" sz="2800" spc="-20" dirty="0">
                <a:latin typeface="Calibri"/>
                <a:cs typeface="Calibri"/>
              </a:rPr>
              <a:t>di</a:t>
            </a:r>
            <a:r>
              <a:rPr lang="it-IT" sz="2800" spc="-210" dirty="0">
                <a:latin typeface="Calibri"/>
                <a:cs typeface="Calibri"/>
              </a:rPr>
              <a:t> </a:t>
            </a:r>
            <a:r>
              <a:rPr lang="it-IT" sz="2800" spc="-65" dirty="0">
                <a:latin typeface="Calibri"/>
                <a:cs typeface="Calibri"/>
              </a:rPr>
              <a:t>un</a:t>
            </a:r>
            <a:r>
              <a:rPr lang="it-IT" sz="2800" spc="-105" dirty="0">
                <a:latin typeface="Calibri"/>
                <a:cs typeface="Calibri"/>
              </a:rPr>
              <a:t> </a:t>
            </a:r>
            <a:r>
              <a:rPr lang="it-IT" sz="2800" spc="-130" dirty="0" err="1">
                <a:latin typeface="Calibri"/>
                <a:cs typeface="Calibri"/>
              </a:rPr>
              <a:t>pad</a:t>
            </a:r>
            <a:r>
              <a:rPr lang="it-IT" sz="2800" spc="-80" dirty="0">
                <a:latin typeface="Calibri"/>
                <a:cs typeface="Calibri"/>
              </a:rPr>
              <a:t> </a:t>
            </a:r>
            <a:r>
              <a:rPr lang="it-IT" sz="2800" spc="-70" dirty="0">
                <a:latin typeface="Calibri"/>
                <a:cs typeface="Calibri"/>
              </a:rPr>
              <a:t>di</a:t>
            </a:r>
            <a:r>
              <a:rPr lang="it-IT" sz="2800" spc="-110" dirty="0">
                <a:latin typeface="Calibri"/>
                <a:cs typeface="Calibri"/>
              </a:rPr>
              <a:t> </a:t>
            </a:r>
            <a:r>
              <a:rPr lang="it-IT" sz="2800" spc="-85" dirty="0">
                <a:latin typeface="Calibri"/>
                <a:cs typeface="Calibri"/>
              </a:rPr>
              <a:t>ricarica</a:t>
            </a:r>
            <a:r>
              <a:rPr lang="it-IT" sz="2800" spc="-40" dirty="0">
                <a:latin typeface="Calibri"/>
                <a:cs typeface="Calibri"/>
              </a:rPr>
              <a:t> </a:t>
            </a:r>
            <a:r>
              <a:rPr lang="it-IT" sz="2800" spc="-35" dirty="0">
                <a:solidFill>
                  <a:srgbClr val="0C0C0C"/>
                </a:solidFill>
                <a:latin typeface="Calibri"/>
                <a:cs typeface="Calibri"/>
              </a:rPr>
              <a:t>da</a:t>
            </a:r>
            <a:r>
              <a:rPr lang="it-IT" sz="2800" spc="-6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lang="it-IT" sz="2800" spc="-30" dirty="0">
                <a:latin typeface="Calibri"/>
                <a:cs typeface="Calibri"/>
              </a:rPr>
              <a:t>50</a:t>
            </a:r>
            <a:r>
              <a:rPr lang="it-IT" sz="2800" spc="-135" dirty="0">
                <a:latin typeface="Calibri"/>
                <a:cs typeface="Calibri"/>
              </a:rPr>
              <a:t> </a:t>
            </a:r>
            <a:r>
              <a:rPr lang="it-IT" sz="2800" dirty="0">
                <a:solidFill>
                  <a:srgbClr val="0F0F0F"/>
                </a:solidFill>
                <a:latin typeface="Calibri"/>
                <a:cs typeface="Calibri"/>
              </a:rPr>
              <a:t>kW</a:t>
            </a:r>
            <a:r>
              <a:rPr lang="it-IT" sz="2800" spc="-6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it-IT" sz="2800" spc="-60" dirty="0">
                <a:latin typeface="Calibri"/>
                <a:cs typeface="Calibri"/>
              </a:rPr>
              <a:t>in</a:t>
            </a:r>
            <a:r>
              <a:rPr lang="it-IT" sz="2800" spc="-55" dirty="0">
                <a:latin typeface="Calibri"/>
                <a:cs typeface="Calibri"/>
              </a:rPr>
              <a:t> </a:t>
            </a:r>
            <a:r>
              <a:rPr lang="it-IT" sz="2800" spc="-125" dirty="0">
                <a:latin typeface="Calibri"/>
                <a:cs typeface="Calibri"/>
              </a:rPr>
              <a:t>tutte</a:t>
            </a:r>
            <a:r>
              <a:rPr lang="it-IT" sz="2800" spc="-5" dirty="0">
                <a:latin typeface="Calibri"/>
                <a:cs typeface="Calibri"/>
              </a:rPr>
              <a:t> </a:t>
            </a:r>
            <a:r>
              <a:rPr lang="it-IT" sz="2800" spc="-50" dirty="0">
                <a:latin typeface="Calibri"/>
                <a:cs typeface="Calibri"/>
              </a:rPr>
              <a:t>le</a:t>
            </a:r>
            <a:r>
              <a:rPr lang="it-IT" sz="2800" spc="-90" dirty="0">
                <a:latin typeface="Calibri"/>
                <a:cs typeface="Calibri"/>
              </a:rPr>
              <a:t> </a:t>
            </a:r>
            <a:r>
              <a:rPr lang="it-IT" sz="2800" spc="-25" dirty="0">
                <a:latin typeface="Calibri"/>
                <a:cs typeface="Calibri"/>
              </a:rPr>
              <a:t>51 </a:t>
            </a:r>
            <a:r>
              <a:rPr lang="it-IT" sz="2800" spc="-125" dirty="0">
                <a:latin typeface="Calibri"/>
                <a:cs typeface="Calibri"/>
              </a:rPr>
              <a:t>fermate</a:t>
            </a:r>
            <a:r>
              <a:rPr lang="it-IT" sz="2800" spc="-40" dirty="0">
                <a:latin typeface="Calibri"/>
                <a:cs typeface="Calibri"/>
              </a:rPr>
              <a:t> </a:t>
            </a:r>
            <a:r>
              <a:rPr lang="it-IT" sz="2800" spc="-75" dirty="0">
                <a:latin typeface="Calibri"/>
                <a:cs typeface="Calibri"/>
              </a:rPr>
              <a:t>della</a:t>
            </a:r>
            <a:r>
              <a:rPr lang="it-IT" sz="2800" spc="-85" dirty="0">
                <a:latin typeface="Calibri"/>
                <a:cs typeface="Calibri"/>
              </a:rPr>
              <a:t> </a:t>
            </a:r>
            <a:r>
              <a:rPr lang="it-IT" sz="2800" spc="-105" dirty="0">
                <a:latin typeface="Calibri"/>
                <a:cs typeface="Calibri"/>
              </a:rPr>
              <a:t>linea.</a:t>
            </a:r>
            <a:r>
              <a:rPr lang="it-IT" sz="2800" spc="-60" dirty="0">
                <a:latin typeface="Calibri"/>
                <a:cs typeface="Calibri"/>
              </a:rPr>
              <a:t> </a:t>
            </a:r>
            <a:r>
              <a:rPr lang="it-IT" sz="2800" dirty="0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lang="it-IT" sz="2800" spc="-1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it-IT" sz="2800" spc="-120" dirty="0">
                <a:latin typeface="Calibri"/>
                <a:cs typeface="Calibri"/>
              </a:rPr>
              <a:t>teoria,</a:t>
            </a:r>
            <a:r>
              <a:rPr lang="it-IT" sz="2800" spc="-45" dirty="0">
                <a:latin typeface="Calibri"/>
                <a:cs typeface="Calibri"/>
              </a:rPr>
              <a:t> </a:t>
            </a:r>
            <a:r>
              <a:rPr lang="it-IT" sz="2800" spc="-100" dirty="0">
                <a:latin typeface="Calibri"/>
                <a:cs typeface="Calibri"/>
              </a:rPr>
              <a:t>questo</a:t>
            </a:r>
            <a:r>
              <a:rPr lang="it-IT" sz="2800" spc="-60" dirty="0">
                <a:latin typeface="Calibri"/>
                <a:cs typeface="Calibri"/>
              </a:rPr>
              <a:t> </a:t>
            </a:r>
            <a:r>
              <a:rPr lang="it-IT" sz="2800" spc="-85" dirty="0">
                <a:latin typeface="Calibri"/>
                <a:cs typeface="Calibri"/>
              </a:rPr>
              <a:t>approccio</a:t>
            </a:r>
            <a:r>
              <a:rPr lang="it-IT" sz="2800" spc="-80" dirty="0">
                <a:latin typeface="Calibri"/>
                <a:cs typeface="Calibri"/>
              </a:rPr>
              <a:t> </a:t>
            </a:r>
            <a:r>
              <a:rPr lang="it-IT" sz="2800" spc="-90" dirty="0">
                <a:latin typeface="Calibri"/>
                <a:cs typeface="Calibri"/>
              </a:rPr>
              <a:t>dovrebbe</a:t>
            </a:r>
            <a:r>
              <a:rPr lang="it-IT" sz="2800" spc="60" dirty="0">
                <a:latin typeface="Calibri"/>
                <a:cs typeface="Calibri"/>
              </a:rPr>
              <a:t> </a:t>
            </a:r>
            <a:r>
              <a:rPr lang="it-IT" sz="2800" spc="-114" dirty="0">
                <a:latin typeface="Calibri"/>
                <a:cs typeface="Calibri"/>
              </a:rPr>
              <a:t>garantire</a:t>
            </a:r>
            <a:r>
              <a:rPr lang="it-IT" sz="2800" dirty="0">
                <a:latin typeface="Calibri"/>
                <a:cs typeface="Calibri"/>
              </a:rPr>
              <a:t> </a:t>
            </a:r>
            <a:r>
              <a:rPr lang="it-IT" sz="2800" spc="-90" dirty="0">
                <a:latin typeface="Calibri"/>
                <a:cs typeface="Calibri"/>
              </a:rPr>
              <a:t>una</a:t>
            </a:r>
            <a:r>
              <a:rPr lang="it-IT" sz="2800" spc="-35" dirty="0">
                <a:latin typeface="Calibri"/>
                <a:cs typeface="Calibri"/>
              </a:rPr>
              <a:t> </a:t>
            </a:r>
            <a:r>
              <a:rPr lang="it-IT" sz="2800" spc="-70" dirty="0">
                <a:latin typeface="Calibri"/>
                <a:cs typeface="Calibri"/>
              </a:rPr>
              <a:t>ricarica</a:t>
            </a:r>
            <a:r>
              <a:rPr lang="it-IT" sz="2800" spc="15" dirty="0">
                <a:latin typeface="Calibri"/>
                <a:cs typeface="Calibri"/>
              </a:rPr>
              <a:t> </a:t>
            </a:r>
            <a:r>
              <a:rPr lang="it-IT" sz="2800" spc="-100" dirty="0">
                <a:latin typeface="Calibri"/>
                <a:cs typeface="Calibri"/>
              </a:rPr>
              <a:t>costante</a:t>
            </a:r>
            <a:r>
              <a:rPr lang="it-IT" sz="2800" spc="65" dirty="0">
                <a:latin typeface="Calibri"/>
                <a:cs typeface="Calibri"/>
              </a:rPr>
              <a:t> </a:t>
            </a:r>
            <a:r>
              <a:rPr lang="it-IT" sz="2800" spc="-75" dirty="0">
                <a:latin typeface="Calibri"/>
                <a:cs typeface="Calibri"/>
              </a:rPr>
              <a:t>lungo</a:t>
            </a:r>
            <a:r>
              <a:rPr lang="it-IT" sz="2800" spc="-35" dirty="0">
                <a:latin typeface="Calibri"/>
                <a:cs typeface="Calibri"/>
              </a:rPr>
              <a:t> </a:t>
            </a:r>
            <a:r>
              <a:rPr lang="it-IT" sz="2800" spc="-114" dirty="0">
                <a:solidFill>
                  <a:srgbClr val="0C0C0C"/>
                </a:solidFill>
                <a:latin typeface="Calibri"/>
                <a:cs typeface="Calibri"/>
              </a:rPr>
              <a:t>tutto</a:t>
            </a:r>
            <a:r>
              <a:rPr lang="it-IT" sz="2800" spc="-6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lang="it-IT" sz="2800" dirty="0">
                <a:solidFill>
                  <a:srgbClr val="161616"/>
                </a:solidFill>
                <a:latin typeface="Calibri"/>
                <a:cs typeface="Calibri"/>
              </a:rPr>
              <a:t>il</a:t>
            </a:r>
            <a:r>
              <a:rPr lang="it-IT" sz="2800" spc="-19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lang="it-IT" sz="2800" spc="-10" dirty="0">
                <a:latin typeface="Calibri"/>
                <a:cs typeface="Calibri"/>
              </a:rPr>
              <a:t>percorso.</a:t>
            </a:r>
            <a:endParaRPr lang="it-IT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508681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0700" y="5651500"/>
            <a:ext cx="114300" cy="2654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1200" y="4572000"/>
            <a:ext cx="3365500" cy="3365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4700" y="4559300"/>
            <a:ext cx="4305300" cy="2463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0700" y="3441700"/>
            <a:ext cx="6273800" cy="1397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65200" y="4495800"/>
            <a:ext cx="4660900" cy="2527300"/>
            <a:chOff x="965200" y="4495800"/>
            <a:chExt cx="4660900" cy="252730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5200" y="4572000"/>
              <a:ext cx="4292600" cy="24511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2500" y="4495800"/>
              <a:ext cx="863600" cy="10160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31100" y="5969000"/>
            <a:ext cx="2413000" cy="5969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41608" y="672041"/>
            <a:ext cx="12494895" cy="146050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 marR="5080">
              <a:lnSpc>
                <a:spcPts val="5050"/>
              </a:lnSpc>
              <a:spcBef>
                <a:spcPts val="1265"/>
              </a:spcBef>
            </a:pPr>
            <a:r>
              <a:rPr sz="5200" dirty="0">
                <a:solidFill>
                  <a:srgbClr val="212121"/>
                </a:solidFill>
              </a:rPr>
              <a:t>I</a:t>
            </a:r>
            <a:r>
              <a:rPr sz="5200" spc="-125" dirty="0">
                <a:solidFill>
                  <a:srgbClr val="212121"/>
                </a:solidFill>
              </a:rPr>
              <a:t> </a:t>
            </a:r>
            <a:r>
              <a:rPr sz="5200" spc="75" dirty="0">
                <a:solidFill>
                  <a:srgbClr val="1C1C1C"/>
                </a:solidFill>
              </a:rPr>
              <a:t>Risultati</a:t>
            </a:r>
            <a:r>
              <a:rPr sz="5200" spc="-110" dirty="0">
                <a:solidFill>
                  <a:srgbClr val="1C1C1C"/>
                </a:solidFill>
              </a:rPr>
              <a:t> </a:t>
            </a:r>
            <a:r>
              <a:rPr sz="5200" dirty="0">
                <a:solidFill>
                  <a:srgbClr val="1C1C1C"/>
                </a:solidFill>
              </a:rPr>
              <a:t>della</a:t>
            </a:r>
            <a:r>
              <a:rPr sz="5200" spc="-145" dirty="0">
                <a:solidFill>
                  <a:srgbClr val="1C1C1C"/>
                </a:solidFill>
              </a:rPr>
              <a:t> </a:t>
            </a:r>
            <a:r>
              <a:rPr sz="5200" dirty="0">
                <a:solidFill>
                  <a:srgbClr val="1C1C1C"/>
                </a:solidFill>
              </a:rPr>
              <a:t>Simulazione:</a:t>
            </a:r>
            <a:r>
              <a:rPr sz="5200" spc="-125" dirty="0">
                <a:solidFill>
                  <a:srgbClr val="1C1C1C"/>
                </a:solidFill>
              </a:rPr>
              <a:t> </a:t>
            </a:r>
            <a:r>
              <a:rPr sz="5200" spc="-40" dirty="0">
                <a:solidFill>
                  <a:srgbClr val="0C4D77"/>
                </a:solidFill>
              </a:rPr>
              <a:t>Una</a:t>
            </a:r>
            <a:r>
              <a:rPr sz="5200" spc="-170" dirty="0">
                <a:solidFill>
                  <a:srgbClr val="0C4D77"/>
                </a:solidFill>
              </a:rPr>
              <a:t> </a:t>
            </a:r>
            <a:r>
              <a:rPr sz="5200" spc="-10" dirty="0">
                <a:solidFill>
                  <a:srgbClr val="084D75"/>
                </a:solidFill>
              </a:rPr>
              <a:t>Strategia </a:t>
            </a:r>
            <a:r>
              <a:rPr sz="5200" spc="85" dirty="0">
                <a:solidFill>
                  <a:srgbClr val="05446B"/>
                </a:solidFill>
              </a:rPr>
              <a:t>Inefficiente</a:t>
            </a:r>
            <a:endParaRPr sz="5200"/>
          </a:p>
        </p:txBody>
      </p:sp>
      <p:sp>
        <p:nvSpPr>
          <p:cNvPr id="11" name="object 11"/>
          <p:cNvSpPr txBox="1"/>
          <p:nvPr/>
        </p:nvSpPr>
        <p:spPr>
          <a:xfrm>
            <a:off x="958750" y="2236963"/>
            <a:ext cx="13288644" cy="2035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3245"/>
              </a:lnSpc>
              <a:spcBef>
                <a:spcPts val="135"/>
              </a:spcBef>
              <a:tabLst>
                <a:tab pos="2047875" algn="l"/>
              </a:tabLst>
            </a:pPr>
            <a:r>
              <a:rPr sz="2950" spc="-65" dirty="0">
                <a:latin typeface="Calibri"/>
                <a:cs typeface="Calibri"/>
              </a:rPr>
              <a:t>Nonostante</a:t>
            </a:r>
            <a:r>
              <a:rPr sz="2950" spc="-95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I</a:t>
            </a:r>
            <a:r>
              <a:rPr sz="2950" dirty="0">
                <a:latin typeface="Calibri"/>
                <a:cs typeface="Calibri"/>
              </a:rPr>
              <a:t>	</a:t>
            </a:r>
            <a:r>
              <a:rPr sz="2950" spc="-80" dirty="0">
                <a:latin typeface="Calibri"/>
                <a:cs typeface="Calibri"/>
              </a:rPr>
              <a:t>nvestimento</a:t>
            </a:r>
            <a:r>
              <a:rPr sz="2950" spc="-90" dirty="0">
                <a:latin typeface="Calibri"/>
                <a:cs typeface="Calibri"/>
              </a:rPr>
              <a:t> </a:t>
            </a:r>
            <a:r>
              <a:rPr sz="2950" spc="-45" dirty="0">
                <a:latin typeface="Calibri"/>
                <a:cs typeface="Calibri"/>
              </a:rPr>
              <a:t>massiccio</a:t>
            </a:r>
            <a:r>
              <a:rPr sz="2950" spc="-3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in</a:t>
            </a:r>
            <a:r>
              <a:rPr sz="2950" spc="-10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51</a:t>
            </a:r>
            <a:r>
              <a:rPr sz="2950" spc="-85" dirty="0">
                <a:latin typeface="Calibri"/>
                <a:cs typeface="Calibri"/>
              </a:rPr>
              <a:t> </a:t>
            </a:r>
            <a:r>
              <a:rPr sz="2950" spc="-40" dirty="0">
                <a:latin typeface="Calibri"/>
                <a:cs typeface="Calibri"/>
              </a:rPr>
              <a:t>stazioni </a:t>
            </a:r>
            <a:r>
              <a:rPr sz="2950" spc="-30" dirty="0">
                <a:latin typeface="Calibri"/>
                <a:cs typeface="Calibri"/>
              </a:rPr>
              <a:t>di</a:t>
            </a:r>
            <a:r>
              <a:rPr sz="2950" spc="-140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ricarica,</a:t>
            </a:r>
            <a:r>
              <a:rPr sz="2950" spc="-6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i</a:t>
            </a:r>
            <a:r>
              <a:rPr sz="2950" spc="-140" dirty="0">
                <a:latin typeface="Calibri"/>
                <a:cs typeface="Calibri"/>
              </a:rPr>
              <a:t> </a:t>
            </a:r>
            <a:r>
              <a:rPr sz="2950" spc="-30" dirty="0">
                <a:latin typeface="Calibri"/>
                <a:cs typeface="Calibri"/>
              </a:rPr>
              <a:t>brevi</a:t>
            </a:r>
            <a:r>
              <a:rPr sz="2950" spc="-15" dirty="0">
                <a:latin typeface="Calibri"/>
                <a:cs typeface="Calibri"/>
              </a:rPr>
              <a:t> </a:t>
            </a:r>
            <a:r>
              <a:rPr sz="2950" spc="-114" dirty="0">
                <a:latin typeface="Calibri"/>
                <a:cs typeface="Calibri"/>
              </a:rPr>
              <a:t>tempi</a:t>
            </a:r>
            <a:r>
              <a:rPr sz="2950" spc="-5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di</a:t>
            </a:r>
            <a:r>
              <a:rPr sz="2950" spc="-140" dirty="0">
                <a:latin typeface="Calibri"/>
                <a:cs typeface="Calibri"/>
              </a:rPr>
              <a:t> </a:t>
            </a:r>
            <a:r>
              <a:rPr sz="2950" spc="-25" dirty="0">
                <a:latin typeface="Calibri"/>
                <a:cs typeface="Calibri"/>
              </a:rPr>
              <a:t>sosta</a:t>
            </a:r>
            <a:r>
              <a:rPr sz="2950" spc="-110" dirty="0">
                <a:latin typeface="Calibri"/>
                <a:cs typeface="Calibri"/>
              </a:rPr>
              <a:t> </a:t>
            </a:r>
            <a:r>
              <a:rPr sz="2950" spc="-40" dirty="0">
                <a:latin typeface="Calibri"/>
                <a:cs typeface="Calibri"/>
              </a:rPr>
              <a:t>limitano</a:t>
            </a:r>
            <a:endParaRPr sz="2950">
              <a:latin typeface="Calibri"/>
              <a:cs typeface="Calibri"/>
            </a:endParaRPr>
          </a:p>
          <a:p>
            <a:pPr marL="13335">
              <a:lnSpc>
                <a:spcPts val="3365"/>
              </a:lnSpc>
            </a:pPr>
            <a:r>
              <a:rPr sz="3050" spc="-125" dirty="0">
                <a:latin typeface="Calibri"/>
                <a:cs typeface="Calibri"/>
              </a:rPr>
              <a:t>drasticamente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125" dirty="0">
                <a:latin typeface="Calibri"/>
                <a:cs typeface="Calibri"/>
              </a:rPr>
              <a:t>l'energia</a:t>
            </a:r>
            <a:r>
              <a:rPr sz="3050" spc="90" dirty="0">
                <a:latin typeface="Calibri"/>
                <a:cs typeface="Calibri"/>
              </a:rPr>
              <a:t> </a:t>
            </a:r>
            <a:r>
              <a:rPr sz="3050" spc="-110" dirty="0">
                <a:latin typeface="Calibri"/>
                <a:cs typeface="Calibri"/>
              </a:rPr>
              <a:t>trasferita.</a:t>
            </a:r>
            <a:r>
              <a:rPr sz="3050" spc="45" dirty="0"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0C0C0C"/>
                </a:solidFill>
                <a:latin typeface="Calibri"/>
                <a:cs typeface="Calibri"/>
              </a:rPr>
              <a:t>Il</a:t>
            </a:r>
            <a:r>
              <a:rPr sz="3050" spc="-17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050" spc="-130" dirty="0">
                <a:latin typeface="Calibri"/>
                <a:cs typeface="Calibri"/>
              </a:rPr>
              <a:t>sistema</a:t>
            </a:r>
            <a:r>
              <a:rPr sz="3050" spc="-80" dirty="0">
                <a:latin typeface="Calibri"/>
                <a:cs typeface="Calibri"/>
              </a:rPr>
              <a:t> </a:t>
            </a:r>
            <a:r>
              <a:rPr sz="3050" spc="-120" dirty="0">
                <a:latin typeface="Calibri"/>
                <a:cs typeface="Calibri"/>
              </a:rPr>
              <a:t>coprirebbe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80" dirty="0">
                <a:latin typeface="Calibri"/>
                <a:cs typeface="Calibri"/>
              </a:rPr>
              <a:t>solo</a:t>
            </a:r>
            <a:r>
              <a:rPr sz="3050" spc="-9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i</a:t>
            </a:r>
            <a:r>
              <a:rPr sz="3050" spc="-150" dirty="0">
                <a:latin typeface="Calibri"/>
                <a:cs typeface="Calibri"/>
              </a:rPr>
              <a:t> </a:t>
            </a:r>
            <a:r>
              <a:rPr sz="3050" spc="-90" dirty="0">
                <a:latin typeface="Calibri"/>
                <a:cs typeface="Calibri"/>
              </a:rPr>
              <a:t>due</a:t>
            </a:r>
            <a:r>
              <a:rPr sz="3050" spc="-65" dirty="0">
                <a:latin typeface="Calibri"/>
                <a:cs typeface="Calibri"/>
              </a:rPr>
              <a:t> </a:t>
            </a:r>
            <a:r>
              <a:rPr sz="3050" spc="-90" dirty="0">
                <a:latin typeface="Calibri"/>
                <a:cs typeface="Calibri"/>
              </a:rPr>
              <a:t>terzi</a:t>
            </a:r>
            <a:r>
              <a:rPr sz="3050" spc="-70" dirty="0">
                <a:latin typeface="Calibri"/>
                <a:cs typeface="Calibri"/>
              </a:rPr>
              <a:t> </a:t>
            </a:r>
            <a:r>
              <a:rPr sz="3050" spc="-125" dirty="0">
                <a:latin typeface="Calibri"/>
                <a:cs typeface="Calibri"/>
              </a:rPr>
              <a:t>del</a:t>
            </a:r>
            <a:r>
              <a:rPr sz="3050" spc="-6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consumo.</a:t>
            </a:r>
            <a:endParaRPr sz="3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050">
              <a:latin typeface="Calibri"/>
              <a:cs typeface="Calibri"/>
            </a:endParaRPr>
          </a:p>
          <a:p>
            <a:pPr marL="4485640">
              <a:lnSpc>
                <a:spcPct val="100000"/>
              </a:lnSpc>
            </a:pPr>
            <a:r>
              <a:rPr sz="3650" spc="3995" dirty="0">
                <a:solidFill>
                  <a:srgbClr val="8E8E8E"/>
                </a:solidFill>
                <a:latin typeface="Calibri"/>
                <a:cs typeface="Calibri"/>
              </a:rPr>
              <a:t>)</a:t>
            </a:r>
            <a:r>
              <a:rPr sz="3650" spc="-90" dirty="0">
                <a:solidFill>
                  <a:srgbClr val="083D60"/>
                </a:solidFill>
                <a:latin typeface="Calibri"/>
                <a:cs typeface="Calibri"/>
              </a:rPr>
              <a:t>Copertura</a:t>
            </a:r>
            <a:r>
              <a:rPr sz="3650" spc="229" dirty="0">
                <a:solidFill>
                  <a:srgbClr val="083D60"/>
                </a:solidFill>
                <a:latin typeface="Calibri"/>
                <a:cs typeface="Calibri"/>
              </a:rPr>
              <a:t> </a:t>
            </a:r>
            <a:r>
              <a:rPr sz="3650" spc="75" dirty="0">
                <a:solidFill>
                  <a:srgbClr val="083D5D"/>
                </a:solidFill>
                <a:latin typeface="Calibri"/>
                <a:cs typeface="Calibri"/>
              </a:rPr>
              <a:t>Energetica</a:t>
            </a:r>
            <a:r>
              <a:rPr sz="3650" spc="180" dirty="0">
                <a:solidFill>
                  <a:srgbClr val="083D5D"/>
                </a:solidFill>
                <a:latin typeface="Calibri"/>
                <a:cs typeface="Calibri"/>
              </a:rPr>
              <a:t> </a:t>
            </a:r>
            <a:r>
              <a:rPr sz="3650" spc="-10" dirty="0">
                <a:solidFill>
                  <a:srgbClr val="0F425E"/>
                </a:solidFill>
                <a:latin typeface="Calibri"/>
                <a:cs typeface="Calibri"/>
              </a:rPr>
              <a:t>Totale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405" y="4839405"/>
            <a:ext cx="3401695" cy="186308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14629" marR="5080" indent="-202565">
              <a:lnSpc>
                <a:spcPts val="3150"/>
              </a:lnSpc>
              <a:spcBef>
                <a:spcPts val="775"/>
              </a:spcBef>
            </a:pPr>
            <a:r>
              <a:rPr sz="3200" dirty="0">
                <a:solidFill>
                  <a:srgbClr val="0A3D5D"/>
                </a:solidFill>
                <a:latin typeface="Arial MT"/>
                <a:cs typeface="Arial MT"/>
              </a:rPr>
              <a:t>Energia</a:t>
            </a:r>
            <a:r>
              <a:rPr sz="3200" spc="-145" dirty="0">
                <a:solidFill>
                  <a:srgbClr val="0A3D5D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34666"/>
                </a:solidFill>
                <a:latin typeface="Arial MT"/>
                <a:cs typeface="Arial MT"/>
              </a:rPr>
              <a:t>Ricaricata </a:t>
            </a:r>
            <a:r>
              <a:rPr sz="3200" dirty="0">
                <a:solidFill>
                  <a:srgbClr val="134464"/>
                </a:solidFill>
                <a:latin typeface="Arial MT"/>
                <a:cs typeface="Arial MT"/>
              </a:rPr>
              <a:t>Consumo</a:t>
            </a:r>
            <a:r>
              <a:rPr sz="3200" spc="-165" dirty="0">
                <a:solidFill>
                  <a:srgbClr val="134464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C4870"/>
                </a:solidFill>
                <a:latin typeface="Arial MT"/>
                <a:cs typeface="Arial MT"/>
              </a:rPr>
              <a:t>Andata</a:t>
            </a:r>
            <a:endParaRPr sz="3200">
              <a:latin typeface="Arial MT"/>
              <a:cs typeface="Arial MT"/>
            </a:endParaRPr>
          </a:p>
          <a:p>
            <a:pPr marL="925194">
              <a:lnSpc>
                <a:spcPct val="100000"/>
              </a:lnSpc>
              <a:spcBef>
                <a:spcPts val="770"/>
              </a:spcBef>
            </a:pPr>
            <a:r>
              <a:rPr sz="5600" spc="-459" dirty="0">
                <a:solidFill>
                  <a:srgbClr val="4D4D4D"/>
                </a:solidFill>
                <a:latin typeface="Arial MT"/>
                <a:cs typeface="Arial MT"/>
              </a:rPr>
              <a:t>23.8%</a:t>
            </a:r>
            <a:endParaRPr sz="5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41602" y="4841875"/>
            <a:ext cx="3585845" cy="911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385"/>
              </a:lnSpc>
              <a:spcBef>
                <a:spcPts val="125"/>
              </a:spcBef>
            </a:pPr>
            <a:r>
              <a:rPr sz="3100" dirty="0">
                <a:solidFill>
                  <a:srgbClr val="0E4667"/>
                </a:solidFill>
                <a:latin typeface="Arial MT"/>
                <a:cs typeface="Arial MT"/>
              </a:rPr>
              <a:t>Energia</a:t>
            </a:r>
            <a:r>
              <a:rPr sz="3100" spc="365" dirty="0">
                <a:solidFill>
                  <a:srgbClr val="0E4667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08466B"/>
                </a:solidFill>
                <a:latin typeface="Arial MT"/>
                <a:cs typeface="Arial MT"/>
              </a:rPr>
              <a:t>Ricaricata</a:t>
            </a:r>
            <a:r>
              <a:rPr sz="3100" spc="315" dirty="0">
                <a:solidFill>
                  <a:srgbClr val="08466B"/>
                </a:solidFill>
                <a:latin typeface="Arial MT"/>
                <a:cs typeface="Arial MT"/>
              </a:rPr>
              <a:t> </a:t>
            </a:r>
            <a:r>
              <a:rPr sz="3100" spc="-50" dirty="0">
                <a:solidFill>
                  <a:srgbClr val="154159"/>
                </a:solidFill>
                <a:latin typeface="Arial MT"/>
                <a:cs typeface="Arial MT"/>
              </a:rPr>
              <a:t>/</a:t>
            </a:r>
            <a:endParaRPr sz="3100">
              <a:latin typeface="Arial MT"/>
              <a:cs typeface="Arial MT"/>
            </a:endParaRPr>
          </a:p>
          <a:p>
            <a:pPr marL="200660">
              <a:lnSpc>
                <a:spcPts val="3565"/>
              </a:lnSpc>
            </a:pPr>
            <a:r>
              <a:rPr sz="3250" spc="-20" dirty="0">
                <a:solidFill>
                  <a:srgbClr val="0A4462"/>
                </a:solidFill>
                <a:latin typeface="Arial MT"/>
                <a:cs typeface="Arial MT"/>
              </a:rPr>
              <a:t>Consumo</a:t>
            </a:r>
            <a:r>
              <a:rPr sz="3250" spc="-155" dirty="0">
                <a:solidFill>
                  <a:srgbClr val="0A4462"/>
                </a:solidFill>
                <a:latin typeface="Arial MT"/>
                <a:cs typeface="Arial MT"/>
              </a:rPr>
              <a:t> </a:t>
            </a:r>
            <a:r>
              <a:rPr sz="3250" spc="-10" dirty="0">
                <a:solidFill>
                  <a:srgbClr val="034166"/>
                </a:solidFill>
                <a:latin typeface="Arial MT"/>
                <a:cs typeface="Arial MT"/>
              </a:rPr>
              <a:t>Ritorno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9448" y="8576733"/>
            <a:ext cx="1547241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45" dirty="0">
                <a:solidFill>
                  <a:srgbClr val="DD641C"/>
                </a:solidFill>
                <a:latin typeface="Arial MT"/>
                <a:cs typeface="Arial MT"/>
              </a:rPr>
              <a:t>Conclusione:</a:t>
            </a:r>
            <a:r>
              <a:rPr sz="2900" spc="105" dirty="0">
                <a:solidFill>
                  <a:srgbClr val="DD641C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C85B18"/>
                </a:solidFill>
                <a:latin typeface="Arial MT"/>
                <a:cs typeface="Arial MT"/>
              </a:rPr>
              <a:t>Investimento</a:t>
            </a:r>
            <a:r>
              <a:rPr sz="2900" spc="160" dirty="0">
                <a:solidFill>
                  <a:srgbClr val="C85B18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E86216"/>
                </a:solidFill>
                <a:latin typeface="Arial MT"/>
                <a:cs typeface="Arial MT"/>
              </a:rPr>
              <a:t>economico</a:t>
            </a:r>
            <a:r>
              <a:rPr sz="2900" spc="-5" dirty="0">
                <a:solidFill>
                  <a:srgbClr val="E8621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D1641F"/>
                </a:solidFill>
                <a:latin typeface="Arial MT"/>
                <a:cs typeface="Arial MT"/>
              </a:rPr>
              <a:t>e</a:t>
            </a:r>
            <a:r>
              <a:rPr sz="2900" spc="-105" dirty="0">
                <a:solidFill>
                  <a:srgbClr val="D1641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CC672B"/>
                </a:solidFill>
                <a:latin typeface="Arial MT"/>
                <a:cs typeface="Arial MT"/>
              </a:rPr>
              <a:t>complessità</a:t>
            </a:r>
            <a:r>
              <a:rPr sz="2900" spc="225" dirty="0">
                <a:solidFill>
                  <a:srgbClr val="CC672B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DF5D13"/>
                </a:solidFill>
                <a:latin typeface="Arial MT"/>
                <a:cs typeface="Arial MT"/>
              </a:rPr>
              <a:t>non</a:t>
            </a:r>
            <a:r>
              <a:rPr sz="2900" spc="-25" dirty="0">
                <a:solidFill>
                  <a:srgbClr val="DF5D13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D16421"/>
                </a:solidFill>
                <a:latin typeface="Arial MT"/>
                <a:cs typeface="Arial MT"/>
              </a:rPr>
              <a:t>giustificano</a:t>
            </a:r>
            <a:r>
              <a:rPr sz="2900" spc="80" dirty="0">
                <a:solidFill>
                  <a:srgbClr val="D16421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DF671F"/>
                </a:solidFill>
                <a:latin typeface="Arial MT"/>
                <a:cs typeface="Arial MT"/>
              </a:rPr>
              <a:t>un</a:t>
            </a:r>
            <a:r>
              <a:rPr sz="2900" spc="-150" dirty="0">
                <a:solidFill>
                  <a:srgbClr val="DF671F"/>
                </a:solidFill>
                <a:latin typeface="Arial MT"/>
                <a:cs typeface="Arial MT"/>
              </a:rPr>
              <a:t> </a:t>
            </a:r>
            <a:r>
              <a:rPr sz="2900" spc="50" dirty="0">
                <a:solidFill>
                  <a:srgbClr val="DB641C"/>
                </a:solidFill>
                <a:latin typeface="Arial MT"/>
                <a:cs typeface="Arial MT"/>
              </a:rPr>
              <a:t>risultato</a:t>
            </a:r>
            <a:r>
              <a:rPr sz="2900" spc="-50" dirty="0">
                <a:solidFill>
                  <a:srgbClr val="DB641C"/>
                </a:solidFill>
                <a:latin typeface="Arial MT"/>
                <a:cs typeface="Arial MT"/>
              </a:rPr>
              <a:t> </a:t>
            </a:r>
            <a:r>
              <a:rPr sz="2900" spc="-55" dirty="0">
                <a:solidFill>
                  <a:srgbClr val="CF5D1C"/>
                </a:solidFill>
                <a:latin typeface="Arial MT"/>
                <a:cs typeface="Arial MT"/>
              </a:rPr>
              <a:t>così</a:t>
            </a:r>
            <a:r>
              <a:rPr sz="2900" spc="-110" dirty="0">
                <a:solidFill>
                  <a:srgbClr val="CF5D1C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C4662B"/>
                </a:solidFill>
                <a:latin typeface="Arial MT"/>
                <a:cs typeface="Arial MT"/>
              </a:rPr>
              <a:t>parziale.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6654800"/>
            <a:ext cx="1117600" cy="130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100" y="6273800"/>
            <a:ext cx="1041400" cy="254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2200" y="4838700"/>
            <a:ext cx="1117600" cy="1320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08400" y="4838700"/>
            <a:ext cx="1409700" cy="3124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46700" y="6642100"/>
            <a:ext cx="1117600" cy="1320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46700" y="4838700"/>
            <a:ext cx="1117600" cy="1320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97800" y="5626100"/>
            <a:ext cx="1866900" cy="15494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29900" y="7023100"/>
            <a:ext cx="1524000" cy="9017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29900" y="5943600"/>
            <a:ext cx="1524000" cy="9144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629900" y="4864100"/>
            <a:ext cx="1524000" cy="9144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344400" y="4838700"/>
            <a:ext cx="1409700" cy="3124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931900" y="5943600"/>
            <a:ext cx="1511300" cy="9144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67969" y="612069"/>
            <a:ext cx="14105890" cy="139954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marR="5080" indent="1905">
              <a:lnSpc>
                <a:spcPts val="4900"/>
              </a:lnSpc>
              <a:spcBef>
                <a:spcPts val="1110"/>
              </a:spcBef>
            </a:pPr>
            <a:r>
              <a:rPr sz="4900" spc="155" dirty="0">
                <a:solidFill>
                  <a:srgbClr val="05446E"/>
                </a:solidFill>
              </a:rPr>
              <a:t>L'lntuizione</a:t>
            </a:r>
            <a:r>
              <a:rPr sz="4900" spc="235" dirty="0">
                <a:solidFill>
                  <a:srgbClr val="05446E"/>
                </a:solidFill>
              </a:rPr>
              <a:t> </a:t>
            </a:r>
            <a:r>
              <a:rPr sz="4900" spc="120" dirty="0">
                <a:solidFill>
                  <a:srgbClr val="074669"/>
                </a:solidFill>
              </a:rPr>
              <a:t>Strategica:</a:t>
            </a:r>
            <a:r>
              <a:rPr sz="4900" spc="70" dirty="0">
                <a:solidFill>
                  <a:srgbClr val="074669"/>
                </a:solidFill>
              </a:rPr>
              <a:t> </a:t>
            </a:r>
            <a:r>
              <a:rPr sz="4900" spc="50" dirty="0">
                <a:solidFill>
                  <a:srgbClr val="07466E"/>
                </a:solidFill>
              </a:rPr>
              <a:t>da</a:t>
            </a:r>
            <a:r>
              <a:rPr sz="4900" spc="110" dirty="0">
                <a:solidFill>
                  <a:srgbClr val="07466E"/>
                </a:solidFill>
              </a:rPr>
              <a:t> </a:t>
            </a:r>
            <a:r>
              <a:rPr sz="4900" spc="80" dirty="0">
                <a:solidFill>
                  <a:srgbClr val="0A466B"/>
                </a:solidFill>
              </a:rPr>
              <a:t>"Ricaricare</a:t>
            </a:r>
            <a:r>
              <a:rPr sz="4900" spc="155" dirty="0">
                <a:solidFill>
                  <a:srgbClr val="0A466B"/>
                </a:solidFill>
              </a:rPr>
              <a:t> </a:t>
            </a:r>
            <a:r>
              <a:rPr sz="4900" spc="140" dirty="0">
                <a:solidFill>
                  <a:srgbClr val="083F62"/>
                </a:solidFill>
              </a:rPr>
              <a:t>Ovunque" </a:t>
            </a:r>
            <a:r>
              <a:rPr sz="4900" dirty="0">
                <a:solidFill>
                  <a:srgbClr val="05466E"/>
                </a:solidFill>
              </a:rPr>
              <a:t>a</a:t>
            </a:r>
            <a:r>
              <a:rPr sz="4900" spc="-45" dirty="0">
                <a:solidFill>
                  <a:srgbClr val="05466E"/>
                </a:solidFill>
              </a:rPr>
              <a:t> </a:t>
            </a:r>
            <a:r>
              <a:rPr sz="4900" spc="80" dirty="0">
                <a:solidFill>
                  <a:srgbClr val="0A3B5D"/>
                </a:solidFill>
              </a:rPr>
              <a:t>"Ricaricare</a:t>
            </a:r>
            <a:r>
              <a:rPr sz="4900" spc="195" dirty="0">
                <a:solidFill>
                  <a:srgbClr val="0A3B5D"/>
                </a:solidFill>
              </a:rPr>
              <a:t> </a:t>
            </a:r>
            <a:r>
              <a:rPr sz="4900" dirty="0">
                <a:solidFill>
                  <a:srgbClr val="054166"/>
                </a:solidFill>
              </a:rPr>
              <a:t>Dove</a:t>
            </a:r>
            <a:r>
              <a:rPr sz="4900" spc="75" dirty="0">
                <a:solidFill>
                  <a:srgbClr val="054166"/>
                </a:solidFill>
              </a:rPr>
              <a:t> </a:t>
            </a:r>
            <a:r>
              <a:rPr sz="4900" spc="-10" dirty="0">
                <a:solidFill>
                  <a:srgbClr val="084970"/>
                </a:solidFill>
              </a:rPr>
              <a:t>Serve"</a:t>
            </a:r>
            <a:endParaRPr sz="4900"/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5875" marR="5080" indent="-3810">
              <a:lnSpc>
                <a:spcPts val="3200"/>
              </a:lnSpc>
              <a:spcBef>
                <a:spcPts val="455"/>
              </a:spcBef>
            </a:pPr>
            <a:r>
              <a:rPr spc="-35" dirty="0"/>
              <a:t>L'analisi</a:t>
            </a:r>
            <a:r>
              <a:rPr spc="-130" dirty="0"/>
              <a:t> </a:t>
            </a:r>
            <a:r>
              <a:rPr spc="-30" dirty="0"/>
              <a:t>ha</a:t>
            </a:r>
            <a:r>
              <a:rPr spc="-130" dirty="0"/>
              <a:t> </a:t>
            </a:r>
            <a:r>
              <a:rPr spc="-10" dirty="0"/>
              <a:t>rivelato</a:t>
            </a:r>
            <a:r>
              <a:rPr spc="-155" dirty="0"/>
              <a:t> </a:t>
            </a:r>
            <a:r>
              <a:rPr spc="-10" dirty="0"/>
              <a:t>che</a:t>
            </a:r>
            <a:r>
              <a:rPr spc="-150" dirty="0"/>
              <a:t> </a:t>
            </a:r>
            <a:r>
              <a:rPr dirty="0"/>
              <a:t>la</a:t>
            </a:r>
            <a:r>
              <a:rPr spc="-175" dirty="0"/>
              <a:t> </a:t>
            </a:r>
            <a:r>
              <a:rPr spc="-25" dirty="0"/>
              <a:t>chiave</a:t>
            </a:r>
            <a:r>
              <a:rPr spc="-140" dirty="0"/>
              <a:t> </a:t>
            </a:r>
            <a:r>
              <a:rPr spc="-155" dirty="0"/>
              <a:t>nDn</a:t>
            </a:r>
            <a:r>
              <a:rPr spc="-90" dirty="0"/>
              <a:t> </a:t>
            </a:r>
            <a:r>
              <a:rPr dirty="0"/>
              <a:t>è</a:t>
            </a:r>
            <a:r>
              <a:rPr spc="-195" dirty="0"/>
              <a:t> </a:t>
            </a:r>
            <a:r>
              <a:rPr dirty="0"/>
              <a:t>la</a:t>
            </a:r>
            <a:r>
              <a:rPr spc="-200" dirty="0"/>
              <a:t> </a:t>
            </a:r>
            <a:r>
              <a:rPr spc="-20" dirty="0"/>
              <a:t>frequenza</a:t>
            </a:r>
            <a:r>
              <a:rPr spc="5" dirty="0"/>
              <a:t> </a:t>
            </a:r>
            <a:r>
              <a:rPr spc="-20" dirty="0"/>
              <a:t>della</a:t>
            </a:r>
            <a:r>
              <a:rPr spc="-200" dirty="0"/>
              <a:t> </a:t>
            </a:r>
            <a:r>
              <a:rPr dirty="0"/>
              <a:t>ricarica,</a:t>
            </a:r>
            <a:r>
              <a:rPr spc="-145" dirty="0"/>
              <a:t> </a:t>
            </a:r>
            <a:r>
              <a:rPr spc="-100" dirty="0"/>
              <a:t>ma </a:t>
            </a:r>
            <a:r>
              <a:rPr spc="-50" dirty="0"/>
              <a:t>la</a:t>
            </a:r>
            <a:r>
              <a:rPr spc="-140" dirty="0"/>
              <a:t> </a:t>
            </a:r>
            <a:r>
              <a:rPr dirty="0"/>
              <a:t>sua</a:t>
            </a:r>
            <a:r>
              <a:rPr spc="-160" dirty="0"/>
              <a:t> </a:t>
            </a:r>
            <a:r>
              <a:rPr spc="-50" dirty="0"/>
              <a:t>durata.</a:t>
            </a:r>
            <a:r>
              <a:rPr spc="-35" dirty="0"/>
              <a:t> </a:t>
            </a:r>
            <a:r>
              <a:rPr dirty="0"/>
              <a:t>lnvece</a:t>
            </a:r>
            <a:r>
              <a:rPr spc="-15" dirty="0"/>
              <a:t> </a:t>
            </a:r>
            <a:r>
              <a:rPr spc="-20" dirty="0"/>
              <a:t>di</a:t>
            </a:r>
            <a:r>
              <a:rPr spc="-220" dirty="0"/>
              <a:t> </a:t>
            </a:r>
            <a:r>
              <a:rPr spc="-10" dirty="0"/>
              <a:t>brevi</a:t>
            </a:r>
            <a:r>
              <a:rPr spc="-155" dirty="0"/>
              <a:t> </a:t>
            </a:r>
            <a:r>
              <a:rPr spc="75" dirty="0"/>
              <a:t>e </a:t>
            </a:r>
            <a:r>
              <a:rPr spc="-25" dirty="0"/>
              <a:t>inefficienti</a:t>
            </a:r>
            <a:r>
              <a:rPr spc="-140" dirty="0"/>
              <a:t> </a:t>
            </a:r>
            <a:r>
              <a:rPr dirty="0"/>
              <a:t>ricariche</a:t>
            </a:r>
            <a:r>
              <a:rPr spc="-160" dirty="0"/>
              <a:t> </a:t>
            </a:r>
            <a:r>
              <a:rPr spc="-30" dirty="0"/>
              <a:t>in</a:t>
            </a:r>
            <a:r>
              <a:rPr spc="-155" dirty="0"/>
              <a:t> </a:t>
            </a:r>
            <a:r>
              <a:rPr spc="-20" dirty="0"/>
              <a:t>ogni</a:t>
            </a:r>
            <a:r>
              <a:rPr spc="-145" dirty="0"/>
              <a:t> </a:t>
            </a:r>
            <a:r>
              <a:rPr spc="-55" dirty="0"/>
              <a:t>fermata,</a:t>
            </a:r>
            <a:r>
              <a:rPr spc="-105" dirty="0"/>
              <a:t> </a:t>
            </a:r>
            <a:r>
              <a:rPr dirty="0"/>
              <a:t>è</a:t>
            </a:r>
            <a:r>
              <a:rPr spc="-195" dirty="0"/>
              <a:t> </a:t>
            </a:r>
            <a:r>
              <a:rPr spc="-35" dirty="0"/>
              <a:t>più</a:t>
            </a:r>
            <a:r>
              <a:rPr spc="-130" dirty="0"/>
              <a:t> </a:t>
            </a:r>
            <a:r>
              <a:rPr spc="-25" dirty="0"/>
              <a:t>efficace</a:t>
            </a:r>
            <a:r>
              <a:rPr spc="-140" dirty="0"/>
              <a:t> </a:t>
            </a:r>
            <a:r>
              <a:rPr spc="-10" dirty="0"/>
              <a:t>concentrare</a:t>
            </a:r>
            <a:r>
              <a:rPr spc="-20" dirty="0"/>
              <a:t> </a:t>
            </a:r>
            <a:r>
              <a:rPr dirty="0"/>
              <a:t>l'infrastruttura</a:t>
            </a:r>
            <a:r>
              <a:rPr spc="-245" dirty="0"/>
              <a:t> </a:t>
            </a:r>
            <a:r>
              <a:rPr spc="-35" dirty="0"/>
              <a:t>nei</a:t>
            </a:r>
            <a:r>
              <a:rPr spc="-130" dirty="0"/>
              <a:t> </a:t>
            </a:r>
            <a:r>
              <a:rPr spc="-10" dirty="0"/>
              <a:t>punti</a:t>
            </a:r>
            <a:r>
              <a:rPr spc="-25" dirty="0"/>
              <a:t> </a:t>
            </a:r>
            <a:r>
              <a:rPr spc="-30" dirty="0"/>
              <a:t>in</a:t>
            </a:r>
            <a:r>
              <a:rPr spc="-155" dirty="0"/>
              <a:t> </a:t>
            </a:r>
            <a:r>
              <a:rPr spc="-10" dirty="0"/>
              <a:t>cui</a:t>
            </a:r>
            <a:r>
              <a:rPr spc="-120" dirty="0"/>
              <a:t> </a:t>
            </a:r>
            <a:r>
              <a:rPr dirty="0"/>
              <a:t>il</a:t>
            </a:r>
            <a:r>
              <a:rPr spc="-190" dirty="0"/>
              <a:t> </a:t>
            </a:r>
            <a:r>
              <a:rPr spc="-10" dirty="0"/>
              <a:t>bus</a:t>
            </a:r>
            <a:r>
              <a:rPr spc="-30" dirty="0"/>
              <a:t> </a:t>
            </a:r>
            <a:r>
              <a:rPr spc="-10" dirty="0"/>
              <a:t>sosta </a:t>
            </a:r>
            <a:r>
              <a:rPr spc="-45" dirty="0"/>
              <a:t>naturalmente </a:t>
            </a:r>
            <a:r>
              <a:rPr spc="-50" dirty="0"/>
              <a:t>per</a:t>
            </a:r>
            <a:r>
              <a:rPr spc="-135" dirty="0"/>
              <a:t> </a:t>
            </a:r>
            <a:r>
              <a:rPr spc="-10" dirty="0"/>
              <a:t>periodi</a:t>
            </a:r>
            <a:r>
              <a:rPr spc="-65" dirty="0"/>
              <a:t> </a:t>
            </a:r>
            <a:r>
              <a:rPr spc="-20" dirty="0"/>
              <a:t>più</a:t>
            </a:r>
            <a:r>
              <a:rPr spc="-145" dirty="0"/>
              <a:t> </a:t>
            </a:r>
            <a:r>
              <a:rPr spc="-10" dirty="0"/>
              <a:t>lunghi.</a:t>
            </a:r>
          </a:p>
          <a:p>
            <a:pPr marL="1331595">
              <a:lnSpc>
                <a:spcPct val="100000"/>
              </a:lnSpc>
              <a:spcBef>
                <a:spcPts val="3260"/>
              </a:spcBef>
              <a:tabLst>
                <a:tab pos="9865995" algn="l"/>
              </a:tabLst>
            </a:pPr>
            <a:r>
              <a:rPr sz="3400" spc="210" dirty="0">
                <a:solidFill>
                  <a:srgbClr val="053F64"/>
                </a:solidFill>
              </a:rPr>
              <a:t>Approccio</a:t>
            </a:r>
            <a:r>
              <a:rPr sz="3400" spc="195" dirty="0">
                <a:solidFill>
                  <a:srgbClr val="053F64"/>
                </a:solidFill>
              </a:rPr>
              <a:t> </a:t>
            </a:r>
            <a:r>
              <a:rPr sz="3400" spc="140" dirty="0">
                <a:solidFill>
                  <a:srgbClr val="0F4669"/>
                </a:solidFill>
              </a:rPr>
              <a:t>Distribuito</a:t>
            </a:r>
            <a:r>
              <a:rPr sz="3400" dirty="0">
                <a:solidFill>
                  <a:srgbClr val="0F4669"/>
                </a:solidFill>
              </a:rPr>
              <a:t>	</a:t>
            </a:r>
            <a:r>
              <a:rPr sz="3400" spc="195" dirty="0">
                <a:solidFill>
                  <a:srgbClr val="083F5E"/>
                </a:solidFill>
              </a:rPr>
              <a:t>Approccio</a:t>
            </a:r>
            <a:r>
              <a:rPr sz="3400" spc="229" dirty="0">
                <a:solidFill>
                  <a:srgbClr val="083F5E"/>
                </a:solidFill>
              </a:rPr>
              <a:t> </a:t>
            </a:r>
            <a:r>
              <a:rPr sz="3400" spc="175" dirty="0">
                <a:solidFill>
                  <a:srgbClr val="154660"/>
                </a:solidFill>
              </a:rPr>
              <a:t>Focalizzato</a:t>
            </a:r>
            <a:endParaRPr sz="3400"/>
          </a:p>
        </p:txBody>
      </p:sp>
      <p:sp>
        <p:nvSpPr>
          <p:cNvPr id="16" name="object 16"/>
          <p:cNvSpPr txBox="1"/>
          <p:nvPr/>
        </p:nvSpPr>
        <p:spPr>
          <a:xfrm>
            <a:off x="2673991" y="8462433"/>
            <a:ext cx="3475354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solidFill>
                  <a:srgbClr val="15384B"/>
                </a:solidFill>
                <a:latin typeface="Calibri"/>
                <a:cs typeface="Calibri"/>
              </a:rPr>
              <a:t>Bassa</a:t>
            </a:r>
            <a:r>
              <a:rPr sz="2900" spc="-95" dirty="0">
                <a:solidFill>
                  <a:srgbClr val="15384B"/>
                </a:solidFill>
                <a:latin typeface="Calibri"/>
                <a:cs typeface="Calibri"/>
              </a:rPr>
              <a:t> </a:t>
            </a:r>
            <a:r>
              <a:rPr sz="2900" spc="-30" dirty="0">
                <a:solidFill>
                  <a:srgbClr val="183444"/>
                </a:solidFill>
                <a:latin typeface="Calibri"/>
                <a:cs typeface="Calibri"/>
              </a:rPr>
              <a:t>energia</a:t>
            </a:r>
            <a:r>
              <a:rPr sz="2900" spc="-155" dirty="0">
                <a:solidFill>
                  <a:srgbClr val="183444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132D3D"/>
                </a:solidFill>
                <a:latin typeface="Calibri"/>
                <a:cs typeface="Calibri"/>
              </a:rPr>
              <a:t>per</a:t>
            </a:r>
            <a:r>
              <a:rPr sz="2900" spc="-40" dirty="0">
                <a:solidFill>
                  <a:srgbClr val="132D3D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2D2D2D"/>
                </a:solidFill>
                <a:latin typeface="Calibri"/>
                <a:cs typeface="Calibri"/>
              </a:rPr>
              <a:t>sosta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23638" y="8462433"/>
            <a:ext cx="322199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solidFill>
                  <a:srgbClr val="313131"/>
                </a:solidFill>
                <a:latin typeface="Calibri"/>
                <a:cs typeface="Calibri"/>
              </a:rPr>
              <a:t>Alta</a:t>
            </a:r>
            <a:r>
              <a:rPr sz="2900" spc="-13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2B2B2B"/>
                </a:solidFill>
                <a:latin typeface="Calibri"/>
                <a:cs typeface="Calibri"/>
              </a:rPr>
              <a:t>energia</a:t>
            </a:r>
            <a:r>
              <a:rPr sz="2900" spc="-7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900" spc="-50" dirty="0">
                <a:solidFill>
                  <a:srgbClr val="18364B"/>
                </a:solidFill>
                <a:latin typeface="Calibri"/>
                <a:cs typeface="Calibri"/>
              </a:rPr>
              <a:t>per</a:t>
            </a:r>
            <a:r>
              <a:rPr sz="2900" spc="-65" dirty="0">
                <a:solidFill>
                  <a:srgbClr val="18364B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242424"/>
                </a:solidFill>
                <a:latin typeface="Calibri"/>
                <a:cs typeface="Calibri"/>
              </a:rPr>
              <a:t>sosta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Calibri"/>
                <a:cs typeface="Calibri"/>
              </a:rPr>
              <a:t>G</a:t>
            </a:r>
            <a:r>
              <a:rPr sz="1500" spc="100" dirty="0">
                <a:latin typeface="Calibri"/>
                <a:cs typeface="Calibri"/>
              </a:rPr>
              <a:t>  </a:t>
            </a:r>
            <a:r>
              <a:rPr sz="1500" spc="-25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7100" y="3149600"/>
            <a:ext cx="2184400" cy="179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5100" y="3378200"/>
            <a:ext cx="1905000" cy="1016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19100" y="3416300"/>
            <a:ext cx="2057400" cy="1371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36966" y="622652"/>
            <a:ext cx="12000865" cy="155459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758314" marR="5080" indent="-1746250">
              <a:lnSpc>
                <a:spcPts val="5450"/>
              </a:lnSpc>
              <a:spcBef>
                <a:spcPts val="1085"/>
              </a:spcBef>
              <a:tabLst>
                <a:tab pos="896619" algn="l"/>
              </a:tabLst>
            </a:pPr>
            <a:r>
              <a:rPr lang="it-IT" sz="5350" spc="-25" dirty="0">
                <a:solidFill>
                  <a:srgbClr val="262626"/>
                </a:solidFill>
                <a:latin typeface="Calibri"/>
                <a:cs typeface="Calibri"/>
              </a:rPr>
              <a:t>Esempio ottimale</a:t>
            </a:r>
            <a:r>
              <a:rPr sz="5350" spc="155" dirty="0">
                <a:solidFill>
                  <a:srgbClr val="232323"/>
                </a:solidFill>
                <a:latin typeface="Calibri"/>
                <a:cs typeface="Calibri"/>
              </a:rPr>
              <a:t>:</a:t>
            </a:r>
            <a:r>
              <a:rPr sz="5350" spc="-1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5350" spc="160" dirty="0">
                <a:solidFill>
                  <a:srgbClr val="282828"/>
                </a:solidFill>
                <a:latin typeface="Calibri"/>
                <a:cs typeface="Calibri"/>
              </a:rPr>
              <a:t>3</a:t>
            </a:r>
            <a:r>
              <a:rPr sz="5350" spc="-8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5350" spc="290" dirty="0">
                <a:solidFill>
                  <a:srgbClr val="212121"/>
                </a:solidFill>
                <a:latin typeface="Calibri"/>
                <a:cs typeface="Calibri"/>
              </a:rPr>
              <a:t>Punti</a:t>
            </a:r>
            <a:r>
              <a:rPr sz="5350" spc="-8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5350" spc="254" dirty="0">
                <a:solidFill>
                  <a:srgbClr val="262626"/>
                </a:solidFill>
                <a:latin typeface="Calibri"/>
                <a:cs typeface="Calibri"/>
              </a:rPr>
              <a:t>di</a:t>
            </a:r>
            <a:r>
              <a:rPr sz="5350" spc="-10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5350" spc="240" dirty="0">
                <a:solidFill>
                  <a:srgbClr val="232323"/>
                </a:solidFill>
                <a:latin typeface="Calibri"/>
                <a:cs typeface="Calibri"/>
              </a:rPr>
              <a:t>Ricarica </a:t>
            </a:r>
            <a:r>
              <a:rPr sz="5350" spc="165" dirty="0">
                <a:solidFill>
                  <a:srgbClr val="242424"/>
                </a:solidFill>
                <a:latin typeface="Calibri"/>
                <a:cs typeface="Calibri"/>
              </a:rPr>
              <a:t>per</a:t>
            </a:r>
            <a:r>
              <a:rPr sz="5350" spc="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5350" spc="125" dirty="0">
                <a:solidFill>
                  <a:srgbClr val="232323"/>
                </a:solidFill>
                <a:latin typeface="Calibri"/>
                <a:cs typeface="Calibri"/>
              </a:rPr>
              <a:t>un’Autonomia</a:t>
            </a:r>
            <a:r>
              <a:rPr sz="5350" spc="5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5350" spc="200" dirty="0">
                <a:solidFill>
                  <a:srgbClr val="212121"/>
                </a:solidFill>
                <a:latin typeface="Calibri"/>
                <a:cs typeface="Calibri"/>
              </a:rPr>
              <a:t>Completa</a:t>
            </a:r>
            <a:endParaRPr sz="53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8946" y="5426873"/>
            <a:ext cx="4422775" cy="11309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R="39370" algn="ctr">
              <a:lnSpc>
                <a:spcPct val="100000"/>
              </a:lnSpc>
              <a:spcBef>
                <a:spcPts val="565"/>
              </a:spcBef>
            </a:pPr>
            <a:r>
              <a:rPr sz="3650" spc="-10" dirty="0">
                <a:solidFill>
                  <a:srgbClr val="0C4264"/>
                </a:solidFill>
                <a:latin typeface="Arial MT"/>
                <a:cs typeface="Arial MT"/>
              </a:rPr>
              <a:t>Capolinea</a:t>
            </a:r>
            <a:endParaRPr sz="36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2900" spc="-30" dirty="0">
                <a:solidFill>
                  <a:srgbClr val="0E0E0E"/>
                </a:solidFill>
                <a:latin typeface="Calibri"/>
                <a:cs typeface="Calibri"/>
              </a:rPr>
              <a:t>(Milano</a:t>
            </a:r>
            <a:r>
              <a:rPr sz="29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900" spc="114" dirty="0">
                <a:solidFill>
                  <a:srgbClr val="0A0A0A"/>
                </a:solidFill>
                <a:latin typeface="Calibri"/>
                <a:cs typeface="Calibri"/>
              </a:rPr>
              <a:t>Centro/San</a:t>
            </a:r>
            <a:r>
              <a:rPr sz="2900" spc="-16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0C0C0C"/>
                </a:solidFill>
                <a:latin typeface="Calibri"/>
                <a:cs typeface="Calibri"/>
              </a:rPr>
              <a:t>Felicino)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6186" y="7078133"/>
            <a:ext cx="396049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145" dirty="0">
                <a:latin typeface="Calibri"/>
                <a:cs typeface="Calibri"/>
              </a:rPr>
              <a:t>Tempo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111111"/>
                </a:solidFill>
                <a:latin typeface="Calibri"/>
                <a:cs typeface="Calibri"/>
              </a:rPr>
              <a:t>di</a:t>
            </a:r>
            <a:r>
              <a:rPr sz="2900" spc="-12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900" spc="-30" dirty="0">
                <a:latin typeface="Calibri"/>
                <a:cs typeface="Calibri"/>
              </a:rPr>
              <a:t>Ricarica: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spc="145" dirty="0">
                <a:solidFill>
                  <a:srgbClr val="C86021"/>
                </a:solidFill>
                <a:latin typeface="Calibri"/>
                <a:cs typeface="Calibri"/>
              </a:rPr>
              <a:t>5</a:t>
            </a:r>
            <a:r>
              <a:rPr sz="2900" spc="-245" dirty="0">
                <a:solidFill>
                  <a:srgbClr val="C86021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DF6015"/>
                </a:solidFill>
                <a:latin typeface="Calibri"/>
                <a:cs typeface="Calibri"/>
              </a:rPr>
              <a:t>minuti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8186" y="5482519"/>
            <a:ext cx="4121785" cy="10807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650" spc="65" dirty="0">
                <a:solidFill>
                  <a:srgbClr val="05426B"/>
                </a:solidFill>
                <a:latin typeface="Arial MT"/>
                <a:cs typeface="Arial MT"/>
              </a:rPr>
              <a:t>Aeroporto</a:t>
            </a:r>
            <a:r>
              <a:rPr sz="3650" spc="260" dirty="0">
                <a:solidFill>
                  <a:srgbClr val="05426B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0A3D5D"/>
                </a:solidFill>
                <a:latin typeface="Arial MT"/>
                <a:cs typeface="Arial MT"/>
              </a:rPr>
              <a:t>di</a:t>
            </a:r>
            <a:r>
              <a:rPr sz="3650" spc="135" dirty="0">
                <a:solidFill>
                  <a:srgbClr val="0A3D5D"/>
                </a:solidFill>
                <a:latin typeface="Arial MT"/>
                <a:cs typeface="Arial MT"/>
              </a:rPr>
              <a:t> </a:t>
            </a:r>
            <a:r>
              <a:rPr sz="3650" spc="50" dirty="0">
                <a:solidFill>
                  <a:srgbClr val="084267"/>
                </a:solidFill>
                <a:latin typeface="Arial MT"/>
                <a:cs typeface="Arial MT"/>
              </a:rPr>
              <a:t>Linate</a:t>
            </a:r>
            <a:endParaRPr sz="3650">
              <a:latin typeface="Arial MT"/>
              <a:cs typeface="Arial MT"/>
            </a:endParaRPr>
          </a:p>
          <a:p>
            <a:pPr marR="23495" algn="ctr">
              <a:lnSpc>
                <a:spcPct val="100000"/>
              </a:lnSpc>
              <a:spcBef>
                <a:spcPts val="170"/>
              </a:spcBef>
            </a:pPr>
            <a:r>
              <a:rPr sz="3100" spc="-120" dirty="0">
                <a:latin typeface="Calibri"/>
                <a:cs typeface="Calibri"/>
              </a:rPr>
              <a:t>(Fermata</a:t>
            </a:r>
            <a:r>
              <a:rPr sz="3100" spc="-30" dirty="0"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0A0A0A"/>
                </a:solidFill>
                <a:latin typeface="Calibri"/>
                <a:cs typeface="Calibri"/>
              </a:rPr>
              <a:t>strategica)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65434" y="5482519"/>
            <a:ext cx="4302760" cy="10807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650" dirty="0">
                <a:solidFill>
                  <a:srgbClr val="0E3F5D"/>
                </a:solidFill>
                <a:latin typeface="Arial MT"/>
                <a:cs typeface="Arial MT"/>
              </a:rPr>
              <a:t>Potenza</a:t>
            </a:r>
            <a:r>
              <a:rPr sz="3650" spc="10" dirty="0">
                <a:solidFill>
                  <a:srgbClr val="0E3F5D"/>
                </a:solidFill>
                <a:latin typeface="Arial MT"/>
                <a:cs typeface="Arial MT"/>
              </a:rPr>
              <a:t> </a:t>
            </a:r>
            <a:r>
              <a:rPr sz="3650" spc="110" dirty="0">
                <a:solidFill>
                  <a:srgbClr val="0E3F62"/>
                </a:solidFill>
                <a:latin typeface="Arial MT"/>
                <a:cs typeface="Arial MT"/>
              </a:rPr>
              <a:t>del</a:t>
            </a:r>
            <a:r>
              <a:rPr sz="3650" spc="-260" dirty="0">
                <a:solidFill>
                  <a:srgbClr val="0E3F62"/>
                </a:solidFill>
                <a:latin typeface="Arial MT"/>
                <a:cs typeface="Arial MT"/>
              </a:rPr>
              <a:t> </a:t>
            </a:r>
            <a:r>
              <a:rPr sz="3650" spc="-10" dirty="0">
                <a:solidFill>
                  <a:srgbClr val="0F4162"/>
                </a:solidFill>
                <a:latin typeface="Arial MT"/>
                <a:cs typeface="Arial MT"/>
              </a:rPr>
              <a:t>Sistema</a:t>
            </a:r>
            <a:endParaRPr sz="3650">
              <a:latin typeface="Arial MT"/>
              <a:cs typeface="Arial MT"/>
            </a:endParaRPr>
          </a:p>
          <a:p>
            <a:pPr marL="19685" algn="ctr">
              <a:lnSpc>
                <a:spcPct val="100000"/>
              </a:lnSpc>
              <a:spcBef>
                <a:spcPts val="170"/>
              </a:spcBef>
            </a:pPr>
            <a:r>
              <a:rPr sz="3100" spc="-90" dirty="0">
                <a:solidFill>
                  <a:srgbClr val="0C0C0C"/>
                </a:solidFill>
                <a:latin typeface="Calibri"/>
                <a:cs typeface="Calibri"/>
              </a:rPr>
              <a:t>(Per</a:t>
            </a:r>
            <a:r>
              <a:rPr sz="3100" spc="-15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100" spc="-105" dirty="0">
                <a:solidFill>
                  <a:srgbClr val="0C0C0C"/>
                </a:solidFill>
                <a:latin typeface="Calibri"/>
                <a:cs typeface="Calibri"/>
              </a:rPr>
              <a:t>ogni</a:t>
            </a:r>
            <a:r>
              <a:rPr sz="3100" spc="-6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100" spc="-155" dirty="0">
                <a:solidFill>
                  <a:srgbClr val="0E0E0E"/>
                </a:solidFill>
                <a:latin typeface="Calibri"/>
                <a:cs typeface="Calibri"/>
              </a:rPr>
              <a:t>pad</a:t>
            </a:r>
            <a:r>
              <a:rPr sz="3100" spc="-9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0A0A0A"/>
                </a:solidFill>
                <a:latin typeface="Calibri"/>
                <a:cs typeface="Calibri"/>
              </a:rPr>
              <a:t>installato)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1114" y="7095772"/>
            <a:ext cx="3973829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20" dirty="0">
                <a:latin typeface="Calibri"/>
                <a:cs typeface="Calibri"/>
              </a:rPr>
              <a:t>Tempo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131313"/>
                </a:solidFill>
                <a:latin typeface="Calibri"/>
                <a:cs typeface="Calibri"/>
              </a:rPr>
              <a:t>di</a:t>
            </a:r>
            <a:r>
              <a:rPr sz="2750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Ricarica: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CF5E1F"/>
                </a:solidFill>
                <a:latin typeface="Calibri"/>
                <a:cs typeface="Calibri"/>
              </a:rPr>
              <a:t>3</a:t>
            </a:r>
            <a:r>
              <a:rPr sz="2750" spc="70" dirty="0">
                <a:solidFill>
                  <a:srgbClr val="CF5E1F"/>
                </a:solidFill>
                <a:latin typeface="Calibri"/>
                <a:cs typeface="Calibri"/>
              </a:rPr>
              <a:t> </a:t>
            </a:r>
            <a:r>
              <a:rPr sz="2750" spc="55" dirty="0">
                <a:solidFill>
                  <a:srgbClr val="D66924"/>
                </a:solidFill>
                <a:latin typeface="Calibri"/>
                <a:cs typeface="Calibri"/>
              </a:rPr>
              <a:t>minuti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67290" y="7078133"/>
            <a:ext cx="3409309" cy="4610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14"/>
              </a:spcBef>
            </a:pPr>
            <a:r>
              <a:rPr sz="2900" spc="-35" dirty="0">
                <a:solidFill>
                  <a:srgbClr val="0A0A0A"/>
                </a:solidFill>
                <a:latin typeface="Calibri"/>
                <a:cs typeface="Calibri"/>
              </a:rPr>
              <a:t>Potenza</a:t>
            </a:r>
            <a:r>
              <a:rPr sz="2900" spc="-8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WPT:</a:t>
            </a:r>
            <a:r>
              <a:rPr sz="2900" spc="-215" dirty="0">
                <a:latin typeface="Calibri"/>
                <a:cs typeface="Calibri"/>
              </a:rPr>
              <a:t> </a:t>
            </a:r>
            <a:r>
              <a:rPr lang="it-IT" sz="2900" spc="130" dirty="0">
                <a:solidFill>
                  <a:srgbClr val="C8692F"/>
                </a:solidFill>
                <a:latin typeface="Calibri"/>
                <a:cs typeface="Calibri"/>
              </a:rPr>
              <a:t>20</a:t>
            </a:r>
            <a:r>
              <a:rPr sz="2900" spc="130" dirty="0">
                <a:solidFill>
                  <a:srgbClr val="C8692F"/>
                </a:solidFill>
                <a:latin typeface="Calibri"/>
                <a:cs typeface="Calibri"/>
              </a:rPr>
              <a:t>0</a:t>
            </a:r>
            <a:r>
              <a:rPr sz="2900" spc="-350" dirty="0">
                <a:solidFill>
                  <a:srgbClr val="C8692F"/>
                </a:solidFill>
                <a:latin typeface="Calibri"/>
                <a:cs typeface="Calibri"/>
              </a:rPr>
              <a:t> </a:t>
            </a:r>
            <a:r>
              <a:rPr sz="2900" spc="140" dirty="0">
                <a:solidFill>
                  <a:srgbClr val="E45D0F"/>
                </a:solidFill>
                <a:latin typeface="Calibri"/>
                <a:cs typeface="Calibri"/>
              </a:rPr>
              <a:t>kW</a:t>
            </a:r>
            <a:endParaRPr sz="29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7318" y="8325202"/>
            <a:ext cx="11811635" cy="8597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76650" marR="5080" indent="-3664585">
              <a:lnSpc>
                <a:spcPts val="3150"/>
              </a:lnSpc>
              <a:spcBef>
                <a:spcPts val="425"/>
              </a:spcBef>
            </a:pPr>
            <a:r>
              <a:rPr sz="2850" dirty="0">
                <a:latin typeface="Calibri"/>
                <a:cs typeface="Calibri"/>
              </a:rPr>
              <a:t>Queste</a:t>
            </a:r>
            <a:r>
              <a:rPr sz="2850" spc="-45" dirty="0">
                <a:latin typeface="Calibri"/>
                <a:cs typeface="Calibri"/>
              </a:rPr>
              <a:t> </a:t>
            </a:r>
            <a:r>
              <a:rPr sz="2850" spc="-25" dirty="0">
                <a:solidFill>
                  <a:srgbClr val="111111"/>
                </a:solidFill>
                <a:latin typeface="Calibri"/>
                <a:cs typeface="Calibri"/>
              </a:rPr>
              <a:t>soste</a:t>
            </a:r>
            <a:r>
              <a:rPr sz="2850" spc="-18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850" spc="-50" dirty="0">
                <a:latin typeface="Calibri"/>
                <a:cs typeface="Calibri"/>
              </a:rPr>
              <a:t>programmate,</a:t>
            </a:r>
            <a:r>
              <a:rPr sz="2850" spc="55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più</a:t>
            </a:r>
            <a:r>
              <a:rPr sz="2850" spc="-229" dirty="0">
                <a:latin typeface="Calibri"/>
                <a:cs typeface="Calibri"/>
              </a:rPr>
              <a:t> </a:t>
            </a:r>
            <a:r>
              <a:rPr sz="2850" spc="-40" dirty="0">
                <a:latin typeface="Calibri"/>
                <a:cs typeface="Calibri"/>
              </a:rPr>
              <a:t>lunghe</a:t>
            </a:r>
            <a:r>
              <a:rPr sz="2850" spc="-20" dirty="0">
                <a:latin typeface="Calibri"/>
                <a:cs typeface="Calibri"/>
              </a:rPr>
              <a:t> della</a:t>
            </a:r>
            <a:r>
              <a:rPr sz="2850" spc="-254" dirty="0">
                <a:latin typeface="Calibri"/>
                <a:cs typeface="Calibri"/>
              </a:rPr>
              <a:t> </a:t>
            </a:r>
            <a:r>
              <a:rPr sz="2850" spc="-50" dirty="0">
                <a:solidFill>
                  <a:srgbClr val="0C0C0C"/>
                </a:solidFill>
                <a:latin typeface="Calibri"/>
                <a:cs typeface="Calibri"/>
              </a:rPr>
              <a:t>media,</a:t>
            </a:r>
            <a:r>
              <a:rPr sz="2850" spc="-1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850" spc="-35" dirty="0">
                <a:latin typeface="Calibri"/>
                <a:cs typeface="Calibri"/>
              </a:rPr>
              <a:t>trasformano</a:t>
            </a:r>
            <a:r>
              <a:rPr sz="2850" spc="30" dirty="0"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31313"/>
                </a:solidFill>
                <a:latin typeface="Calibri"/>
                <a:cs typeface="Calibri"/>
              </a:rPr>
              <a:t>il</a:t>
            </a:r>
            <a:r>
              <a:rPr sz="2850" spc="-12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850" spc="-75" dirty="0">
                <a:solidFill>
                  <a:srgbClr val="0F0F0F"/>
                </a:solidFill>
                <a:latin typeface="Calibri"/>
                <a:cs typeface="Calibri"/>
              </a:rPr>
              <a:t>tempo</a:t>
            </a:r>
            <a:r>
              <a:rPr sz="2850" spc="-16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111111"/>
                </a:solidFill>
                <a:latin typeface="Calibri"/>
                <a:cs typeface="Calibri"/>
              </a:rPr>
              <a:t>di</a:t>
            </a:r>
            <a:r>
              <a:rPr sz="2850" spc="-1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111111"/>
                </a:solidFill>
                <a:latin typeface="Calibri"/>
                <a:cs typeface="Calibri"/>
              </a:rPr>
              <a:t>attesa </a:t>
            </a:r>
            <a:r>
              <a:rPr sz="2850" spc="50" dirty="0">
                <a:latin typeface="Calibri"/>
                <a:cs typeface="Calibri"/>
              </a:rPr>
              <a:t>in</a:t>
            </a:r>
            <a:r>
              <a:rPr sz="2850" spc="-130" dirty="0">
                <a:latin typeface="Calibri"/>
                <a:cs typeface="Calibri"/>
              </a:rPr>
              <a:t> </a:t>
            </a:r>
            <a:r>
              <a:rPr sz="2850" spc="-75" dirty="0">
                <a:latin typeface="Calibri"/>
                <a:cs typeface="Calibri"/>
              </a:rPr>
              <a:t>tempo</a:t>
            </a:r>
            <a:r>
              <a:rPr sz="2850" spc="-105" dirty="0"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0A0A0A"/>
                </a:solidFill>
                <a:latin typeface="Calibri"/>
                <a:cs typeface="Calibri"/>
              </a:rPr>
              <a:t>di</a:t>
            </a:r>
            <a:r>
              <a:rPr sz="2850" spc="-16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850" dirty="0">
                <a:latin typeface="Calibri"/>
                <a:cs typeface="Calibri"/>
              </a:rPr>
              <a:t>ricarica</a:t>
            </a:r>
            <a:r>
              <a:rPr sz="2850" spc="-80" dirty="0">
                <a:latin typeface="Calibri"/>
                <a:cs typeface="Calibri"/>
              </a:rPr>
              <a:t> </a:t>
            </a:r>
            <a:r>
              <a:rPr sz="2850" spc="-10" dirty="0">
                <a:latin typeface="Calibri"/>
                <a:cs typeface="Calibri"/>
              </a:rPr>
              <a:t>produttivo.</a:t>
            </a:r>
            <a:endParaRPr sz="2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0700" y="1917700"/>
            <a:ext cx="6235700" cy="5702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568815" algn="l"/>
              </a:tabLst>
            </a:pPr>
            <a:r>
              <a:rPr dirty="0">
                <a:solidFill>
                  <a:srgbClr val="0A4D77"/>
                </a:solidFill>
              </a:rPr>
              <a:t>Il</a:t>
            </a:r>
            <a:r>
              <a:rPr spc="325" dirty="0">
                <a:solidFill>
                  <a:srgbClr val="0A4D77"/>
                </a:solidFill>
              </a:rPr>
              <a:t> </a:t>
            </a:r>
            <a:r>
              <a:rPr spc="185" dirty="0"/>
              <a:t>Risultato:</a:t>
            </a:r>
            <a:r>
              <a:rPr spc="-120" dirty="0"/>
              <a:t> </a:t>
            </a:r>
            <a:r>
              <a:rPr spc="180" dirty="0">
                <a:solidFill>
                  <a:srgbClr val="08466B"/>
                </a:solidFill>
              </a:rPr>
              <a:t>Copertura</a:t>
            </a:r>
            <a:r>
              <a:rPr spc="370" dirty="0">
                <a:solidFill>
                  <a:srgbClr val="08466B"/>
                </a:solidFill>
              </a:rPr>
              <a:t> </a:t>
            </a:r>
            <a:r>
              <a:rPr spc="160" dirty="0">
                <a:solidFill>
                  <a:srgbClr val="074F7B"/>
                </a:solidFill>
              </a:rPr>
              <a:t>del</a:t>
            </a:r>
            <a:r>
              <a:rPr spc="-254" dirty="0">
                <a:solidFill>
                  <a:srgbClr val="074F7B"/>
                </a:solidFill>
              </a:rPr>
              <a:t> </a:t>
            </a:r>
            <a:r>
              <a:rPr dirty="0">
                <a:solidFill>
                  <a:srgbClr val="084974"/>
                </a:solidFill>
              </a:rPr>
              <a:t>104.2%</a:t>
            </a:r>
            <a:r>
              <a:rPr spc="30" dirty="0">
                <a:solidFill>
                  <a:srgbClr val="084974"/>
                </a:solidFill>
              </a:rPr>
              <a:t> </a:t>
            </a:r>
            <a:r>
              <a:rPr spc="-25" dirty="0">
                <a:solidFill>
                  <a:srgbClr val="074D77"/>
                </a:solidFill>
              </a:rPr>
              <a:t>del</a:t>
            </a:r>
            <a:r>
              <a:rPr dirty="0">
                <a:solidFill>
                  <a:srgbClr val="074D77"/>
                </a:solidFill>
              </a:rPr>
              <a:t>	</a:t>
            </a:r>
            <a:r>
              <a:rPr spc="165" dirty="0">
                <a:solidFill>
                  <a:srgbClr val="0C4D72"/>
                </a:solidFill>
              </a:rPr>
              <a:t>Fabbisogno</a:t>
            </a:r>
            <a:r>
              <a:rPr spc="380" dirty="0">
                <a:solidFill>
                  <a:srgbClr val="0C4D72"/>
                </a:solidFill>
              </a:rPr>
              <a:t> </a:t>
            </a:r>
            <a:r>
              <a:rPr spc="180" dirty="0">
                <a:solidFill>
                  <a:srgbClr val="054872"/>
                </a:solidFill>
              </a:rPr>
              <a:t>Energetico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  <a:tabLst>
                <a:tab pos="245745" algn="l"/>
              </a:tabLst>
            </a:pPr>
            <a:r>
              <a:rPr sz="1500" spc="-50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30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211" y="3947427"/>
            <a:ext cx="3843020" cy="150749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615"/>
              </a:spcBef>
            </a:pPr>
            <a:r>
              <a:rPr sz="3250" spc="190" dirty="0">
                <a:solidFill>
                  <a:srgbClr val="0E4D6B"/>
                </a:solidFill>
                <a:latin typeface="Calibri"/>
                <a:cs typeface="Calibri"/>
              </a:rPr>
              <a:t>Copertura</a:t>
            </a:r>
            <a:r>
              <a:rPr sz="3250" spc="195" dirty="0">
                <a:solidFill>
                  <a:srgbClr val="0E4D6B"/>
                </a:solidFill>
                <a:latin typeface="Calibri"/>
                <a:cs typeface="Calibri"/>
              </a:rPr>
              <a:t> </a:t>
            </a:r>
            <a:r>
              <a:rPr sz="3250" spc="225" dirty="0">
                <a:solidFill>
                  <a:srgbClr val="0C4D75"/>
                </a:solidFill>
                <a:latin typeface="Calibri"/>
                <a:cs typeface="Calibri"/>
              </a:rPr>
              <a:t>Andata</a:t>
            </a:r>
            <a:endParaRPr sz="3250">
              <a:latin typeface="Calibri"/>
              <a:cs typeface="Calibri"/>
            </a:endParaRPr>
          </a:p>
          <a:p>
            <a:pPr marL="41275" marR="30480" indent="-3810">
              <a:lnSpc>
                <a:spcPts val="3200"/>
              </a:lnSpc>
              <a:spcBef>
                <a:spcPts val="890"/>
              </a:spcBef>
            </a:pPr>
            <a:r>
              <a:rPr sz="2950" spc="-20" dirty="0">
                <a:latin typeface="Calibri"/>
                <a:cs typeface="Calibri"/>
              </a:rPr>
              <a:t>46</a:t>
            </a:r>
            <a:r>
              <a:rPr sz="2950" spc="-150" dirty="0">
                <a:latin typeface="Calibri"/>
                <a:cs typeface="Calibri"/>
              </a:rPr>
              <a:t> </a:t>
            </a:r>
            <a:r>
              <a:rPr sz="2950" spc="-55" dirty="0">
                <a:latin typeface="Calibri"/>
                <a:cs typeface="Calibri"/>
              </a:rPr>
              <a:t>6</a:t>
            </a:r>
            <a:r>
              <a:rPr sz="2175" spc="-82" baseline="42145" dirty="0">
                <a:latin typeface="Calibri"/>
                <a:cs typeface="Calibri"/>
              </a:rPr>
              <a:t>0</a:t>
            </a:r>
            <a:r>
              <a:rPr sz="2950" spc="-55" dirty="0">
                <a:latin typeface="Calibri"/>
                <a:cs typeface="Calibri"/>
              </a:rPr>
              <a:t>a</a:t>
            </a:r>
            <a:r>
              <a:rPr sz="2950" spc="-110" dirty="0">
                <a:latin typeface="Calibri"/>
                <a:cs typeface="Calibri"/>
              </a:rPr>
              <a:t> </a:t>
            </a:r>
            <a:r>
              <a:rPr sz="2950" spc="-80" dirty="0">
                <a:latin typeface="Calibri"/>
                <a:cs typeface="Calibri"/>
              </a:rPr>
              <a:t>(Energia</a:t>
            </a:r>
            <a:r>
              <a:rPr sz="2950" spc="-85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ricaricata</a:t>
            </a:r>
            <a:r>
              <a:rPr sz="2950" spc="-55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/ </a:t>
            </a:r>
            <a:r>
              <a:rPr sz="2950" spc="-10" dirty="0">
                <a:latin typeface="Calibri"/>
                <a:cs typeface="Calibri"/>
              </a:rPr>
              <a:t>Consumo)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398" y="7616119"/>
            <a:ext cx="15454630" cy="14617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4365"/>
              </a:lnSpc>
              <a:spcBef>
                <a:spcPts val="130"/>
              </a:spcBef>
            </a:pPr>
            <a:r>
              <a:rPr sz="3650" dirty="0">
                <a:solidFill>
                  <a:srgbClr val="034267"/>
                </a:solidFill>
                <a:latin typeface="Calibri"/>
                <a:cs typeface="Calibri"/>
              </a:rPr>
              <a:t>*”Implicazione</a:t>
            </a:r>
            <a:r>
              <a:rPr sz="3650" spc="-95" dirty="0">
                <a:solidFill>
                  <a:srgbClr val="034267"/>
                </a:solidFill>
                <a:latin typeface="Calibri"/>
                <a:cs typeface="Calibri"/>
              </a:rPr>
              <a:t> </a:t>
            </a:r>
            <a:r>
              <a:rPr sz="3650" spc="-10" dirty="0">
                <a:solidFill>
                  <a:srgbClr val="0A466B"/>
                </a:solidFill>
                <a:latin typeface="Calibri"/>
                <a:cs typeface="Calibri"/>
              </a:rPr>
              <a:t>Strategica*”</a:t>
            </a:r>
            <a:endParaRPr sz="3650">
              <a:latin typeface="Calibri"/>
              <a:cs typeface="Calibri"/>
            </a:endParaRPr>
          </a:p>
          <a:p>
            <a:pPr marL="31750" marR="5080" indent="10160">
              <a:lnSpc>
                <a:spcPts val="3200"/>
              </a:lnSpc>
              <a:spcBef>
                <a:spcPts val="525"/>
              </a:spcBef>
            </a:pPr>
            <a:r>
              <a:rPr sz="3100" spc="-180" dirty="0">
                <a:latin typeface="Calibri"/>
                <a:cs typeface="Calibri"/>
              </a:rPr>
              <a:t>Questo</a:t>
            </a:r>
            <a:r>
              <a:rPr sz="3100" spc="-30" dirty="0">
                <a:latin typeface="Calibri"/>
                <a:cs typeface="Calibri"/>
              </a:rPr>
              <a:t> </a:t>
            </a:r>
            <a:r>
              <a:rPr sz="3100" spc="-155" dirty="0">
                <a:latin typeface="Calibri"/>
                <a:cs typeface="Calibri"/>
              </a:rPr>
              <a:t>surplus</a:t>
            </a:r>
            <a:r>
              <a:rPr sz="3100" spc="-35" dirty="0">
                <a:latin typeface="Calibri"/>
                <a:cs typeface="Calibri"/>
              </a:rPr>
              <a:t> </a:t>
            </a:r>
            <a:r>
              <a:rPr sz="3100" spc="-180" dirty="0">
                <a:latin typeface="Calibri"/>
                <a:cs typeface="Calibri"/>
              </a:rPr>
              <a:t>energetico</a:t>
            </a:r>
            <a:r>
              <a:rPr sz="3100" spc="90" dirty="0">
                <a:latin typeface="Calibri"/>
                <a:cs typeface="Calibri"/>
              </a:rPr>
              <a:t> </a:t>
            </a:r>
            <a:r>
              <a:rPr sz="3100" spc="-155" dirty="0">
                <a:latin typeface="Calibri"/>
                <a:cs typeface="Calibri"/>
              </a:rPr>
              <a:t>garantisce</a:t>
            </a:r>
            <a:r>
              <a:rPr sz="3100" spc="-110" dirty="0">
                <a:latin typeface="Calibri"/>
                <a:cs typeface="Calibri"/>
              </a:rPr>
              <a:t> </a:t>
            </a:r>
            <a:r>
              <a:rPr sz="3100" spc="-145" dirty="0">
                <a:latin typeface="Calibri"/>
                <a:cs typeface="Calibri"/>
              </a:rPr>
              <a:t>un'operatività</a:t>
            </a:r>
            <a:r>
              <a:rPr sz="3100" spc="-370" dirty="0">
                <a:latin typeface="Calibri"/>
                <a:cs typeface="Calibri"/>
              </a:rPr>
              <a:t> </a:t>
            </a:r>
            <a:r>
              <a:rPr sz="3100" spc="-170" dirty="0">
                <a:latin typeface="Calibri"/>
                <a:cs typeface="Calibri"/>
              </a:rPr>
              <a:t>continua</a:t>
            </a:r>
            <a:r>
              <a:rPr sz="3100" spc="-85" dirty="0">
                <a:latin typeface="Calibri"/>
                <a:cs typeface="Calibri"/>
              </a:rPr>
              <a:t> </a:t>
            </a:r>
            <a:r>
              <a:rPr sz="3100" spc="-185" dirty="0">
                <a:latin typeface="Calibri"/>
                <a:cs typeface="Calibri"/>
              </a:rPr>
              <a:t>durante</a:t>
            </a:r>
            <a:r>
              <a:rPr sz="3100" spc="-55" dirty="0">
                <a:latin typeface="Calibri"/>
                <a:cs typeface="Calibri"/>
              </a:rPr>
              <a:t> </a:t>
            </a:r>
            <a:r>
              <a:rPr sz="3100" spc="-155" dirty="0">
                <a:latin typeface="Calibri"/>
                <a:cs typeface="Calibri"/>
              </a:rPr>
              <a:t>tutta</a:t>
            </a:r>
            <a:r>
              <a:rPr sz="3100" spc="-170" dirty="0">
                <a:latin typeface="Calibri"/>
                <a:cs typeface="Calibri"/>
              </a:rPr>
              <a:t> </a:t>
            </a:r>
            <a:r>
              <a:rPr sz="3100" spc="-55" dirty="0">
                <a:latin typeface="Calibri"/>
                <a:cs typeface="Calibri"/>
              </a:rPr>
              <a:t>la</a:t>
            </a:r>
            <a:r>
              <a:rPr sz="3100" spc="-220" dirty="0">
                <a:latin typeface="Calibri"/>
                <a:cs typeface="Calibri"/>
              </a:rPr>
              <a:t> </a:t>
            </a:r>
            <a:r>
              <a:rPr sz="3100" spc="-165" dirty="0">
                <a:latin typeface="Calibri"/>
                <a:cs typeface="Calibri"/>
              </a:rPr>
              <a:t>giornata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spc="-90" dirty="0">
                <a:latin typeface="Calibri"/>
                <a:cs typeface="Calibri"/>
              </a:rPr>
              <a:t>di</a:t>
            </a:r>
            <a:r>
              <a:rPr sz="3100" spc="-24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servizio, </a:t>
            </a:r>
            <a:r>
              <a:rPr sz="3100" spc="-229" dirty="0">
                <a:latin typeface="Calibri"/>
                <a:cs typeface="Calibri"/>
              </a:rPr>
              <a:t>mantenendo</a:t>
            </a:r>
            <a:r>
              <a:rPr sz="3100" spc="130" dirty="0">
                <a:latin typeface="Calibri"/>
                <a:cs typeface="Calibri"/>
              </a:rPr>
              <a:t> </a:t>
            </a:r>
            <a:r>
              <a:rPr sz="3100" spc="-160" dirty="0">
                <a:latin typeface="Calibri"/>
                <a:cs typeface="Calibri"/>
              </a:rPr>
              <a:t>Io</a:t>
            </a:r>
            <a:r>
              <a:rPr sz="3100" spc="-140" dirty="0">
                <a:latin typeface="Calibri"/>
                <a:cs typeface="Calibri"/>
              </a:rPr>
              <a:t> </a:t>
            </a:r>
            <a:r>
              <a:rPr sz="3100" spc="-170" dirty="0">
                <a:latin typeface="Calibri"/>
                <a:cs typeface="Calibri"/>
              </a:rPr>
              <a:t>Stato</a:t>
            </a:r>
            <a:r>
              <a:rPr sz="3100" spc="-85" dirty="0">
                <a:latin typeface="Calibri"/>
                <a:cs typeface="Calibri"/>
              </a:rPr>
              <a:t> </a:t>
            </a:r>
            <a:r>
              <a:rPr sz="3100" spc="-150" dirty="0">
                <a:latin typeface="Calibri"/>
                <a:cs typeface="Calibri"/>
              </a:rPr>
              <a:t>di</a:t>
            </a:r>
            <a:r>
              <a:rPr sz="3100" spc="-160" dirty="0">
                <a:latin typeface="Calibri"/>
                <a:cs typeface="Calibri"/>
              </a:rPr>
              <a:t> </a:t>
            </a:r>
            <a:r>
              <a:rPr sz="3100" spc="-100" dirty="0">
                <a:latin typeface="Calibri"/>
                <a:cs typeface="Calibri"/>
              </a:rPr>
              <a:t>Carica</a:t>
            </a:r>
            <a:r>
              <a:rPr sz="3100" spc="-180" dirty="0">
                <a:latin typeface="Calibri"/>
                <a:cs typeface="Calibri"/>
              </a:rPr>
              <a:t> </a:t>
            </a:r>
            <a:r>
              <a:rPr sz="3100" spc="-105" dirty="0">
                <a:latin typeface="Calibri"/>
                <a:cs typeface="Calibri"/>
              </a:rPr>
              <a:t>(SoC)</a:t>
            </a:r>
            <a:r>
              <a:rPr sz="3100" spc="-204" dirty="0">
                <a:latin typeface="Calibri"/>
                <a:cs typeface="Calibri"/>
              </a:rPr>
              <a:t> </a:t>
            </a:r>
            <a:r>
              <a:rPr sz="3100" spc="-155" dirty="0">
                <a:latin typeface="Calibri"/>
                <a:cs typeface="Calibri"/>
              </a:rPr>
              <a:t>della</a:t>
            </a:r>
            <a:r>
              <a:rPr sz="3100" spc="-165" dirty="0">
                <a:latin typeface="Calibri"/>
                <a:cs typeface="Calibri"/>
              </a:rPr>
              <a:t> </a:t>
            </a:r>
            <a:r>
              <a:rPr sz="3100" spc="-150" dirty="0">
                <a:latin typeface="Calibri"/>
                <a:cs typeface="Calibri"/>
              </a:rPr>
              <a:t>batteria</a:t>
            </a:r>
            <a:r>
              <a:rPr sz="3100" spc="-60" dirty="0">
                <a:latin typeface="Calibri"/>
                <a:cs typeface="Calibri"/>
              </a:rPr>
              <a:t> </a:t>
            </a:r>
            <a:r>
              <a:rPr sz="3100" spc="-165" dirty="0">
                <a:latin typeface="Calibri"/>
                <a:cs typeface="Calibri"/>
              </a:rPr>
              <a:t>costante</a:t>
            </a:r>
            <a:r>
              <a:rPr sz="3100" spc="75" dirty="0">
                <a:latin typeface="Calibri"/>
                <a:cs typeface="Calibri"/>
              </a:rPr>
              <a:t> </a:t>
            </a:r>
            <a:r>
              <a:rPr sz="3100" spc="-240" dirty="0">
                <a:latin typeface="Calibri"/>
                <a:cs typeface="Calibri"/>
              </a:rPr>
              <a:t>e</a:t>
            </a:r>
            <a:r>
              <a:rPr sz="3100" spc="-204" dirty="0">
                <a:latin typeface="Calibri"/>
                <a:cs typeface="Calibri"/>
              </a:rPr>
              <a:t> </a:t>
            </a:r>
            <a:r>
              <a:rPr sz="3100" spc="-195" dirty="0">
                <a:latin typeface="Calibri"/>
                <a:cs typeface="Calibri"/>
              </a:rPr>
              <a:t>annullando</a:t>
            </a:r>
            <a:r>
              <a:rPr sz="3100" spc="10" dirty="0">
                <a:latin typeface="Calibri"/>
                <a:cs typeface="Calibri"/>
              </a:rPr>
              <a:t> </a:t>
            </a:r>
            <a:r>
              <a:rPr sz="3100" spc="-130" dirty="0">
                <a:latin typeface="Calibri"/>
                <a:cs typeface="Calibri"/>
              </a:rPr>
              <a:t>la</a:t>
            </a:r>
            <a:r>
              <a:rPr sz="3100" spc="-150" dirty="0">
                <a:latin typeface="Calibri"/>
                <a:cs typeface="Calibri"/>
              </a:rPr>
              <a:t> </a:t>
            </a:r>
            <a:r>
              <a:rPr sz="3100" spc="-165" dirty="0">
                <a:latin typeface="Calibri"/>
                <a:cs typeface="Calibri"/>
              </a:rPr>
              <a:t>necessità</a:t>
            </a:r>
            <a:r>
              <a:rPr sz="3100" spc="-55" dirty="0">
                <a:latin typeface="Calibri"/>
                <a:cs typeface="Calibri"/>
              </a:rPr>
              <a:t> </a:t>
            </a:r>
            <a:r>
              <a:rPr sz="3100" spc="-90" dirty="0">
                <a:latin typeface="Calibri"/>
                <a:cs typeface="Calibri"/>
              </a:rPr>
              <a:t>di</a:t>
            </a:r>
            <a:r>
              <a:rPr sz="3100" spc="-270" dirty="0">
                <a:latin typeface="Calibri"/>
                <a:cs typeface="Calibri"/>
              </a:rPr>
              <a:t> </a:t>
            </a:r>
            <a:r>
              <a:rPr sz="3100" spc="-155" dirty="0">
                <a:latin typeface="Calibri"/>
                <a:cs typeface="Calibri"/>
              </a:rPr>
              <a:t>rientrare</a:t>
            </a:r>
            <a:r>
              <a:rPr sz="3100" spc="40" dirty="0">
                <a:latin typeface="Calibri"/>
                <a:cs typeface="Calibri"/>
              </a:rPr>
              <a:t> </a:t>
            </a:r>
            <a:r>
              <a:rPr sz="3100" spc="-114" dirty="0">
                <a:latin typeface="Calibri"/>
                <a:cs typeface="Calibri"/>
              </a:rPr>
              <a:t>in</a:t>
            </a:r>
            <a:r>
              <a:rPr sz="3100" spc="-270" dirty="0">
                <a:latin typeface="Calibri"/>
                <a:cs typeface="Calibri"/>
              </a:rPr>
              <a:t> </a:t>
            </a:r>
            <a:r>
              <a:rPr sz="3100" spc="-50" dirty="0">
                <a:latin typeface="Calibri"/>
                <a:cs typeface="Calibri"/>
              </a:rPr>
              <a:t>deposito.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16382" y="3930242"/>
            <a:ext cx="3780154" cy="15278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600" dirty="0">
                <a:solidFill>
                  <a:srgbClr val="114D6E"/>
                </a:solidFill>
                <a:latin typeface="Calibri"/>
                <a:cs typeface="Calibri"/>
              </a:rPr>
              <a:t>Copertura</a:t>
            </a:r>
            <a:r>
              <a:rPr sz="3600" spc="370" dirty="0">
                <a:solidFill>
                  <a:srgbClr val="114D6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C4264"/>
                </a:solidFill>
                <a:latin typeface="Calibri"/>
                <a:cs typeface="Calibri"/>
              </a:rPr>
              <a:t>Ritorno</a:t>
            </a:r>
            <a:endParaRPr sz="3600">
              <a:latin typeface="Calibri"/>
              <a:cs typeface="Calibri"/>
            </a:endParaRPr>
          </a:p>
          <a:p>
            <a:pPr marL="15240" marR="5080" indent="-1270">
              <a:lnSpc>
                <a:spcPts val="3200"/>
              </a:lnSpc>
              <a:spcBef>
                <a:spcPts val="819"/>
              </a:spcBef>
            </a:pPr>
            <a:r>
              <a:rPr sz="3100" spc="-180" dirty="0">
                <a:latin typeface="Calibri"/>
                <a:cs typeface="Calibri"/>
              </a:rPr>
              <a:t>57.6%</a:t>
            </a:r>
            <a:r>
              <a:rPr sz="3100" spc="-55" dirty="0">
                <a:latin typeface="Calibri"/>
                <a:cs typeface="Calibri"/>
              </a:rPr>
              <a:t> </a:t>
            </a:r>
            <a:r>
              <a:rPr sz="3100" spc="-160" dirty="0">
                <a:latin typeface="Calibri"/>
                <a:cs typeface="Calibri"/>
              </a:rPr>
              <a:t>(Energia</a:t>
            </a:r>
            <a:r>
              <a:rPr sz="3100" spc="-15" dirty="0">
                <a:latin typeface="Calibri"/>
                <a:cs typeface="Calibri"/>
              </a:rPr>
              <a:t> </a:t>
            </a:r>
            <a:r>
              <a:rPr sz="3100" spc="-125" dirty="0">
                <a:latin typeface="Calibri"/>
                <a:cs typeface="Calibri"/>
              </a:rPr>
              <a:t>ricaricata</a:t>
            </a:r>
            <a:r>
              <a:rPr sz="3100" spc="40" dirty="0">
                <a:latin typeface="Calibri"/>
                <a:cs typeface="Calibri"/>
              </a:rPr>
              <a:t> </a:t>
            </a:r>
            <a:r>
              <a:rPr sz="3100" spc="-365" dirty="0">
                <a:latin typeface="Calibri"/>
                <a:cs typeface="Calibri"/>
              </a:rPr>
              <a:t>/ </a:t>
            </a:r>
            <a:r>
              <a:rPr sz="3100" spc="-90" dirty="0">
                <a:latin typeface="Calibri"/>
                <a:cs typeface="Calibri"/>
              </a:rPr>
              <a:t>Consumo)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500" y="3251200"/>
            <a:ext cx="2019300" cy="2032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6100" y="3263900"/>
            <a:ext cx="1143000" cy="2006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55600" y="3263900"/>
            <a:ext cx="2159000" cy="2019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36250" y="248355"/>
            <a:ext cx="9109075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700" dirty="0">
                <a:solidFill>
                  <a:srgbClr val="07446B"/>
                </a:solidFill>
              </a:rPr>
              <a:t>I</a:t>
            </a:r>
            <a:r>
              <a:rPr sz="5700" spc="-95" dirty="0">
                <a:solidFill>
                  <a:srgbClr val="07446B"/>
                </a:solidFill>
              </a:rPr>
              <a:t> </a:t>
            </a:r>
            <a:r>
              <a:rPr sz="5700" dirty="0">
                <a:solidFill>
                  <a:srgbClr val="05466B"/>
                </a:solidFill>
              </a:rPr>
              <a:t>Vantaggi</a:t>
            </a:r>
            <a:r>
              <a:rPr sz="5700" spc="55" dirty="0">
                <a:solidFill>
                  <a:srgbClr val="05466B"/>
                </a:solidFill>
              </a:rPr>
              <a:t> </a:t>
            </a:r>
            <a:r>
              <a:rPr sz="5700" dirty="0">
                <a:solidFill>
                  <a:srgbClr val="084970"/>
                </a:solidFill>
              </a:rPr>
              <a:t>Oltre</a:t>
            </a:r>
            <a:r>
              <a:rPr sz="5700" spc="-170" dirty="0">
                <a:solidFill>
                  <a:srgbClr val="084970"/>
                </a:solidFill>
              </a:rPr>
              <a:t> </a:t>
            </a:r>
            <a:r>
              <a:rPr sz="5700" spc="-10" dirty="0">
                <a:solidFill>
                  <a:srgbClr val="033F64"/>
                </a:solidFill>
              </a:rPr>
              <a:t>l'Autonomia</a:t>
            </a:r>
            <a:endParaRPr sz="5700"/>
          </a:p>
        </p:txBody>
      </p:sp>
      <p:sp>
        <p:nvSpPr>
          <p:cNvPr id="12" name="object 12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  <a:tabLst>
                <a:tab pos="245745" algn="l"/>
              </a:tabLst>
            </a:pPr>
            <a:r>
              <a:rPr sz="1500" spc="-50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30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9903" y="2200275"/>
            <a:ext cx="371919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dirty="0">
                <a:solidFill>
                  <a:srgbClr val="0A3B59"/>
                </a:solidFill>
                <a:latin typeface="Arial MT"/>
                <a:cs typeface="Arial MT"/>
              </a:rPr>
              <a:t>Efiicienza</a:t>
            </a:r>
            <a:r>
              <a:rPr sz="3100" spc="715" dirty="0">
                <a:solidFill>
                  <a:srgbClr val="0A3B59"/>
                </a:solidFill>
                <a:latin typeface="Arial MT"/>
                <a:cs typeface="Arial MT"/>
              </a:rPr>
              <a:t> </a:t>
            </a:r>
            <a:r>
              <a:rPr sz="3100" spc="40" dirty="0">
                <a:solidFill>
                  <a:srgbClr val="083F5E"/>
                </a:solidFill>
                <a:latin typeface="Arial MT"/>
                <a:cs typeface="Arial MT"/>
              </a:rPr>
              <a:t>Operativa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8917" y="2191455"/>
            <a:ext cx="370712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08486B"/>
                </a:solidFill>
                <a:latin typeface="Arial MT"/>
                <a:cs typeface="Arial MT"/>
              </a:rPr>
              <a:t>Vantaggi</a:t>
            </a:r>
            <a:r>
              <a:rPr sz="3200" spc="300" dirty="0">
                <a:solidFill>
                  <a:srgbClr val="08486B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E4262"/>
                </a:solidFill>
                <a:latin typeface="Arial MT"/>
                <a:cs typeface="Arial MT"/>
              </a:rPr>
              <a:t>Economici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05475" y="2191455"/>
            <a:ext cx="45923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0C3854"/>
                </a:solidFill>
                <a:latin typeface="Arial MT"/>
                <a:cs typeface="Arial MT"/>
              </a:rPr>
              <a:t>Sostenibilità</a:t>
            </a:r>
            <a:r>
              <a:rPr sz="3200" spc="370" dirty="0">
                <a:solidFill>
                  <a:srgbClr val="0C3854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0A3B59"/>
                </a:solidFill>
                <a:latin typeface="Arial MT"/>
                <a:cs typeface="Arial MT"/>
              </a:rPr>
              <a:t>e</a:t>
            </a:r>
            <a:r>
              <a:rPr sz="3200" spc="-35" dirty="0">
                <a:solidFill>
                  <a:srgbClr val="0A3B59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F3F56"/>
                </a:solidFill>
                <a:latin typeface="Arial MT"/>
                <a:cs typeface="Arial MT"/>
              </a:rPr>
              <a:t>Scalabilità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8986" y="5752394"/>
            <a:ext cx="4318635" cy="3054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20" algn="ctr">
              <a:lnSpc>
                <a:spcPts val="3579"/>
              </a:lnSpc>
              <a:spcBef>
                <a:spcPts val="105"/>
              </a:spcBef>
            </a:pPr>
            <a:r>
              <a:rPr sz="3050" spc="-130" dirty="0">
                <a:latin typeface="Arial MT"/>
                <a:cs typeface="Arial MT"/>
              </a:rPr>
              <a:t>Eliminazione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spc="-90" dirty="0">
                <a:latin typeface="Arial MT"/>
                <a:cs typeface="Arial MT"/>
              </a:rPr>
              <a:t>dei</a:t>
            </a:r>
            <a:r>
              <a:rPr sz="3050" spc="-23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tempi</a:t>
            </a:r>
            <a:r>
              <a:rPr sz="3050" spc="-19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di</a:t>
            </a:r>
            <a:endParaRPr sz="3050">
              <a:latin typeface="Arial MT"/>
              <a:cs typeface="Arial MT"/>
            </a:endParaRPr>
          </a:p>
          <a:p>
            <a:pPr marL="25400" algn="ctr">
              <a:lnSpc>
                <a:spcPts val="3415"/>
              </a:lnSpc>
            </a:pPr>
            <a:r>
              <a:rPr sz="2950" spc="-20" dirty="0">
                <a:latin typeface="Arial MT"/>
                <a:cs typeface="Arial MT"/>
              </a:rPr>
              <a:t>fermo</a:t>
            </a:r>
            <a:r>
              <a:rPr sz="2950" spc="-190" dirty="0">
                <a:latin typeface="Arial MT"/>
                <a:cs typeface="Arial MT"/>
              </a:rPr>
              <a:t> </a:t>
            </a:r>
            <a:r>
              <a:rPr sz="2950" spc="-45" dirty="0">
                <a:latin typeface="Arial MT"/>
                <a:cs typeface="Arial MT"/>
              </a:rPr>
              <a:t>per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spc="-125" dirty="0">
                <a:latin typeface="Arial MT"/>
                <a:cs typeface="Arial MT"/>
              </a:rPr>
              <a:t>la</a:t>
            </a:r>
            <a:r>
              <a:rPr sz="2950" spc="-8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ricarica.</a:t>
            </a:r>
            <a:endParaRPr sz="2950">
              <a:latin typeface="Arial MT"/>
              <a:cs typeface="Arial MT"/>
            </a:endParaRPr>
          </a:p>
          <a:p>
            <a:pPr marL="12700" marR="5080" indent="36195" algn="ctr">
              <a:lnSpc>
                <a:spcPct val="94700"/>
              </a:lnSpc>
              <a:spcBef>
                <a:spcPts val="140"/>
              </a:spcBef>
            </a:pPr>
            <a:r>
              <a:rPr sz="2900" spc="-10" dirty="0">
                <a:latin typeface="Arial MT"/>
                <a:cs typeface="Arial MT"/>
              </a:rPr>
              <a:t>Affidabilità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superiore</a:t>
            </a:r>
            <a:r>
              <a:rPr sz="2900" spc="-14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ai </a:t>
            </a:r>
            <a:r>
              <a:rPr sz="2950" spc="-55" dirty="0">
                <a:latin typeface="Arial MT"/>
                <a:cs typeface="Arial MT"/>
              </a:rPr>
              <a:t>pantografi,</a:t>
            </a:r>
            <a:r>
              <a:rPr sz="2950" spc="-155" dirty="0">
                <a:latin typeface="Arial MT"/>
                <a:cs typeface="Arial MT"/>
              </a:rPr>
              <a:t> </a:t>
            </a:r>
            <a:r>
              <a:rPr sz="2950" spc="-60" dirty="0">
                <a:latin typeface="Arial MT"/>
                <a:cs typeface="Arial MT"/>
              </a:rPr>
              <a:t>che</a:t>
            </a:r>
            <a:r>
              <a:rPr sz="2950" spc="-220" dirty="0">
                <a:latin typeface="Arial MT"/>
                <a:cs typeface="Arial MT"/>
              </a:rPr>
              <a:t> </a:t>
            </a:r>
            <a:r>
              <a:rPr sz="2950" spc="-90" dirty="0">
                <a:latin typeface="Arial MT"/>
                <a:cs typeface="Arial MT"/>
              </a:rPr>
              <a:t>secondo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i </a:t>
            </a:r>
            <a:r>
              <a:rPr sz="2950" spc="-10" dirty="0">
                <a:latin typeface="Arial MT"/>
                <a:cs typeface="Arial MT"/>
              </a:rPr>
              <a:t>conducenti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spc="-125" dirty="0">
                <a:latin typeface="Arial MT"/>
                <a:cs typeface="Arial MT"/>
              </a:rPr>
              <a:t>possono</a:t>
            </a:r>
            <a:r>
              <a:rPr sz="2950" spc="-80" dirty="0">
                <a:latin typeface="Arial MT"/>
                <a:cs typeface="Arial MT"/>
              </a:rPr>
              <a:t> </a:t>
            </a:r>
            <a:r>
              <a:rPr sz="2950" spc="-165" dirty="0">
                <a:latin typeface="Arial MT"/>
                <a:cs typeface="Arial MT"/>
              </a:rPr>
              <a:t>essere </a:t>
            </a:r>
            <a:r>
              <a:rPr sz="2950" spc="-50" dirty="0">
                <a:latin typeface="Arial MT"/>
                <a:cs typeface="Arial MT"/>
              </a:rPr>
              <a:t>macchinosi</a:t>
            </a:r>
            <a:r>
              <a:rPr sz="2950" spc="-140" dirty="0">
                <a:latin typeface="Arial MT"/>
                <a:cs typeface="Arial MT"/>
              </a:rPr>
              <a:t> </a:t>
            </a:r>
            <a:r>
              <a:rPr sz="2950" spc="-80" dirty="0">
                <a:latin typeface="Arial MT"/>
                <a:cs typeface="Arial MT"/>
              </a:rPr>
              <a:t>nella</a:t>
            </a:r>
            <a:r>
              <a:rPr sz="2950" spc="-75" dirty="0">
                <a:latin typeface="Arial MT"/>
                <a:cs typeface="Arial MT"/>
              </a:rPr>
              <a:t> </a:t>
            </a:r>
            <a:r>
              <a:rPr sz="2950" spc="-180" dirty="0">
                <a:latin typeface="Arial MT"/>
                <a:cs typeface="Arial MT"/>
              </a:rPr>
              <a:t>fase</a:t>
            </a:r>
            <a:r>
              <a:rPr sz="2950" spc="-10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di </a:t>
            </a:r>
            <a:r>
              <a:rPr sz="2950" spc="-10" dirty="0">
                <a:latin typeface="Arial MT"/>
                <a:cs typeface="Arial MT"/>
              </a:rPr>
              <a:t>aggancio.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6299" y="5752394"/>
            <a:ext cx="4331335" cy="263588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10160" algn="ctr">
              <a:lnSpc>
                <a:spcPct val="95700"/>
              </a:lnSpc>
              <a:spcBef>
                <a:spcPts val="260"/>
              </a:spcBef>
            </a:pPr>
            <a:r>
              <a:rPr sz="3050" spc="-140" dirty="0">
                <a:latin typeface="Arial MT"/>
                <a:cs typeface="Arial MT"/>
              </a:rPr>
              <a:t>Potenziale</a:t>
            </a:r>
            <a:r>
              <a:rPr sz="3050" spc="-20" dirty="0">
                <a:latin typeface="Arial MT"/>
                <a:cs typeface="Arial MT"/>
              </a:rPr>
              <a:t> </a:t>
            </a:r>
            <a:r>
              <a:rPr sz="3050" spc="-105" dirty="0">
                <a:latin typeface="Arial MT"/>
                <a:cs typeface="Arial MT"/>
              </a:rPr>
              <a:t>downsizing</a:t>
            </a:r>
            <a:r>
              <a:rPr sz="3050" spc="-6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del </a:t>
            </a:r>
            <a:r>
              <a:rPr sz="2950" spc="-80" dirty="0">
                <a:latin typeface="Arial MT"/>
                <a:cs typeface="Arial MT"/>
              </a:rPr>
              <a:t>pacco</a:t>
            </a:r>
            <a:r>
              <a:rPr sz="2950" spc="-7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batterie</a:t>
            </a:r>
            <a:r>
              <a:rPr sz="2950" spc="-135" dirty="0">
                <a:latin typeface="Arial MT"/>
                <a:cs typeface="Arial MT"/>
              </a:rPr>
              <a:t> </a:t>
            </a:r>
            <a:r>
              <a:rPr sz="2950" spc="-280" dirty="0">
                <a:latin typeface="Arial MT"/>
                <a:cs typeface="Arial MT"/>
              </a:rPr>
              <a:t>a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spc="-80" dirty="0">
                <a:latin typeface="Arial MT"/>
                <a:cs typeface="Arial MT"/>
              </a:rPr>
              <a:t>bordo,</a:t>
            </a:r>
            <a:r>
              <a:rPr sz="2950" spc="-190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con </a:t>
            </a:r>
            <a:r>
              <a:rPr sz="2900" spc="-40" dirty="0">
                <a:latin typeface="Arial MT"/>
                <a:cs typeface="Arial MT"/>
              </a:rPr>
              <a:t>conseguente </a:t>
            </a:r>
            <a:r>
              <a:rPr sz="2900" spc="-30" dirty="0">
                <a:latin typeface="Arial MT"/>
                <a:cs typeface="Arial MT"/>
              </a:rPr>
              <a:t>riduzione</a:t>
            </a:r>
            <a:r>
              <a:rPr sz="2900" spc="-17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del </a:t>
            </a:r>
            <a:r>
              <a:rPr sz="2950" spc="-155" dirty="0">
                <a:latin typeface="Arial MT"/>
                <a:cs typeface="Arial MT"/>
              </a:rPr>
              <a:t>peso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spc="-60" dirty="0">
                <a:latin typeface="Arial MT"/>
                <a:cs typeface="Arial MT"/>
              </a:rPr>
              <a:t>del</a:t>
            </a:r>
            <a:r>
              <a:rPr sz="2950" spc="-75" dirty="0">
                <a:latin typeface="Arial MT"/>
                <a:cs typeface="Arial MT"/>
              </a:rPr>
              <a:t> </a:t>
            </a:r>
            <a:r>
              <a:rPr sz="2950" spc="-95" dirty="0">
                <a:latin typeface="Arial MT"/>
                <a:cs typeface="Arial MT"/>
              </a:rPr>
              <a:t>veicolo,</a:t>
            </a:r>
            <a:r>
              <a:rPr sz="2950" spc="-18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del </a:t>
            </a:r>
            <a:r>
              <a:rPr sz="2950" spc="-55" dirty="0">
                <a:latin typeface="Arial MT"/>
                <a:cs typeface="Arial MT"/>
              </a:rPr>
              <a:t>consumo</a:t>
            </a:r>
            <a:r>
              <a:rPr sz="2950" spc="-155" dirty="0">
                <a:latin typeface="Arial MT"/>
                <a:cs typeface="Arial MT"/>
              </a:rPr>
              <a:t> </a:t>
            </a:r>
            <a:r>
              <a:rPr sz="2950" spc="-45" dirty="0">
                <a:latin typeface="Arial MT"/>
                <a:cs typeface="Arial MT"/>
              </a:rPr>
              <a:t>energetico</a:t>
            </a:r>
            <a:r>
              <a:rPr sz="2950" spc="-100" dirty="0">
                <a:latin typeface="Arial MT"/>
                <a:cs typeface="Arial MT"/>
              </a:rPr>
              <a:t> </a:t>
            </a:r>
            <a:r>
              <a:rPr sz="2950" spc="-170" dirty="0">
                <a:latin typeface="Arial MT"/>
                <a:cs typeface="Arial MT"/>
              </a:rPr>
              <a:t>e</a:t>
            </a:r>
            <a:r>
              <a:rPr sz="2950" spc="-195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dei </a:t>
            </a:r>
            <a:r>
              <a:rPr sz="2950" spc="-55" dirty="0">
                <a:latin typeface="Arial MT"/>
                <a:cs typeface="Arial MT"/>
              </a:rPr>
              <a:t>costi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di</a:t>
            </a:r>
            <a:r>
              <a:rPr sz="2950" spc="-210" dirty="0">
                <a:latin typeface="Arial MT"/>
                <a:cs typeface="Arial MT"/>
              </a:rPr>
              <a:t> </a:t>
            </a:r>
            <a:r>
              <a:rPr sz="2950" spc="-60" dirty="0">
                <a:latin typeface="Arial MT"/>
                <a:cs typeface="Arial MT"/>
              </a:rPr>
              <a:t>sostituzione</a:t>
            </a:r>
            <a:r>
              <a:rPr sz="2950" spc="-10" dirty="0">
                <a:latin typeface="Arial MT"/>
                <a:cs typeface="Arial MT"/>
              </a:rPr>
              <a:t> futuri.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36707" y="5752394"/>
            <a:ext cx="4754880" cy="2635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579"/>
              </a:lnSpc>
              <a:spcBef>
                <a:spcPts val="105"/>
              </a:spcBef>
            </a:pPr>
            <a:r>
              <a:rPr sz="3050" spc="-100" dirty="0">
                <a:latin typeface="Arial MT"/>
                <a:cs typeface="Arial MT"/>
              </a:rPr>
              <a:t>Integrazione</a:t>
            </a:r>
            <a:r>
              <a:rPr sz="3050" spc="-30" dirty="0">
                <a:latin typeface="Arial MT"/>
                <a:cs typeface="Arial MT"/>
              </a:rPr>
              <a:t> </a:t>
            </a:r>
            <a:r>
              <a:rPr sz="3050" spc="-140" dirty="0">
                <a:latin typeface="Arial MT"/>
                <a:cs typeface="Arial MT"/>
              </a:rPr>
              <a:t>urbana</a:t>
            </a:r>
            <a:r>
              <a:rPr sz="3050" spc="-55" dirty="0">
                <a:latin typeface="Arial MT"/>
                <a:cs typeface="Arial MT"/>
              </a:rPr>
              <a:t> </a:t>
            </a:r>
            <a:r>
              <a:rPr sz="3050" spc="-90" dirty="0">
                <a:latin typeface="Arial MT"/>
                <a:cs typeface="Arial MT"/>
              </a:rPr>
              <a:t>invisibile.</a:t>
            </a:r>
            <a:endParaRPr sz="3050">
              <a:latin typeface="Arial MT"/>
              <a:cs typeface="Arial MT"/>
            </a:endParaRPr>
          </a:p>
          <a:p>
            <a:pPr marL="149225" marR="141605" indent="-8890" algn="ctr">
              <a:lnSpc>
                <a:spcPct val="95700"/>
              </a:lnSpc>
              <a:spcBef>
                <a:spcPts val="70"/>
              </a:spcBef>
            </a:pPr>
            <a:r>
              <a:rPr sz="2950" spc="-10" dirty="0">
                <a:latin typeface="Arial MT"/>
                <a:cs typeface="Arial MT"/>
              </a:rPr>
              <a:t>Il</a:t>
            </a:r>
            <a:r>
              <a:rPr sz="2950" spc="-225" dirty="0">
                <a:latin typeface="Arial MT"/>
                <a:cs typeface="Arial MT"/>
              </a:rPr>
              <a:t> </a:t>
            </a:r>
            <a:r>
              <a:rPr sz="2950" spc="-65" dirty="0">
                <a:latin typeface="Arial MT"/>
                <a:cs typeface="Arial MT"/>
              </a:rPr>
              <a:t>codice</a:t>
            </a:r>
            <a:r>
              <a:rPr sz="2950" spc="-95" dirty="0">
                <a:latin typeface="Arial MT"/>
                <a:cs typeface="Arial MT"/>
              </a:rPr>
              <a:t> </a:t>
            </a:r>
            <a:r>
              <a:rPr sz="2950" spc="-240" dirty="0">
                <a:latin typeface="Arial MT"/>
                <a:cs typeface="Arial MT"/>
              </a:rPr>
              <a:t>MATLAB</a:t>
            </a:r>
            <a:r>
              <a:rPr sz="2950" spc="25" dirty="0">
                <a:latin typeface="Arial MT"/>
                <a:cs typeface="Arial MT"/>
              </a:rPr>
              <a:t> </a:t>
            </a:r>
            <a:r>
              <a:rPr sz="2950" spc="-30" dirty="0">
                <a:latin typeface="Arial MT"/>
                <a:cs typeface="Arial MT"/>
              </a:rPr>
              <a:t>sviluppato </a:t>
            </a:r>
            <a:r>
              <a:rPr sz="2900" spc="-40" dirty="0">
                <a:latin typeface="Arial MT"/>
                <a:cs typeface="Arial MT"/>
              </a:rPr>
              <a:t>è</a:t>
            </a:r>
            <a:r>
              <a:rPr sz="2900" spc="-15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parametrizzato</a:t>
            </a:r>
            <a:r>
              <a:rPr sz="2900" spc="-280" dirty="0">
                <a:latin typeface="Arial MT"/>
                <a:cs typeface="Arial MT"/>
              </a:rPr>
              <a:t> </a:t>
            </a:r>
            <a:r>
              <a:rPr sz="2900" spc="-155" dirty="0">
                <a:latin typeface="Arial MT"/>
                <a:cs typeface="Arial MT"/>
              </a:rPr>
              <a:t>e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80" dirty="0">
                <a:latin typeface="Arial MT"/>
                <a:cs typeface="Arial MT"/>
              </a:rPr>
              <a:t>scalabile, </a:t>
            </a:r>
            <a:r>
              <a:rPr sz="2950" dirty="0">
                <a:latin typeface="Arial MT"/>
                <a:cs typeface="Arial MT"/>
              </a:rPr>
              <a:t>pronto</a:t>
            </a:r>
            <a:r>
              <a:rPr sz="2950" spc="-210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per</a:t>
            </a:r>
            <a:r>
              <a:rPr sz="2950" spc="-65" dirty="0">
                <a:latin typeface="Arial MT"/>
                <a:cs typeface="Arial MT"/>
              </a:rPr>
              <a:t> </a:t>
            </a:r>
            <a:r>
              <a:rPr sz="2950" spc="-180" dirty="0">
                <a:latin typeface="Arial MT"/>
                <a:cs typeface="Arial MT"/>
              </a:rPr>
              <a:t>essere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applicato </a:t>
            </a:r>
            <a:r>
              <a:rPr sz="2950" spc="-75" dirty="0">
                <a:latin typeface="Arial MT"/>
                <a:cs typeface="Arial MT"/>
              </a:rPr>
              <a:t>all'analisi</a:t>
            </a:r>
            <a:r>
              <a:rPr sz="2950" spc="-6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di</a:t>
            </a:r>
            <a:r>
              <a:rPr sz="2950" spc="-210" dirty="0">
                <a:latin typeface="Arial MT"/>
                <a:cs typeface="Arial MT"/>
              </a:rPr>
              <a:t> </a:t>
            </a:r>
            <a:r>
              <a:rPr sz="2950" spc="-110" dirty="0">
                <a:latin typeface="Arial MT"/>
                <a:cs typeface="Arial MT"/>
              </a:rPr>
              <a:t>qualsiasi</a:t>
            </a:r>
            <a:r>
              <a:rPr sz="2950" spc="-45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altra </a:t>
            </a:r>
            <a:r>
              <a:rPr sz="2950" spc="-75" dirty="0">
                <a:latin typeface="Arial MT"/>
                <a:cs typeface="Arial MT"/>
              </a:rPr>
              <a:t>linea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di</a:t>
            </a:r>
            <a:r>
              <a:rPr sz="2950" spc="-204" dirty="0">
                <a:latin typeface="Arial MT"/>
                <a:cs typeface="Arial MT"/>
              </a:rPr>
              <a:t> </a:t>
            </a:r>
            <a:r>
              <a:rPr sz="2950" spc="-35" dirty="0">
                <a:latin typeface="Arial MT"/>
                <a:cs typeface="Arial MT"/>
              </a:rPr>
              <a:t>trasporto </a:t>
            </a:r>
            <a:r>
              <a:rPr sz="2950" spc="-10" dirty="0">
                <a:latin typeface="Arial MT"/>
                <a:cs typeface="Arial MT"/>
              </a:rPr>
              <a:t>pubblico.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3124200"/>
            <a:ext cx="4864100" cy="2679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1900" y="3124200"/>
            <a:ext cx="4851400" cy="267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33200" y="3124200"/>
            <a:ext cx="4864100" cy="2679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0659" y="392869"/>
            <a:ext cx="15410815" cy="1941195"/>
          </a:xfrm>
          <a:prstGeom prst="rect">
            <a:avLst/>
          </a:prstGeom>
        </p:spPr>
        <p:txBody>
          <a:bodyPr vert="horz" wrap="square" lIns="0" tIns="349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5"/>
              </a:spcBef>
            </a:pPr>
            <a:r>
              <a:rPr sz="6100" b="1" spc="180" dirty="0">
                <a:solidFill>
                  <a:srgbClr val="05466B"/>
                </a:solidFill>
                <a:latin typeface="Calibri"/>
                <a:cs typeface="Calibri"/>
              </a:rPr>
              <a:t>Considerazioni</a:t>
            </a:r>
            <a:r>
              <a:rPr sz="6100" b="1" spc="-50" dirty="0">
                <a:solidFill>
                  <a:srgbClr val="05466B"/>
                </a:solidFill>
                <a:latin typeface="Calibri"/>
                <a:cs typeface="Calibri"/>
              </a:rPr>
              <a:t> </a:t>
            </a:r>
            <a:r>
              <a:rPr sz="6100" b="1" spc="80" dirty="0">
                <a:solidFill>
                  <a:srgbClr val="014D7C"/>
                </a:solidFill>
                <a:latin typeface="Calibri"/>
                <a:cs typeface="Calibri"/>
              </a:rPr>
              <a:t>per</a:t>
            </a:r>
            <a:r>
              <a:rPr sz="6100" b="1" spc="254" dirty="0">
                <a:solidFill>
                  <a:srgbClr val="014D7C"/>
                </a:solidFill>
                <a:latin typeface="Calibri"/>
                <a:cs typeface="Calibri"/>
              </a:rPr>
              <a:t> </a:t>
            </a:r>
            <a:r>
              <a:rPr sz="6100" b="1" spc="150" dirty="0">
                <a:solidFill>
                  <a:srgbClr val="084B75"/>
                </a:solidFill>
                <a:latin typeface="Calibri"/>
                <a:cs typeface="Calibri"/>
              </a:rPr>
              <a:t>l'lmplementazione</a:t>
            </a:r>
            <a:endParaRPr sz="61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380"/>
              </a:spcBef>
            </a:pPr>
            <a:r>
              <a:rPr sz="3100" spc="-50" dirty="0">
                <a:solidFill>
                  <a:srgbClr val="000000"/>
                </a:solidFill>
                <a:latin typeface="Calibri"/>
                <a:cs typeface="Calibri"/>
              </a:rPr>
              <a:t>La</a:t>
            </a:r>
            <a:r>
              <a:rPr sz="3100" spc="-2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75" dirty="0">
                <a:solidFill>
                  <a:srgbClr val="000000"/>
                </a:solidFill>
                <a:latin typeface="Calibri"/>
                <a:cs typeface="Calibri"/>
              </a:rPr>
              <a:t>fattibilità</a:t>
            </a:r>
            <a:r>
              <a:rPr sz="310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25" dirty="0">
                <a:solidFill>
                  <a:srgbClr val="000000"/>
                </a:solidFill>
                <a:latin typeface="Calibri"/>
                <a:cs typeface="Calibri"/>
              </a:rPr>
              <a:t>tecnica</a:t>
            </a:r>
            <a:r>
              <a:rPr sz="31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14" dirty="0">
                <a:solidFill>
                  <a:srgbClr val="000000"/>
                </a:solidFill>
                <a:latin typeface="Calibri"/>
                <a:cs typeface="Calibri"/>
              </a:rPr>
              <a:t>richiede</a:t>
            </a:r>
            <a:r>
              <a:rPr sz="310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05" dirty="0">
                <a:solidFill>
                  <a:srgbClr val="000000"/>
                </a:solidFill>
                <a:latin typeface="Calibri"/>
                <a:cs typeface="Calibri"/>
              </a:rPr>
              <a:t>l'attenzione</a:t>
            </a:r>
            <a:r>
              <a:rPr sz="3100" spc="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65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3100" spc="-2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85" dirty="0">
                <a:solidFill>
                  <a:srgbClr val="000000"/>
                </a:solidFill>
                <a:latin typeface="Calibri"/>
                <a:cs typeface="Calibri"/>
              </a:rPr>
              <a:t>tre</a:t>
            </a:r>
            <a:r>
              <a:rPr sz="3100" spc="-2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00" dirty="0">
                <a:solidFill>
                  <a:srgbClr val="000000"/>
                </a:solidFill>
                <a:latin typeface="Calibri"/>
                <a:cs typeface="Calibri"/>
              </a:rPr>
              <a:t>aspetti</a:t>
            </a:r>
            <a:r>
              <a:rPr sz="31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35" dirty="0">
                <a:solidFill>
                  <a:srgbClr val="000000"/>
                </a:solidFill>
                <a:latin typeface="Calibri"/>
                <a:cs typeface="Calibri"/>
              </a:rPr>
              <a:t>chiave</a:t>
            </a:r>
            <a:r>
              <a:rPr sz="31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25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3100" spc="-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14" dirty="0">
                <a:solidFill>
                  <a:srgbClr val="000000"/>
                </a:solidFill>
                <a:latin typeface="Calibri"/>
                <a:cs typeface="Calibri"/>
              </a:rPr>
              <a:t>garantire</a:t>
            </a:r>
            <a:r>
              <a:rPr sz="3100" spc="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000000"/>
                </a:solidFill>
                <a:latin typeface="Calibri"/>
                <a:cs typeface="Calibri"/>
              </a:rPr>
              <a:t>il</a:t>
            </a:r>
            <a:r>
              <a:rPr sz="3100" spc="-2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14" dirty="0">
                <a:solidFill>
                  <a:srgbClr val="000000"/>
                </a:solidFill>
                <a:latin typeface="Calibri"/>
                <a:cs typeface="Calibri"/>
              </a:rPr>
              <a:t>successo</a:t>
            </a:r>
            <a:r>
              <a:rPr sz="310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20" dirty="0">
                <a:solidFill>
                  <a:srgbClr val="000000"/>
                </a:solidFill>
                <a:latin typeface="Calibri"/>
                <a:cs typeface="Calibri"/>
              </a:rPr>
              <a:t>del</a:t>
            </a:r>
            <a:r>
              <a:rPr sz="3100" spc="-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20" dirty="0">
                <a:solidFill>
                  <a:srgbClr val="000000"/>
                </a:solidFill>
                <a:latin typeface="Calibri"/>
                <a:cs typeface="Calibri"/>
              </a:rPr>
              <a:t>progetto</a:t>
            </a:r>
            <a:r>
              <a:rPr sz="3100" spc="-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Calibri"/>
                <a:cs typeface="Calibri"/>
              </a:rPr>
              <a:t>pilota.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  <a:tabLst>
                <a:tab pos="245745" algn="l"/>
              </a:tabLst>
            </a:pPr>
            <a:r>
              <a:rPr sz="1500" spc="-50" dirty="0">
                <a:latin typeface="Calibri"/>
                <a:cs typeface="Calibri"/>
              </a:rPr>
              <a:t>G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30" dirty="0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605" y="5962939"/>
            <a:ext cx="4556760" cy="239268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R="73025" algn="ctr">
              <a:lnSpc>
                <a:spcPct val="100000"/>
              </a:lnSpc>
              <a:spcBef>
                <a:spcPts val="645"/>
              </a:spcBef>
            </a:pPr>
            <a:r>
              <a:rPr sz="3050" b="1" spc="-40" dirty="0">
                <a:solidFill>
                  <a:srgbClr val="083A5B"/>
                </a:solidFill>
                <a:latin typeface="Calibri"/>
                <a:cs typeface="Calibri"/>
              </a:rPr>
              <a:t>Allineamento</a:t>
            </a:r>
            <a:r>
              <a:rPr sz="3050" b="1" spc="155" dirty="0">
                <a:solidFill>
                  <a:srgbClr val="083A5B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0C3D5B"/>
                </a:solidFill>
                <a:latin typeface="Calibri"/>
                <a:cs typeface="Calibri"/>
              </a:rPr>
              <a:t>di</a:t>
            </a:r>
            <a:r>
              <a:rPr sz="3050" b="1" spc="-114" dirty="0">
                <a:solidFill>
                  <a:srgbClr val="0C3D5B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0A4264"/>
                </a:solidFill>
                <a:latin typeface="Calibri"/>
                <a:cs typeface="Calibri"/>
              </a:rPr>
              <a:t>Precisione</a:t>
            </a:r>
            <a:endParaRPr sz="3050">
              <a:latin typeface="Calibri"/>
              <a:cs typeface="Calibri"/>
            </a:endParaRPr>
          </a:p>
          <a:p>
            <a:pPr marL="12700" marR="5080" indent="-81280" algn="ctr">
              <a:lnSpc>
                <a:spcPct val="82600"/>
              </a:lnSpc>
              <a:spcBef>
                <a:spcPts val="1055"/>
              </a:spcBef>
            </a:pPr>
            <a:r>
              <a:rPr sz="2700" dirty="0">
                <a:latin typeface="Calibri"/>
                <a:cs typeface="Calibri"/>
              </a:rPr>
              <a:t>È</a:t>
            </a:r>
            <a:r>
              <a:rPr sz="2700" spc="-235" dirty="0">
                <a:latin typeface="Calibri"/>
                <a:cs typeface="Calibri"/>
              </a:rPr>
              <a:t> </a:t>
            </a:r>
            <a:r>
              <a:rPr sz="2700" spc="-145" dirty="0">
                <a:latin typeface="Calibri"/>
                <a:cs typeface="Calibri"/>
              </a:rPr>
              <a:t>necessario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700" spc="-180" dirty="0">
                <a:latin typeface="Calibri"/>
                <a:cs typeface="Calibri"/>
              </a:rPr>
              <a:t>un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150" dirty="0">
                <a:latin typeface="Calibri"/>
                <a:cs typeface="Calibri"/>
              </a:rPr>
              <a:t>sistema</a:t>
            </a:r>
            <a:r>
              <a:rPr sz="2700" spc="-155" dirty="0">
                <a:latin typeface="Calibri"/>
                <a:cs typeface="Calibri"/>
              </a:rPr>
              <a:t> </a:t>
            </a:r>
            <a:r>
              <a:rPr sz="2700" spc="-110" dirty="0">
                <a:latin typeface="Calibri"/>
                <a:cs typeface="Calibri"/>
              </a:rPr>
              <a:t>di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50" dirty="0">
                <a:latin typeface="Calibri"/>
                <a:cs typeface="Calibri"/>
              </a:rPr>
              <a:t>guida</a:t>
            </a:r>
            <a:r>
              <a:rPr sz="2700" spc="-1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per </a:t>
            </a:r>
            <a:r>
              <a:rPr sz="2700" dirty="0">
                <a:latin typeface="Calibri"/>
                <a:cs typeface="Calibri"/>
              </a:rPr>
              <a:t>il</a:t>
            </a:r>
            <a:r>
              <a:rPr sz="2700" spc="-200" dirty="0">
                <a:latin typeface="Calibri"/>
                <a:cs typeface="Calibri"/>
              </a:rPr>
              <a:t> </a:t>
            </a:r>
            <a:r>
              <a:rPr sz="2700" spc="-180" dirty="0">
                <a:latin typeface="Calibri"/>
                <a:cs typeface="Calibri"/>
              </a:rPr>
              <a:t>conducente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60" dirty="0">
                <a:latin typeface="Calibri"/>
                <a:cs typeface="Calibri"/>
              </a:rPr>
              <a:t>per</a:t>
            </a:r>
            <a:r>
              <a:rPr sz="2700" spc="-175" dirty="0">
                <a:latin typeface="Calibri"/>
                <a:cs typeface="Calibri"/>
              </a:rPr>
              <a:t> </a:t>
            </a:r>
            <a:r>
              <a:rPr sz="2700" spc="-140" dirty="0">
                <a:latin typeface="Calibri"/>
                <a:cs typeface="Calibri"/>
              </a:rPr>
              <a:t>assicurare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un </a:t>
            </a:r>
            <a:r>
              <a:rPr sz="2700" spc="-170" dirty="0">
                <a:latin typeface="Calibri"/>
                <a:cs typeface="Calibri"/>
              </a:rPr>
              <a:t>allineamento</a:t>
            </a:r>
            <a:r>
              <a:rPr sz="2700" spc="135" dirty="0">
                <a:latin typeface="Calibri"/>
                <a:cs typeface="Calibri"/>
              </a:rPr>
              <a:t> </a:t>
            </a:r>
            <a:r>
              <a:rPr sz="2700" spc="-155" dirty="0">
                <a:latin typeface="Calibri"/>
                <a:cs typeface="Calibri"/>
              </a:rPr>
              <a:t>ottimale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70" dirty="0">
                <a:latin typeface="Calibri"/>
                <a:cs typeface="Calibri"/>
              </a:rPr>
              <a:t>con</a:t>
            </a:r>
            <a:r>
              <a:rPr sz="2700" spc="-80" dirty="0">
                <a:latin typeface="Calibri"/>
                <a:cs typeface="Calibri"/>
              </a:rPr>
              <a:t> il</a:t>
            </a:r>
            <a:r>
              <a:rPr sz="2700" spc="-150" dirty="0">
                <a:latin typeface="Calibri"/>
                <a:cs typeface="Calibri"/>
              </a:rPr>
              <a:t> </a:t>
            </a:r>
            <a:r>
              <a:rPr sz="2700" spc="-204" dirty="0">
                <a:latin typeface="Calibri"/>
                <a:cs typeface="Calibri"/>
              </a:rPr>
              <a:t>pad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di </a:t>
            </a:r>
            <a:r>
              <a:rPr sz="2700" spc="-125" dirty="0">
                <a:latin typeface="Calibri"/>
                <a:cs typeface="Calibri"/>
              </a:rPr>
              <a:t>ricarica,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55" dirty="0">
                <a:latin typeface="Calibri"/>
                <a:cs typeface="Calibri"/>
              </a:rPr>
              <a:t>massimizzando</a:t>
            </a:r>
            <a:r>
              <a:rPr sz="2700" spc="125" dirty="0">
                <a:latin typeface="Calibri"/>
                <a:cs typeface="Calibri"/>
              </a:rPr>
              <a:t> </a:t>
            </a:r>
            <a:r>
              <a:rPr sz="2700" spc="-120" dirty="0">
                <a:latin typeface="Calibri"/>
                <a:cs typeface="Calibri"/>
              </a:rPr>
              <a:t>l'efficienza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e </a:t>
            </a:r>
            <a:r>
              <a:rPr sz="2700" spc="-105" dirty="0">
                <a:latin typeface="Calibri"/>
                <a:cs typeface="Calibri"/>
              </a:rPr>
              <a:t>la</a:t>
            </a:r>
            <a:r>
              <a:rPr sz="2700" spc="-155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velocità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del</a:t>
            </a:r>
            <a:r>
              <a:rPr sz="2700" spc="-175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processo.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3285" y="5962939"/>
            <a:ext cx="4804410" cy="273558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  <a:tabLst>
                <a:tab pos="2044064" algn="l"/>
              </a:tabLst>
            </a:pPr>
            <a:r>
              <a:rPr sz="3050" b="1" spc="-10" dirty="0">
                <a:solidFill>
                  <a:srgbClr val="183D57"/>
                </a:solidFill>
                <a:latin typeface="Calibri"/>
                <a:cs typeface="Calibri"/>
              </a:rPr>
              <a:t>Installazione</a:t>
            </a:r>
            <a:r>
              <a:rPr sz="3050" b="1" dirty="0">
                <a:solidFill>
                  <a:srgbClr val="183D57"/>
                </a:solidFill>
                <a:latin typeface="Calibri"/>
                <a:cs typeface="Calibri"/>
              </a:rPr>
              <a:t>	</a:t>
            </a:r>
            <a:r>
              <a:rPr sz="3050" b="1" spc="-60" dirty="0">
                <a:solidFill>
                  <a:srgbClr val="0C3850"/>
                </a:solidFill>
                <a:latin typeface="Calibri"/>
                <a:cs typeface="Calibri"/>
              </a:rPr>
              <a:t>dell'infrastruttura</a:t>
            </a:r>
            <a:endParaRPr sz="3050">
              <a:latin typeface="Calibri"/>
              <a:cs typeface="Calibri"/>
            </a:endParaRPr>
          </a:p>
          <a:p>
            <a:pPr marL="16510" marR="78740" indent="6350" algn="ctr">
              <a:lnSpc>
                <a:spcPts val="2700"/>
              </a:lnSpc>
              <a:spcBef>
                <a:spcPts val="1030"/>
              </a:spcBef>
            </a:pPr>
            <a:r>
              <a:rPr sz="2700" spc="-150" dirty="0">
                <a:latin typeface="Calibri"/>
                <a:cs typeface="Calibri"/>
              </a:rPr>
              <a:t>Valutazione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10" dirty="0">
                <a:latin typeface="Calibri"/>
                <a:cs typeface="Calibri"/>
              </a:rPr>
              <a:t>di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spc="-190" dirty="0">
                <a:latin typeface="Calibri"/>
                <a:cs typeface="Calibri"/>
              </a:rPr>
              <a:t>due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spc="-150" dirty="0">
                <a:latin typeface="Calibri"/>
                <a:cs typeface="Calibri"/>
              </a:rPr>
              <a:t>opzioni: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pad </a:t>
            </a:r>
            <a:r>
              <a:rPr sz="2700" spc="-105" dirty="0">
                <a:latin typeface="Calibri"/>
                <a:cs typeface="Calibri"/>
              </a:rPr>
              <a:t>installati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65" dirty="0">
                <a:latin typeface="Calibri"/>
                <a:cs typeface="Calibri"/>
              </a:rPr>
              <a:t>sopra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l'asfalto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(costi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10" dirty="0">
                <a:latin typeface="Calibri"/>
                <a:cs typeface="Calibri"/>
              </a:rPr>
              <a:t>inferiori, </a:t>
            </a:r>
            <a:r>
              <a:rPr sz="2700" spc="-125" dirty="0">
                <a:latin typeface="Calibri"/>
                <a:cs typeface="Calibri"/>
              </a:rPr>
              <a:t>distanza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65" dirty="0">
                <a:latin typeface="Calibri"/>
                <a:cs typeface="Calibri"/>
              </a:rPr>
              <a:t>ottimale)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50" dirty="0">
                <a:latin typeface="Calibri"/>
                <a:cs typeface="Calibri"/>
              </a:rPr>
              <a:t>o</a:t>
            </a:r>
            <a:r>
              <a:rPr sz="2700" spc="-165" dirty="0">
                <a:latin typeface="Calibri"/>
                <a:cs typeface="Calibri"/>
              </a:rPr>
              <a:t> </a:t>
            </a:r>
            <a:r>
              <a:rPr sz="2700" spc="-160" dirty="0">
                <a:latin typeface="Calibri"/>
                <a:cs typeface="Calibri"/>
              </a:rPr>
              <a:t>sotto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l'asfalto </a:t>
            </a:r>
            <a:r>
              <a:rPr sz="2700" spc="-185" dirty="0">
                <a:latin typeface="Calibri"/>
                <a:cs typeface="Calibri"/>
              </a:rPr>
              <a:t>(maggior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40" dirty="0">
                <a:latin typeface="Calibri"/>
                <a:cs typeface="Calibri"/>
              </a:rPr>
              <a:t>costo,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185" dirty="0">
                <a:latin typeface="Calibri"/>
                <a:cs typeface="Calibri"/>
              </a:rPr>
              <a:t>massima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durabilità).</a:t>
            </a:r>
            <a:endParaRPr sz="2700">
              <a:latin typeface="Calibri"/>
              <a:cs typeface="Calibri"/>
            </a:endParaRPr>
          </a:p>
          <a:p>
            <a:pPr marR="41910" algn="ctr">
              <a:lnSpc>
                <a:spcPts val="2330"/>
              </a:lnSpc>
            </a:pPr>
            <a:r>
              <a:rPr sz="2700" spc="-125" dirty="0">
                <a:latin typeface="Calibri"/>
                <a:cs typeface="Calibri"/>
              </a:rPr>
              <a:t>Player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110" dirty="0">
                <a:latin typeface="Calibri"/>
                <a:cs typeface="Calibri"/>
              </a:rPr>
              <a:t>di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spc="-165" dirty="0">
                <a:latin typeface="Calibri"/>
                <a:cs typeface="Calibri"/>
              </a:rPr>
              <a:t>riferimento</a:t>
            </a:r>
            <a:r>
              <a:rPr sz="2700" spc="95" dirty="0">
                <a:latin typeface="Calibri"/>
                <a:cs typeface="Calibri"/>
              </a:rPr>
              <a:t> </a:t>
            </a:r>
            <a:r>
              <a:rPr sz="2700" spc="-210" dirty="0">
                <a:latin typeface="Calibri"/>
                <a:cs typeface="Calibri"/>
              </a:rPr>
              <a:t>come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InductEV</a:t>
            </a:r>
            <a:endParaRPr sz="2700">
              <a:latin typeface="Calibri"/>
              <a:cs typeface="Calibri"/>
            </a:endParaRPr>
          </a:p>
          <a:p>
            <a:pPr marR="69850" algn="ctr">
              <a:lnSpc>
                <a:spcPts val="2970"/>
              </a:lnSpc>
            </a:pPr>
            <a:r>
              <a:rPr sz="2700" spc="-165" dirty="0">
                <a:latin typeface="Calibri"/>
                <a:cs typeface="Calibri"/>
              </a:rPr>
              <a:t>offrono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30" dirty="0">
                <a:latin typeface="Calibri"/>
                <a:cs typeface="Calibri"/>
              </a:rPr>
              <a:t>soluzioni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70" dirty="0">
                <a:latin typeface="Calibri"/>
                <a:cs typeface="Calibri"/>
              </a:rPr>
              <a:t>consolidate.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13143" y="5962939"/>
            <a:ext cx="4250055" cy="239268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4925" algn="ctr">
              <a:lnSpc>
                <a:spcPct val="100000"/>
              </a:lnSpc>
              <a:spcBef>
                <a:spcPts val="645"/>
              </a:spcBef>
            </a:pPr>
            <a:r>
              <a:rPr sz="3050" b="1" spc="-10" dirty="0">
                <a:solidFill>
                  <a:srgbClr val="113F59"/>
                </a:solidFill>
                <a:latin typeface="Calibri"/>
                <a:cs typeface="Calibri"/>
              </a:rPr>
              <a:t>Ottimizzazione</a:t>
            </a:r>
            <a:r>
              <a:rPr sz="3050" b="1" spc="-165" dirty="0">
                <a:solidFill>
                  <a:srgbClr val="113F59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113D59"/>
                </a:solidFill>
                <a:latin typeface="Calibri"/>
                <a:cs typeface="Calibri"/>
              </a:rPr>
              <a:t>delle</a:t>
            </a:r>
            <a:r>
              <a:rPr sz="3050" b="1" spc="-30" dirty="0">
                <a:solidFill>
                  <a:srgbClr val="113D59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0F3854"/>
                </a:solidFill>
                <a:latin typeface="Calibri"/>
                <a:cs typeface="Calibri"/>
              </a:rPr>
              <a:t>Soste</a:t>
            </a:r>
            <a:endParaRPr sz="3050">
              <a:latin typeface="Calibri"/>
              <a:cs typeface="Calibri"/>
            </a:endParaRPr>
          </a:p>
          <a:p>
            <a:pPr marL="12065" marR="45085" indent="1905" algn="ctr">
              <a:lnSpc>
                <a:spcPct val="82600"/>
              </a:lnSpc>
              <a:spcBef>
                <a:spcPts val="1055"/>
              </a:spcBef>
            </a:pPr>
            <a:r>
              <a:rPr sz="2700" spc="-30" dirty="0">
                <a:latin typeface="Calibri"/>
                <a:cs typeface="Calibri"/>
              </a:rPr>
              <a:t>La</a:t>
            </a:r>
            <a:r>
              <a:rPr sz="2700" spc="-160" dirty="0">
                <a:latin typeface="Calibri"/>
                <a:cs typeface="Calibri"/>
              </a:rPr>
              <a:t> </a:t>
            </a:r>
            <a:r>
              <a:rPr sz="2700" spc="-145" dirty="0">
                <a:latin typeface="Calibri"/>
                <a:cs typeface="Calibri"/>
              </a:rPr>
              <a:t>sosta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a</a:t>
            </a:r>
            <a:r>
              <a:rPr sz="2700" spc="-165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Linate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di</a:t>
            </a:r>
            <a:r>
              <a:rPr sz="2700" spc="-1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3</a:t>
            </a:r>
            <a:r>
              <a:rPr sz="2700" spc="-350" dirty="0">
                <a:latin typeface="Calibri"/>
                <a:cs typeface="Calibri"/>
              </a:rPr>
              <a:t> </a:t>
            </a:r>
            <a:r>
              <a:rPr sz="2700" spc="-150" dirty="0">
                <a:latin typeface="Calibri"/>
                <a:cs typeface="Calibri"/>
              </a:rPr>
              <a:t>minuti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è </a:t>
            </a:r>
            <a:r>
              <a:rPr sz="2700" spc="-90" dirty="0">
                <a:latin typeface="Calibri"/>
                <a:cs typeface="Calibri"/>
              </a:rPr>
              <a:t>unipotesi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operativa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40" dirty="0">
                <a:latin typeface="Calibri"/>
                <a:cs typeface="Calibri"/>
              </a:rPr>
              <a:t>plausibile.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Da </a:t>
            </a:r>
            <a:r>
              <a:rPr sz="2700" spc="-125" dirty="0">
                <a:latin typeface="Calibri"/>
                <a:cs typeface="Calibri"/>
              </a:rPr>
              <a:t>validare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70" dirty="0">
                <a:latin typeface="Calibri"/>
                <a:cs typeface="Calibri"/>
              </a:rPr>
              <a:t>con</a:t>
            </a:r>
            <a:r>
              <a:rPr sz="2700" spc="-185" dirty="0">
                <a:latin typeface="Calibri"/>
                <a:cs typeface="Calibri"/>
              </a:rPr>
              <a:t> </a:t>
            </a:r>
            <a:r>
              <a:rPr sz="2700" spc="-155" dirty="0">
                <a:latin typeface="Calibri"/>
                <a:cs typeface="Calibri"/>
              </a:rPr>
              <a:t>l'ente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65" dirty="0">
                <a:latin typeface="Calibri"/>
                <a:cs typeface="Calibri"/>
              </a:rPr>
              <a:t>gestore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per </a:t>
            </a:r>
            <a:r>
              <a:rPr sz="2700" spc="-130" dirty="0">
                <a:latin typeface="Calibri"/>
                <a:cs typeface="Calibri"/>
              </a:rPr>
              <a:t>ottimizzare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190" dirty="0">
                <a:latin typeface="Calibri"/>
                <a:cs typeface="Calibri"/>
              </a:rPr>
              <a:t>i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14" dirty="0">
                <a:latin typeface="Calibri"/>
                <a:cs typeface="Calibri"/>
              </a:rPr>
              <a:t>flussi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10" dirty="0">
                <a:latin typeface="Calibri"/>
                <a:cs typeface="Calibri"/>
              </a:rPr>
              <a:t>di</a:t>
            </a:r>
            <a:r>
              <a:rPr sz="2700" spc="-204" dirty="0">
                <a:latin typeface="Calibri"/>
                <a:cs typeface="Calibri"/>
              </a:rPr>
              <a:t> </a:t>
            </a:r>
            <a:r>
              <a:rPr sz="2700" spc="-135" dirty="0">
                <a:latin typeface="Calibri"/>
                <a:cs typeface="Calibri"/>
              </a:rPr>
              <a:t>passeggeri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e </a:t>
            </a:r>
            <a:r>
              <a:rPr sz="2700" spc="50" dirty="0">
                <a:latin typeface="Calibri"/>
                <a:cs typeface="Calibri"/>
              </a:rPr>
              <a:t>i</a:t>
            </a:r>
            <a:r>
              <a:rPr sz="2700" spc="-250" dirty="0">
                <a:latin typeface="Calibri"/>
                <a:cs typeface="Calibri"/>
              </a:rPr>
              <a:t> </a:t>
            </a:r>
            <a:r>
              <a:rPr sz="2700" spc="-190" dirty="0">
                <a:latin typeface="Calibri"/>
                <a:cs typeface="Calibri"/>
              </a:rPr>
              <a:t>tempi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di</a:t>
            </a:r>
            <a:r>
              <a:rPr sz="2700" spc="-2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servizio.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0"/>
            <a:ext cx="2946400" cy="4864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0500" y="0"/>
            <a:ext cx="1600200" cy="4864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8300" y="2044700"/>
            <a:ext cx="6451600" cy="2082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12900" y="0"/>
            <a:ext cx="215900" cy="4889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93900" y="0"/>
            <a:ext cx="1803400" cy="4876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58700" y="4508500"/>
            <a:ext cx="1511300" cy="3683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54414" y="5342466"/>
            <a:ext cx="15370175" cy="723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61365" algn="l"/>
              </a:tabLst>
            </a:pPr>
            <a:r>
              <a:rPr sz="4550" spc="-25" dirty="0">
                <a:solidFill>
                  <a:srgbClr val="1C1C1C"/>
                </a:solidFill>
                <a:latin typeface="Calibri"/>
                <a:cs typeface="Calibri"/>
              </a:rPr>
              <a:t>La</a:t>
            </a:r>
            <a:r>
              <a:rPr sz="4550" dirty="0">
                <a:solidFill>
                  <a:srgbClr val="1C1C1C"/>
                </a:solidFill>
                <a:latin typeface="Calibri"/>
                <a:cs typeface="Calibri"/>
              </a:rPr>
              <a:t>	</a:t>
            </a:r>
            <a:r>
              <a:rPr sz="4550" spc="229" dirty="0">
                <a:solidFill>
                  <a:srgbClr val="1A1A1A"/>
                </a:solidFill>
                <a:latin typeface="Calibri"/>
                <a:cs typeface="Calibri"/>
              </a:rPr>
              <a:t>Linea</a:t>
            </a:r>
            <a:r>
              <a:rPr sz="4550" spc="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4550" spc="55" dirty="0">
                <a:solidFill>
                  <a:srgbClr val="1C1C1C"/>
                </a:solidFill>
                <a:latin typeface="Calibri"/>
                <a:cs typeface="Calibri"/>
              </a:rPr>
              <a:t>973:</a:t>
            </a:r>
            <a:r>
              <a:rPr sz="4550" spc="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4550" dirty="0">
                <a:solidFill>
                  <a:srgbClr val="1A1A1A"/>
                </a:solidFill>
                <a:latin typeface="Calibri"/>
                <a:cs typeface="Calibri"/>
              </a:rPr>
              <a:t>Il</a:t>
            </a:r>
            <a:r>
              <a:rPr sz="4550" spc="2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4550" spc="160" dirty="0">
                <a:solidFill>
                  <a:srgbClr val="1A1A1A"/>
                </a:solidFill>
                <a:latin typeface="Calibri"/>
                <a:cs typeface="Calibri"/>
              </a:rPr>
              <a:t>Futuro</a:t>
            </a:r>
            <a:r>
              <a:rPr sz="4550" spc="19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4550" spc="145" dirty="0">
                <a:solidFill>
                  <a:srgbClr val="1F1F1F"/>
                </a:solidFill>
                <a:latin typeface="Calibri"/>
                <a:cs typeface="Calibri"/>
              </a:rPr>
              <a:t>del</a:t>
            </a:r>
            <a:r>
              <a:rPr sz="4550" spc="27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4550" spc="114" dirty="0">
                <a:solidFill>
                  <a:srgbClr val="1C1C1C"/>
                </a:solidFill>
                <a:latin typeface="Calibri"/>
                <a:cs typeface="Calibri"/>
              </a:rPr>
              <a:t>Trasporto</a:t>
            </a:r>
            <a:r>
              <a:rPr sz="4550" spc="36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4550" spc="150" dirty="0">
                <a:solidFill>
                  <a:srgbClr val="1A1A1A"/>
                </a:solidFill>
                <a:latin typeface="Calibri"/>
                <a:cs typeface="Calibri"/>
              </a:rPr>
              <a:t>Elettrico</a:t>
            </a:r>
            <a:r>
              <a:rPr sz="4550" spc="2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4550" spc="215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455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4550" spc="80" dirty="0">
                <a:solidFill>
                  <a:srgbClr val="1F1F1F"/>
                </a:solidFill>
                <a:latin typeface="Calibri"/>
                <a:cs typeface="Calibri"/>
              </a:rPr>
              <a:t>Milano</a:t>
            </a:r>
            <a:r>
              <a:rPr sz="4550" spc="204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4550" spc="90" dirty="0">
                <a:solidFill>
                  <a:srgbClr val="212121"/>
                </a:solidFill>
                <a:latin typeface="Calibri"/>
                <a:cs typeface="Calibri"/>
              </a:rPr>
              <a:t>è</a:t>
            </a:r>
            <a:r>
              <a:rPr sz="4550" spc="1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4550" spc="140" dirty="0">
                <a:solidFill>
                  <a:srgbClr val="1D1D1D"/>
                </a:solidFill>
                <a:latin typeface="Calibri"/>
                <a:cs typeface="Calibri"/>
              </a:rPr>
              <a:t>Qui</a:t>
            </a:r>
            <a:endParaRPr sz="45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9733" y="6276269"/>
            <a:ext cx="16378555" cy="3395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145">
              <a:lnSpc>
                <a:spcPts val="2840"/>
              </a:lnSpc>
              <a:spcBef>
                <a:spcPts val="130"/>
              </a:spcBef>
            </a:pPr>
            <a:r>
              <a:rPr sz="2400" spc="-50" dirty="0">
                <a:latin typeface="Calibri"/>
                <a:cs typeface="Calibri"/>
              </a:rPr>
              <a:t>L'implementazione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strategica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del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WPT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sulla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linea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973</a:t>
            </a:r>
            <a:r>
              <a:rPr sz="2400" spc="-19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non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è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tecnicamente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fattibile,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ma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rappresenta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un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modello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di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efficienza </a:t>
            </a:r>
            <a:r>
              <a:rPr sz="2400" spc="-50" dirty="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  <a:p>
            <a:pPr marL="19050">
              <a:lnSpc>
                <a:spcPts val="2720"/>
              </a:lnSpc>
            </a:pPr>
            <a:r>
              <a:rPr sz="2300" dirty="0">
                <a:latin typeface="Calibri"/>
                <a:cs typeface="Calibri"/>
              </a:rPr>
              <a:t>sostenibilità</a:t>
            </a:r>
            <a:r>
              <a:rPr sz="2300" spc="1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replicabile</a:t>
            </a:r>
            <a:r>
              <a:rPr sz="2300" spc="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l'intera</a:t>
            </a:r>
            <a:r>
              <a:rPr sz="2300" spc="-1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rete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trasporto</a:t>
            </a:r>
            <a:r>
              <a:rPr sz="2300" spc="1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pubblico</a:t>
            </a:r>
            <a:r>
              <a:rPr sz="2300" spc="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milanese.</a:t>
            </a:r>
            <a:endParaRPr sz="23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2340"/>
              </a:spcBef>
            </a:pPr>
            <a:r>
              <a:rPr sz="2600" spc="295" dirty="0">
                <a:solidFill>
                  <a:srgbClr val="13445D"/>
                </a:solidFill>
                <a:latin typeface="Calibri"/>
                <a:cs typeface="Calibri"/>
              </a:rPr>
              <a:t>Prossimi</a:t>
            </a:r>
            <a:r>
              <a:rPr sz="2600" spc="120" dirty="0">
                <a:solidFill>
                  <a:srgbClr val="13445D"/>
                </a:solidFill>
                <a:latin typeface="Calibri"/>
                <a:cs typeface="Calibri"/>
              </a:rPr>
              <a:t> </a:t>
            </a:r>
            <a:r>
              <a:rPr sz="2600" spc="325" dirty="0">
                <a:solidFill>
                  <a:srgbClr val="0C4269"/>
                </a:solidFill>
                <a:latin typeface="Calibri"/>
                <a:cs typeface="Calibri"/>
              </a:rPr>
              <a:t>Passi</a:t>
            </a:r>
            <a:endParaRPr sz="2600">
              <a:latin typeface="Calibri"/>
              <a:cs typeface="Calibri"/>
            </a:endParaRPr>
          </a:p>
          <a:p>
            <a:pPr marL="447675" indent="-432434">
              <a:lnSpc>
                <a:spcPts val="2855"/>
              </a:lnSpc>
              <a:spcBef>
                <a:spcPts val="780"/>
              </a:spcBef>
              <a:buClr>
                <a:srgbClr val="262626"/>
              </a:buClr>
              <a:buAutoNum type="arabicPeriod"/>
              <a:tabLst>
                <a:tab pos="447675" algn="l"/>
              </a:tabLst>
            </a:pPr>
            <a:r>
              <a:rPr sz="2550" spc="-70" dirty="0">
                <a:latin typeface="Calibri"/>
                <a:cs typeface="Calibri"/>
              </a:rPr>
              <a:t>Progetto</a:t>
            </a:r>
            <a:r>
              <a:rPr sz="2550" spc="-150" dirty="0">
                <a:latin typeface="Calibri"/>
                <a:cs typeface="Calibri"/>
              </a:rPr>
              <a:t> </a:t>
            </a:r>
            <a:r>
              <a:rPr sz="2550" spc="-40" dirty="0">
                <a:latin typeface="Calibri"/>
                <a:cs typeface="Calibri"/>
              </a:rPr>
              <a:t>Pilota:</a:t>
            </a:r>
            <a:r>
              <a:rPr sz="2550" spc="-45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Avviare</a:t>
            </a:r>
            <a:r>
              <a:rPr sz="2550" spc="10" dirty="0">
                <a:latin typeface="Calibri"/>
                <a:cs typeface="Calibri"/>
              </a:rPr>
              <a:t> </a:t>
            </a:r>
            <a:r>
              <a:rPr sz="2550" spc="-85" dirty="0">
                <a:latin typeface="Calibri"/>
                <a:cs typeface="Calibri"/>
              </a:rPr>
              <a:t>l'installazione</a:t>
            </a:r>
            <a:r>
              <a:rPr sz="2550" spc="-120" dirty="0">
                <a:latin typeface="Calibri"/>
                <a:cs typeface="Calibri"/>
              </a:rPr>
              <a:t> </a:t>
            </a:r>
            <a:r>
              <a:rPr sz="2550" spc="-60" dirty="0">
                <a:latin typeface="Calibri"/>
                <a:cs typeface="Calibri"/>
              </a:rPr>
              <a:t>di</a:t>
            </a:r>
            <a:r>
              <a:rPr sz="2550" spc="-165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un</a:t>
            </a:r>
            <a:r>
              <a:rPr sz="2550" spc="-185" dirty="0">
                <a:latin typeface="Calibri"/>
                <a:cs typeface="Calibri"/>
              </a:rPr>
              <a:t> </a:t>
            </a:r>
            <a:r>
              <a:rPr sz="2550" spc="-120" dirty="0">
                <a:latin typeface="Calibri"/>
                <a:cs typeface="Calibri"/>
              </a:rPr>
              <a:t>sistema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WPT</a:t>
            </a:r>
            <a:r>
              <a:rPr sz="2550" spc="-55" dirty="0">
                <a:latin typeface="Calibri"/>
                <a:cs typeface="Calibri"/>
              </a:rPr>
              <a:t> </a:t>
            </a:r>
            <a:r>
              <a:rPr sz="2550" spc="-75" dirty="0">
                <a:latin typeface="Calibri"/>
                <a:cs typeface="Calibri"/>
              </a:rPr>
              <a:t>in</a:t>
            </a:r>
            <a:r>
              <a:rPr sz="2550" spc="-180" dirty="0">
                <a:latin typeface="Calibri"/>
                <a:cs typeface="Calibri"/>
              </a:rPr>
              <a:t> </a:t>
            </a:r>
            <a:r>
              <a:rPr sz="2550" spc="-160" dirty="0">
                <a:latin typeface="Calibri"/>
                <a:cs typeface="Calibri"/>
              </a:rPr>
              <a:t>uno</a:t>
            </a:r>
            <a:r>
              <a:rPr sz="2550" spc="-90" dirty="0">
                <a:latin typeface="Calibri"/>
                <a:cs typeface="Calibri"/>
              </a:rPr>
              <a:t> </a:t>
            </a:r>
            <a:r>
              <a:rPr sz="2550" spc="-110" dirty="0">
                <a:latin typeface="Calibri"/>
                <a:cs typeface="Calibri"/>
              </a:rPr>
              <a:t>dei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spc="-155" dirty="0">
                <a:latin typeface="Calibri"/>
                <a:cs typeface="Calibri"/>
              </a:rPr>
              <a:t>Capolinea</a:t>
            </a:r>
            <a:r>
              <a:rPr sz="2550" spc="-20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per</a:t>
            </a:r>
            <a:r>
              <a:rPr sz="2550" spc="-100" dirty="0">
                <a:latin typeface="Calibri"/>
                <a:cs typeface="Calibri"/>
              </a:rPr>
              <a:t> </a:t>
            </a:r>
            <a:r>
              <a:rPr sz="2550" spc="-55" dirty="0">
                <a:latin typeface="Calibri"/>
                <a:cs typeface="Calibri"/>
              </a:rPr>
              <a:t>la</a:t>
            </a:r>
            <a:r>
              <a:rPr sz="2550" spc="-135" dirty="0">
                <a:latin typeface="Calibri"/>
                <a:cs typeface="Calibri"/>
              </a:rPr>
              <a:t> </a:t>
            </a:r>
            <a:r>
              <a:rPr sz="2550" spc="-110" dirty="0">
                <a:latin typeface="Calibri"/>
                <a:cs typeface="Calibri"/>
              </a:rPr>
              <a:t>validazione</a:t>
            </a:r>
            <a:r>
              <a:rPr sz="2550" spc="-45" dirty="0">
                <a:latin typeface="Calibri"/>
                <a:cs typeface="Calibri"/>
              </a:rPr>
              <a:t> </a:t>
            </a:r>
            <a:r>
              <a:rPr sz="2550" spc="-70" dirty="0">
                <a:latin typeface="Calibri"/>
                <a:cs typeface="Calibri"/>
              </a:rPr>
              <a:t>in</a:t>
            </a:r>
            <a:r>
              <a:rPr sz="2550" spc="-110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condizioni</a:t>
            </a:r>
            <a:r>
              <a:rPr sz="2550" spc="-5" dirty="0">
                <a:latin typeface="Calibri"/>
                <a:cs typeface="Calibri"/>
              </a:rPr>
              <a:t> </a:t>
            </a:r>
            <a:r>
              <a:rPr sz="2550" spc="-110" dirty="0">
                <a:latin typeface="Calibri"/>
                <a:cs typeface="Calibri"/>
              </a:rPr>
              <a:t>operative</a:t>
            </a:r>
            <a:r>
              <a:rPr sz="2550" spc="9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reali.</a:t>
            </a:r>
            <a:endParaRPr sz="2550">
              <a:latin typeface="Calibri"/>
              <a:cs typeface="Calibri"/>
            </a:endParaRPr>
          </a:p>
          <a:p>
            <a:pPr marL="443865" marR="1073785" indent="-431800">
              <a:lnSpc>
                <a:spcPts val="2700"/>
              </a:lnSpc>
              <a:spcBef>
                <a:spcPts val="185"/>
              </a:spcBef>
              <a:buClr>
                <a:srgbClr val="282828"/>
              </a:buClr>
              <a:buAutoNum type="arabicPeriod"/>
              <a:tabLst>
                <a:tab pos="447675" algn="l"/>
              </a:tabLst>
            </a:pPr>
            <a:r>
              <a:rPr sz="2550" spc="-30" dirty="0">
                <a:latin typeface="Calibri"/>
                <a:cs typeface="Calibri"/>
              </a:rPr>
              <a:t>Analisi</a:t>
            </a:r>
            <a:r>
              <a:rPr sz="2550" spc="-140" dirty="0">
                <a:latin typeface="Calibri"/>
                <a:cs typeface="Calibri"/>
              </a:rPr>
              <a:t> </a:t>
            </a:r>
            <a:r>
              <a:rPr sz="2550" spc="-95" dirty="0">
                <a:latin typeface="Calibri"/>
                <a:cs typeface="Calibri"/>
              </a:rPr>
              <a:t>Economica</a:t>
            </a:r>
            <a:r>
              <a:rPr sz="2550" spc="-20" dirty="0">
                <a:latin typeface="Calibri"/>
                <a:cs typeface="Calibri"/>
              </a:rPr>
              <a:t> </a:t>
            </a:r>
            <a:r>
              <a:rPr sz="2550" spc="-95" dirty="0">
                <a:latin typeface="Calibri"/>
                <a:cs typeface="Calibri"/>
              </a:rPr>
              <a:t>Completa:</a:t>
            </a:r>
            <a:r>
              <a:rPr sz="2550" spc="-25" dirty="0"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Sviluppare</a:t>
            </a:r>
            <a:r>
              <a:rPr sz="2550" spc="80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un</a:t>
            </a:r>
            <a:r>
              <a:rPr sz="2550" spc="-175" dirty="0">
                <a:latin typeface="Calibri"/>
                <a:cs typeface="Calibri"/>
              </a:rPr>
              <a:t> </a:t>
            </a:r>
            <a:r>
              <a:rPr sz="2550" spc="-110" dirty="0">
                <a:latin typeface="Calibri"/>
                <a:cs typeface="Calibri"/>
              </a:rPr>
              <a:t>business</a:t>
            </a:r>
            <a:r>
              <a:rPr sz="2550" spc="5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case</a:t>
            </a:r>
            <a:r>
              <a:rPr sz="2550" spc="-90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dettagliato</a:t>
            </a:r>
            <a:r>
              <a:rPr sz="2550" spc="120" dirty="0">
                <a:latin typeface="Calibri"/>
                <a:cs typeface="Calibri"/>
              </a:rPr>
              <a:t> </a:t>
            </a:r>
            <a:r>
              <a:rPr sz="2550" spc="-125" dirty="0">
                <a:latin typeface="Calibri"/>
                <a:cs typeface="Calibri"/>
              </a:rPr>
              <a:t>basato</a:t>
            </a:r>
            <a:r>
              <a:rPr sz="2550" spc="15" dirty="0"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sui</a:t>
            </a:r>
            <a:r>
              <a:rPr sz="2550" spc="-125" dirty="0">
                <a:latin typeface="Calibri"/>
                <a:cs typeface="Calibri"/>
              </a:rPr>
              <a:t> </a:t>
            </a:r>
            <a:r>
              <a:rPr sz="2550" spc="-70" dirty="0">
                <a:latin typeface="Calibri"/>
                <a:cs typeface="Calibri"/>
              </a:rPr>
              <a:t>risultati</a:t>
            </a:r>
            <a:r>
              <a:rPr sz="2550" spc="-85" dirty="0">
                <a:latin typeface="Calibri"/>
                <a:cs typeface="Calibri"/>
              </a:rPr>
              <a:t> </a:t>
            </a:r>
            <a:r>
              <a:rPr sz="2550" spc="-60" dirty="0">
                <a:latin typeface="Calibri"/>
                <a:cs typeface="Calibri"/>
              </a:rPr>
              <a:t>di</a:t>
            </a:r>
            <a:r>
              <a:rPr sz="2550" spc="-200" dirty="0">
                <a:latin typeface="Calibri"/>
                <a:cs typeface="Calibri"/>
              </a:rPr>
              <a:t> </a:t>
            </a:r>
            <a:r>
              <a:rPr sz="2550" spc="-130" dirty="0">
                <a:latin typeface="Calibri"/>
                <a:cs typeface="Calibri"/>
              </a:rPr>
              <a:t>questo</a:t>
            </a:r>
            <a:r>
              <a:rPr sz="2550" spc="-5" dirty="0">
                <a:latin typeface="Calibri"/>
                <a:cs typeface="Calibri"/>
              </a:rPr>
              <a:t> </a:t>
            </a:r>
            <a:r>
              <a:rPr sz="2550" spc="-114" dirty="0">
                <a:latin typeface="Calibri"/>
                <a:cs typeface="Calibri"/>
              </a:rPr>
              <a:t>studio</a:t>
            </a:r>
            <a:r>
              <a:rPr sz="2550" spc="5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per</a:t>
            </a:r>
            <a:r>
              <a:rPr sz="2550" spc="-125" dirty="0">
                <a:latin typeface="Calibri"/>
                <a:cs typeface="Calibri"/>
              </a:rPr>
              <a:t> </a:t>
            </a:r>
            <a:r>
              <a:rPr sz="2550" spc="-110" dirty="0">
                <a:latin typeface="Calibri"/>
                <a:cs typeface="Calibri"/>
              </a:rPr>
              <a:t>quantificare</a:t>
            </a:r>
            <a:r>
              <a:rPr sz="2550" spc="85" dirty="0">
                <a:latin typeface="Calibri"/>
                <a:cs typeface="Calibri"/>
              </a:rPr>
              <a:t> </a:t>
            </a:r>
            <a:r>
              <a:rPr sz="2550" spc="-25" dirty="0">
                <a:latin typeface="Calibri"/>
                <a:cs typeface="Calibri"/>
              </a:rPr>
              <a:t>il 	</a:t>
            </a:r>
            <a:r>
              <a:rPr sz="2550" dirty="0">
                <a:latin typeface="Calibri"/>
                <a:cs typeface="Calibri"/>
              </a:rPr>
              <a:t>ROI</a:t>
            </a:r>
            <a:r>
              <a:rPr sz="2550" spc="-120" dirty="0">
                <a:latin typeface="Calibri"/>
                <a:cs typeface="Calibri"/>
              </a:rPr>
              <a:t> </a:t>
            </a:r>
            <a:r>
              <a:rPr sz="2550" spc="-200" dirty="0">
                <a:latin typeface="Calibri"/>
                <a:cs typeface="Calibri"/>
              </a:rPr>
              <a:t>e</a:t>
            </a:r>
            <a:r>
              <a:rPr sz="2550" spc="-114" dirty="0">
                <a:latin typeface="Calibri"/>
                <a:cs typeface="Calibri"/>
              </a:rPr>
              <a:t> </a:t>
            </a:r>
            <a:r>
              <a:rPr sz="2550" spc="-95" dirty="0">
                <a:latin typeface="Calibri"/>
                <a:cs typeface="Calibri"/>
              </a:rPr>
              <a:t>i</a:t>
            </a:r>
            <a:r>
              <a:rPr sz="2550" spc="-105" dirty="0">
                <a:latin typeface="Calibri"/>
                <a:cs typeface="Calibri"/>
              </a:rPr>
              <a:t> benefici</a:t>
            </a:r>
            <a:r>
              <a:rPr sz="2550" spc="10" dirty="0">
                <a:latin typeface="Calibri"/>
                <a:cs typeface="Calibri"/>
              </a:rPr>
              <a:t> </a:t>
            </a:r>
            <a:r>
              <a:rPr sz="2550" spc="-70" dirty="0">
                <a:latin typeface="Calibri"/>
                <a:cs typeface="Calibri"/>
              </a:rPr>
              <a:t>a</a:t>
            </a:r>
            <a:r>
              <a:rPr sz="2550" spc="-254" dirty="0">
                <a:latin typeface="Calibri"/>
                <a:cs typeface="Calibri"/>
              </a:rPr>
              <a:t> </a:t>
            </a:r>
            <a:r>
              <a:rPr sz="2550" spc="-125" dirty="0">
                <a:latin typeface="Calibri"/>
                <a:cs typeface="Calibri"/>
              </a:rPr>
              <a:t>Iungo</a:t>
            </a:r>
            <a:r>
              <a:rPr sz="2550" spc="1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termine.</a:t>
            </a:r>
            <a:endParaRPr sz="2550">
              <a:latin typeface="Calibri"/>
              <a:cs typeface="Calibri"/>
            </a:endParaRPr>
          </a:p>
          <a:p>
            <a:pPr marL="434975" indent="-421005">
              <a:lnSpc>
                <a:spcPts val="2670"/>
              </a:lnSpc>
              <a:buClr>
                <a:srgbClr val="343434"/>
              </a:buClr>
              <a:buAutoNum type="arabicPeriod"/>
              <a:tabLst>
                <a:tab pos="434975" algn="l"/>
              </a:tabLst>
            </a:pPr>
            <a:r>
              <a:rPr sz="2550" spc="-65" dirty="0">
                <a:latin typeface="Calibri"/>
                <a:cs typeface="Calibri"/>
              </a:rPr>
              <a:t>Estensione</a:t>
            </a:r>
            <a:r>
              <a:rPr sz="2550" spc="-105" dirty="0">
                <a:latin typeface="Calibri"/>
                <a:cs typeface="Calibri"/>
              </a:rPr>
              <a:t> </a:t>
            </a:r>
            <a:r>
              <a:rPr sz="2550" spc="-75" dirty="0">
                <a:latin typeface="Calibri"/>
                <a:cs typeface="Calibri"/>
              </a:rPr>
              <a:t>del</a:t>
            </a:r>
            <a:r>
              <a:rPr sz="2550" spc="-170" dirty="0">
                <a:latin typeface="Calibri"/>
                <a:cs typeface="Calibri"/>
              </a:rPr>
              <a:t> </a:t>
            </a:r>
            <a:r>
              <a:rPr sz="2550" spc="-105" dirty="0">
                <a:latin typeface="Calibri"/>
                <a:cs typeface="Calibri"/>
              </a:rPr>
              <a:t>Modello:</a:t>
            </a:r>
            <a:r>
              <a:rPr sz="2550" spc="85" dirty="0"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Applicare</a:t>
            </a:r>
            <a:r>
              <a:rPr sz="2550" spc="-3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il</a:t>
            </a:r>
            <a:r>
              <a:rPr sz="2550" spc="-260" dirty="0">
                <a:latin typeface="Calibri"/>
                <a:cs typeface="Calibri"/>
              </a:rPr>
              <a:t> </a:t>
            </a:r>
            <a:r>
              <a:rPr sz="2550" spc="-145" dirty="0">
                <a:latin typeface="Calibri"/>
                <a:cs typeface="Calibri"/>
              </a:rPr>
              <a:t>modello</a:t>
            </a:r>
            <a:r>
              <a:rPr sz="2550" spc="10" dirty="0">
                <a:latin typeface="Calibri"/>
                <a:cs typeface="Calibri"/>
              </a:rPr>
              <a:t> </a:t>
            </a:r>
            <a:r>
              <a:rPr sz="2550" spc="-60" dirty="0">
                <a:latin typeface="Calibri"/>
                <a:cs typeface="Calibri"/>
              </a:rPr>
              <a:t>di</a:t>
            </a:r>
            <a:r>
              <a:rPr sz="2550" spc="-180" dirty="0">
                <a:latin typeface="Calibri"/>
                <a:cs typeface="Calibri"/>
              </a:rPr>
              <a:t> </a:t>
            </a:r>
            <a:r>
              <a:rPr sz="2550" spc="-114" dirty="0">
                <a:latin typeface="Calibri"/>
                <a:cs typeface="Calibri"/>
              </a:rPr>
              <a:t>simulazione</a:t>
            </a:r>
            <a:r>
              <a:rPr sz="2550" spc="95" dirty="0">
                <a:latin typeface="Calibri"/>
                <a:cs typeface="Calibri"/>
              </a:rPr>
              <a:t> </a:t>
            </a:r>
            <a:r>
              <a:rPr sz="2550" spc="-140" dirty="0">
                <a:latin typeface="Calibri"/>
                <a:cs typeface="Calibri"/>
              </a:rPr>
              <a:t>ad</a:t>
            </a:r>
            <a:r>
              <a:rPr sz="2550" spc="-70" dirty="0"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altre</a:t>
            </a:r>
            <a:r>
              <a:rPr sz="2550" spc="-40" dirty="0">
                <a:latin typeface="Calibri"/>
                <a:cs typeface="Calibri"/>
              </a:rPr>
              <a:t> </a:t>
            </a:r>
            <a:r>
              <a:rPr sz="2550" spc="-114" dirty="0">
                <a:latin typeface="Calibri"/>
                <a:cs typeface="Calibri"/>
              </a:rPr>
              <a:t>linee</a:t>
            </a:r>
            <a:r>
              <a:rPr sz="2550" spc="-135" dirty="0">
                <a:latin typeface="Calibri"/>
                <a:cs typeface="Calibri"/>
              </a:rPr>
              <a:t> </a:t>
            </a:r>
            <a:r>
              <a:rPr sz="2550" spc="-100" dirty="0">
                <a:latin typeface="Calibri"/>
                <a:cs typeface="Calibri"/>
              </a:rPr>
              <a:t>strategiche</a:t>
            </a:r>
            <a:r>
              <a:rPr sz="2550" spc="60" dirty="0">
                <a:latin typeface="Calibri"/>
                <a:cs typeface="Calibri"/>
              </a:rPr>
              <a:t> </a:t>
            </a:r>
            <a:r>
              <a:rPr sz="2550" spc="-95" dirty="0">
                <a:latin typeface="Calibri"/>
                <a:cs typeface="Calibri"/>
              </a:rPr>
              <a:t>della</a:t>
            </a:r>
            <a:r>
              <a:rPr sz="2550" spc="-110" dirty="0">
                <a:latin typeface="Calibri"/>
                <a:cs typeface="Calibri"/>
              </a:rPr>
              <a:t> </a:t>
            </a:r>
            <a:r>
              <a:rPr sz="2550" spc="-85" dirty="0">
                <a:latin typeface="Calibri"/>
                <a:cs typeface="Calibri"/>
              </a:rPr>
              <a:t>rete</a:t>
            </a:r>
            <a:r>
              <a:rPr sz="2550" spc="-114" dirty="0">
                <a:latin typeface="Calibri"/>
                <a:cs typeface="Calibri"/>
              </a:rPr>
              <a:t> </a:t>
            </a:r>
            <a:r>
              <a:rPr sz="2550" spc="-20" dirty="0">
                <a:latin typeface="Calibri"/>
                <a:cs typeface="Calibri"/>
              </a:rPr>
              <a:t>ATM.</a:t>
            </a:r>
            <a:endParaRPr sz="25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789"/>
              </a:spcBef>
            </a:pPr>
            <a:r>
              <a:rPr sz="1500" spc="120" dirty="0">
                <a:latin typeface="Calibri"/>
                <a:cs typeface="Calibri"/>
              </a:rPr>
              <a:t>W</a:t>
            </a:r>
            <a:r>
              <a:rPr sz="1500" spc="11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NotebaokLM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</TotalTime>
  <Words>1654</Words>
  <Application>Microsoft Office PowerPoint</Application>
  <PresentationFormat>Personalizzato</PresentationFormat>
  <Paragraphs>142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Arial</vt:lpstr>
      <vt:lpstr>Arial MT</vt:lpstr>
      <vt:lpstr>Calibri</vt:lpstr>
      <vt:lpstr>Cambria Math</vt:lpstr>
      <vt:lpstr>Office Theme</vt:lpstr>
      <vt:lpstr>Studio di fattibilità  per l’elettrificazione della Linea Bus 973, con tecnologia</vt:lpstr>
      <vt:lpstr>Tecnologia abilitante</vt:lpstr>
      <vt:lpstr>Obiettivi del progetto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 Risultati della Simulazione: Una Strategia Inefficiente</vt:lpstr>
      <vt:lpstr>L'lntuizione Strategica: da "Ricaricare Ovunque" a "Ricaricare Dove Serve"</vt:lpstr>
      <vt:lpstr>Esempio ottimale: 3 Punti di Ricarica per un’Autonomia Completa</vt:lpstr>
      <vt:lpstr>Il Risultato: Copertura del 104.2% del Fabbisogno Energetico</vt:lpstr>
      <vt:lpstr>I Vantaggi Oltre l'Autonomia</vt:lpstr>
      <vt:lpstr>Considerazioni per l'lmplementazione La fattibilità tecnica richiede l'attenzione a tre aspetti chiave per garantire il successo del progetto pilota.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Elettrificare la Linea 973: una soluzione Strategica per un Servizio Continuo</dc:title>
  <dc:creator>Fabio</dc:creator>
  <cp:lastModifiedBy>Fabio Canossi</cp:lastModifiedBy>
  <cp:revision>67</cp:revision>
  <dcterms:created xsi:type="dcterms:W3CDTF">2025-12-23T10:28:22Z</dcterms:created>
  <dcterms:modified xsi:type="dcterms:W3CDTF">2025-12-24T10:45:57Z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2025-12-23T00:00:00Z</vt:filetime>
  </property>
  <property fmtid="{D5CDD505-2E9C-101B-9397-08002B2CF9AE}" pid="3" name="LastSaved">
    <vt:filetime>2025-12-23T00:00:00Z</vt:filetime>
  </property>
</Properties>
</file>