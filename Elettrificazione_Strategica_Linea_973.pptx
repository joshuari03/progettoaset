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rels" ContentType="application/vnd.openxmlformats-package.relationships+xml"/>
  <Default Extension="xml" ContentType="application/xml"/>
  <Default Extension="wdp" ContentType="image/vnd.ms-photo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9" r:id="rId3"/>
    <p:sldId id="271" r:id="rId4"/>
    <p:sldId id="260" r:id="rId5"/>
    <p:sldId id="257" r:id="rId6"/>
    <p:sldId id="261" r:id="rId7"/>
    <p:sldId id="272" r:id="rId8"/>
    <p:sldId id="273" r:id="rId9"/>
    <p:sldId id="274" r:id="rId10"/>
    <p:sldId id="276" r:id="rId11"/>
    <p:sldId id="275" r:id="rId12"/>
    <p:sldId id="277" r:id="rId13"/>
    <p:sldId id="278" r:id="rId14"/>
    <p:sldId id="279" r:id="rId15"/>
    <p:sldId id="280" r:id="rId16"/>
  </p:sldIdLst>
  <p:sldSz cx="17475200" cy="9753600"/>
  <p:notesSz cx="17475200" cy="97536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74773"/>
    <a:srgbClr val="F1F0EC"/>
    <a:srgbClr val="1A63A2"/>
    <a:srgbClr val="F2F0EB"/>
    <a:srgbClr val="255082"/>
    <a:srgbClr val="255081"/>
    <a:srgbClr val="5FBC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7" d="100"/>
          <a:sy n="57" d="100"/>
        </p:scale>
        <p:origin x="706" y="6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9000" y="2628900"/>
            <a:ext cx="15697200" cy="63754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65514" y="452966"/>
            <a:ext cx="15325725" cy="723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150" b="0" i="0">
                <a:solidFill>
                  <a:srgbClr val="08486E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621280" y="5462016"/>
            <a:ext cx="12232640" cy="24384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9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12/24/2025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150" b="0" i="0">
                <a:solidFill>
                  <a:srgbClr val="08486E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9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12/24/2025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6214BE35-1A06-4E29-BA7A-7144A855B39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6400" y="0"/>
            <a:ext cx="10702544" cy="10702544"/>
          </a:xfrm>
          <a:prstGeom prst="rect">
            <a:avLst/>
          </a:prstGeom>
        </p:spPr>
      </p:pic>
      <p:sp>
        <p:nvSpPr>
          <p:cNvPr id="9" name="Rettangolo 8">
            <a:extLst>
              <a:ext uri="{FF2B5EF4-FFF2-40B4-BE49-F238E27FC236}">
                <a16:creationId xmlns:a16="http://schemas.microsoft.com/office/drawing/2014/main" id="{03D89AEE-DE74-4E96-9EFE-9B92040B31D8}"/>
              </a:ext>
            </a:extLst>
          </p:cNvPr>
          <p:cNvSpPr/>
          <p:nvPr userDrawn="1"/>
        </p:nvSpPr>
        <p:spPr>
          <a:xfrm>
            <a:off x="0" y="0"/>
            <a:ext cx="17458944" cy="9906000"/>
          </a:xfrm>
          <a:prstGeom prst="rect">
            <a:avLst/>
          </a:prstGeom>
          <a:solidFill>
            <a:schemeClr val="bg1">
              <a:lumMod val="85000"/>
              <a:alpha val="4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150" b="0" i="0">
                <a:solidFill>
                  <a:srgbClr val="08486E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873760" y="2243328"/>
            <a:ext cx="7601712" cy="64373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8999728" y="2243328"/>
            <a:ext cx="7601712" cy="64373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12/24/2025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150" b="0" i="0">
                <a:solidFill>
                  <a:srgbClr val="08486E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12/24/2025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12/24/2025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41246" y="626533"/>
            <a:ext cx="15540355" cy="6604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150" b="0" i="0">
                <a:solidFill>
                  <a:srgbClr val="08486E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59490" y="2150533"/>
            <a:ext cx="15375255" cy="2222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9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941568" y="9070848"/>
            <a:ext cx="5592064" cy="4876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873760" y="9070848"/>
            <a:ext cx="4019296" cy="4876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12/24/2025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2582144" y="9070848"/>
            <a:ext cx="4019296" cy="4876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jpg"/><Relationship Id="rId3" Type="http://schemas.openxmlformats.org/officeDocument/2006/relationships/image" Target="../media/image11.jpg"/><Relationship Id="rId7" Type="http://schemas.openxmlformats.org/officeDocument/2006/relationships/image" Target="../media/image15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jpg"/><Relationship Id="rId5" Type="http://schemas.openxmlformats.org/officeDocument/2006/relationships/image" Target="../media/image13.jpg"/><Relationship Id="rId4" Type="http://schemas.openxmlformats.org/officeDocument/2006/relationships/image" Target="../media/image12.jpg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10" Type="http://schemas.openxmlformats.org/officeDocument/2006/relationships/image" Target="../media/image24.svg"/><Relationship Id="rId4" Type="http://schemas.openxmlformats.org/officeDocument/2006/relationships/image" Target="../media/image19.svg"/><Relationship Id="rId9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svg"/><Relationship Id="rId4" Type="http://schemas.openxmlformats.org/officeDocument/2006/relationships/image" Target="../media/image3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sv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o 12">
            <a:extLst>
              <a:ext uri="{FF2B5EF4-FFF2-40B4-BE49-F238E27FC236}">
                <a16:creationId xmlns:a16="http://schemas.microsoft.com/office/drawing/2014/main" id="{69579A05-92D5-4B9C-BAC2-81AA6F636F95}"/>
              </a:ext>
            </a:extLst>
          </p:cNvPr>
          <p:cNvGrpSpPr/>
          <p:nvPr/>
        </p:nvGrpSpPr>
        <p:grpSpPr>
          <a:xfrm>
            <a:off x="-2159000" y="-2362200"/>
            <a:ext cx="19634201" cy="13411200"/>
            <a:chOff x="-2159000" y="-2362200"/>
            <a:chExt cx="19634201" cy="13411200"/>
          </a:xfrm>
        </p:grpSpPr>
        <p:pic>
          <p:nvPicPr>
            <p:cNvPr id="11" name="Immagine 10">
              <a:extLst>
                <a:ext uri="{FF2B5EF4-FFF2-40B4-BE49-F238E27FC236}">
                  <a16:creationId xmlns:a16="http://schemas.microsoft.com/office/drawing/2014/main" id="{A472055C-E9F8-4412-8EF1-B13DEF6DFC3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723" r="-511" b="14706"/>
            <a:stretch/>
          </p:blipFill>
          <p:spPr>
            <a:xfrm>
              <a:off x="-2159000" y="-2362200"/>
              <a:ext cx="17067545" cy="13411200"/>
            </a:xfrm>
            <a:prstGeom prst="rect">
              <a:avLst/>
            </a:prstGeom>
            <a:effectLst>
              <a:softEdge rad="1270000"/>
            </a:effectLst>
          </p:spPr>
        </p:pic>
        <p:sp>
          <p:nvSpPr>
            <p:cNvPr id="12" name="Rettangolo 11">
              <a:extLst>
                <a:ext uri="{FF2B5EF4-FFF2-40B4-BE49-F238E27FC236}">
                  <a16:creationId xmlns:a16="http://schemas.microsoft.com/office/drawing/2014/main" id="{26A4F38F-7C62-4ABC-BA11-14AD96FF823F}"/>
                </a:ext>
              </a:extLst>
            </p:cNvPr>
            <p:cNvSpPr/>
            <p:nvPr/>
          </p:nvSpPr>
          <p:spPr>
            <a:xfrm>
              <a:off x="8737601" y="-1676400"/>
              <a:ext cx="8737600" cy="12496800"/>
            </a:xfrm>
            <a:prstGeom prst="rect">
              <a:avLst/>
            </a:prstGeom>
            <a:solidFill>
              <a:srgbClr val="F2F0EB">
                <a:alpha val="75000"/>
              </a:srgbClr>
            </a:solidFill>
            <a:ln>
              <a:noFill/>
            </a:ln>
            <a:effectLst>
              <a:softEdge rad="10414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dirty="0"/>
            </a:p>
          </p:txBody>
        </p:sp>
      </p:grpSp>
      <p:sp>
        <p:nvSpPr>
          <p:cNvPr id="4" name="object 4"/>
          <p:cNvSpPr/>
          <p:nvPr/>
        </p:nvSpPr>
        <p:spPr>
          <a:xfrm>
            <a:off x="10673081" y="-304800"/>
            <a:ext cx="45719" cy="7696200"/>
          </a:xfrm>
          <a:custGeom>
            <a:avLst/>
            <a:gdLst/>
            <a:ahLst/>
            <a:cxnLst/>
            <a:rect l="l" t="t" r="r" b="b"/>
            <a:pathLst>
              <a:path h="9753600">
                <a:moveTo>
                  <a:pt x="0" y="9753600"/>
                </a:moveTo>
                <a:lnTo>
                  <a:pt x="0" y="0"/>
                </a:lnTo>
              </a:path>
            </a:pathLst>
          </a:custGeom>
          <a:ln w="50800">
            <a:solidFill>
              <a:srgbClr val="1A63A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11684000" y="1250950"/>
            <a:ext cx="63500" cy="0"/>
          </a:xfrm>
          <a:custGeom>
            <a:avLst/>
            <a:gdLst/>
            <a:ahLst/>
            <a:cxnLst/>
            <a:rect l="l" t="t" r="r" b="b"/>
            <a:pathLst>
              <a:path w="63500">
                <a:moveTo>
                  <a:pt x="0" y="0"/>
                </a:moveTo>
                <a:lnTo>
                  <a:pt x="63500" y="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11480800" y="8839200"/>
            <a:ext cx="5353734" cy="6562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8255" algn="ctr">
              <a:lnSpc>
                <a:spcPct val="106700"/>
              </a:lnSpc>
              <a:spcBef>
                <a:spcPts val="95"/>
              </a:spcBef>
            </a:pPr>
            <a:r>
              <a:rPr lang="it-IT" sz="2000" dirty="0">
                <a:latin typeface="Calibri"/>
                <a:cs typeface="Calibri"/>
              </a:rPr>
              <a:t>Corso di A.S.E.T., f</a:t>
            </a:r>
            <a:r>
              <a:rPr sz="2000" dirty="0" err="1">
                <a:latin typeface="Calibri"/>
                <a:cs typeface="Calibri"/>
              </a:rPr>
              <a:t>acoltà</a:t>
            </a:r>
            <a:r>
              <a:rPr sz="2000" spc="-1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di</a:t>
            </a:r>
            <a:r>
              <a:rPr sz="2000" spc="-1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Electrical</a:t>
            </a:r>
            <a:r>
              <a:rPr sz="2000" spc="2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Engineering</a:t>
            </a:r>
            <a:r>
              <a:rPr lang="it-IT" sz="2000" spc="-10" dirty="0">
                <a:latin typeface="Calibri"/>
                <a:cs typeface="Calibri"/>
              </a:rPr>
              <a:t>, Politecnico di Milano.</a:t>
            </a:r>
            <a:r>
              <a:rPr sz="2000" spc="-10" dirty="0">
                <a:latin typeface="Calibri"/>
                <a:cs typeface="Calibri"/>
              </a:rPr>
              <a:t> </a:t>
            </a:r>
            <a:endParaRPr sz="2000" dirty="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121307" y="8312150"/>
            <a:ext cx="57785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500" spc="-860" dirty="0">
                <a:solidFill>
                  <a:srgbClr val="B5855E"/>
                </a:solidFill>
                <a:latin typeface="Calibri"/>
                <a:cs typeface="Calibri"/>
              </a:rPr>
              <a:t>”</a:t>
            </a:r>
            <a:endParaRPr sz="2500">
              <a:latin typeface="Calibri"/>
              <a:cs typeface="Calibri"/>
            </a:endParaRPr>
          </a:p>
        </p:txBody>
      </p:sp>
      <p:sp>
        <p:nvSpPr>
          <p:cNvPr id="15" name="Titolo 14">
            <a:extLst>
              <a:ext uri="{FF2B5EF4-FFF2-40B4-BE49-F238E27FC236}">
                <a16:creationId xmlns:a16="http://schemas.microsoft.com/office/drawing/2014/main" id="{1278412F-73F2-463A-A083-81B653450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64028" y="796766"/>
            <a:ext cx="6488972" cy="2708434"/>
          </a:xfrm>
        </p:spPr>
        <p:txBody>
          <a:bodyPr/>
          <a:lstStyle/>
          <a:p>
            <a:pPr algn="l"/>
            <a:r>
              <a:rPr lang="it-IT" sz="4400" b="1" spc="114" dirty="0">
                <a:solidFill>
                  <a:srgbClr val="15151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Studio di fattibilità </a:t>
            </a:r>
            <a:br>
              <a:rPr lang="it-IT" sz="4400" b="1" spc="114" dirty="0">
                <a:solidFill>
                  <a:srgbClr val="15151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it-IT" sz="4400" b="1" spc="114" dirty="0">
                <a:solidFill>
                  <a:srgbClr val="15151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per l’elettrificazione</a:t>
            </a:r>
            <a:br>
              <a:rPr lang="it-IT" sz="4400" b="1" spc="114" dirty="0">
                <a:solidFill>
                  <a:srgbClr val="15151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it-IT" sz="4400" b="1" spc="114" dirty="0">
                <a:solidFill>
                  <a:srgbClr val="15151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della Linea Bus 973,</a:t>
            </a:r>
            <a:br>
              <a:rPr lang="it-IT" sz="4400" b="1" spc="114" dirty="0">
                <a:solidFill>
                  <a:srgbClr val="15151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it-IT" sz="4400" b="1" spc="114" dirty="0">
                <a:solidFill>
                  <a:srgbClr val="15151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con tecnologia</a:t>
            </a:r>
            <a:endParaRPr lang="it-IT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6" name="Titolo 14">
            <a:extLst>
              <a:ext uri="{FF2B5EF4-FFF2-40B4-BE49-F238E27FC236}">
                <a16:creationId xmlns:a16="http://schemas.microsoft.com/office/drawing/2014/main" id="{62C78326-0260-4622-A5EF-48AC2D425F74}"/>
              </a:ext>
            </a:extLst>
          </p:cNvPr>
          <p:cNvSpPr txBox="1">
            <a:spLocks/>
          </p:cNvSpPr>
          <p:nvPr/>
        </p:nvSpPr>
        <p:spPr>
          <a:xfrm>
            <a:off x="11164028" y="4240411"/>
            <a:ext cx="4035338" cy="27699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150" b="0" i="0">
                <a:solidFill>
                  <a:srgbClr val="08486E"/>
                </a:solidFill>
                <a:latin typeface="Arial MT"/>
                <a:ea typeface="+mj-ea"/>
                <a:cs typeface="Arial MT"/>
              </a:defRPr>
            </a:lvl1pPr>
          </a:lstStyle>
          <a:p>
            <a:pPr algn="l"/>
            <a:r>
              <a:rPr lang="it-IT" sz="6000" b="1" spc="114" dirty="0">
                <a:solidFill>
                  <a:srgbClr val="1A63A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</a:t>
            </a:r>
            <a:r>
              <a:rPr lang="it-IT" sz="5400" b="1" spc="114" dirty="0">
                <a:solidFill>
                  <a:srgbClr val="15151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ireless</a:t>
            </a:r>
          </a:p>
          <a:p>
            <a:pPr algn="l"/>
            <a:r>
              <a:rPr lang="it-IT" sz="6000" b="1" spc="114" dirty="0">
                <a:solidFill>
                  <a:srgbClr val="1A63A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</a:t>
            </a:r>
            <a:r>
              <a:rPr lang="it-IT" sz="5400" b="1" spc="114" dirty="0">
                <a:solidFill>
                  <a:srgbClr val="15151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ower </a:t>
            </a:r>
          </a:p>
          <a:p>
            <a:pPr algn="l"/>
            <a:r>
              <a:rPr lang="it-IT" sz="6000" b="1" spc="114" dirty="0">
                <a:solidFill>
                  <a:srgbClr val="1A63A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</a:t>
            </a:r>
            <a:r>
              <a:rPr lang="it-IT" sz="5400" b="1" spc="114" dirty="0">
                <a:solidFill>
                  <a:srgbClr val="15151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ransfer</a:t>
            </a:r>
            <a:endParaRPr lang="it-IT" sz="48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5" name="object 8">
            <a:extLst>
              <a:ext uri="{FF2B5EF4-FFF2-40B4-BE49-F238E27FC236}">
                <a16:creationId xmlns:a16="http://schemas.microsoft.com/office/drawing/2014/main" id="{9C2E3DE5-4CAC-45F7-9AEE-E240BD806C78}"/>
              </a:ext>
            </a:extLst>
          </p:cNvPr>
          <p:cNvSpPr txBox="1"/>
          <p:nvPr/>
        </p:nvSpPr>
        <p:spPr>
          <a:xfrm>
            <a:off x="11386122" y="7924800"/>
            <a:ext cx="5657278" cy="73488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8255" algn="ctr">
              <a:lnSpc>
                <a:spcPct val="106700"/>
              </a:lnSpc>
              <a:spcBef>
                <a:spcPts val="95"/>
              </a:spcBef>
            </a:pPr>
            <a:r>
              <a:rPr lang="it-IT" sz="2400" dirty="0">
                <a:latin typeface="Calibri"/>
                <a:cs typeface="Calibri"/>
              </a:rPr>
              <a:t>Autori: </a:t>
            </a:r>
          </a:p>
          <a:p>
            <a:pPr marL="12700" marR="5080" indent="8255" algn="ctr">
              <a:lnSpc>
                <a:spcPct val="106700"/>
              </a:lnSpc>
              <a:spcBef>
                <a:spcPts val="95"/>
              </a:spcBef>
            </a:pPr>
            <a:r>
              <a:rPr lang="it-IT" sz="2000" dirty="0">
                <a:latin typeface="Calibri"/>
                <a:cs typeface="Calibri"/>
              </a:rPr>
              <a:t>Fabio Canossi, Joshua Rizzello, Michele Savoldelli.</a:t>
            </a:r>
            <a:endParaRPr sz="2000" dirty="0">
              <a:latin typeface="Calibri"/>
              <a:cs typeface="Calibri"/>
            </a:endParaRPr>
          </a:p>
        </p:txBody>
      </p:sp>
      <p:pic>
        <p:nvPicPr>
          <p:cNvPr id="26" name="Immagine 25">
            <a:extLst>
              <a:ext uri="{FF2B5EF4-FFF2-40B4-BE49-F238E27FC236}">
                <a16:creationId xmlns:a16="http://schemas.microsoft.com/office/drawing/2014/main" id="{0DE7499C-ADF6-4E37-BA72-D394A1ADBC4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639" t="7206"/>
          <a:stretch/>
        </p:blipFill>
        <p:spPr>
          <a:xfrm>
            <a:off x="14574518" y="3886200"/>
            <a:ext cx="2777631" cy="3703890"/>
          </a:xfrm>
          <a:prstGeom prst="rect">
            <a:avLst/>
          </a:prstGeom>
          <a:effectLst>
            <a:softEdge rad="317500"/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98000" y="7805119"/>
            <a:ext cx="635000" cy="119380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34600" y="8376619"/>
            <a:ext cx="457200" cy="62230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398000" y="5925519"/>
            <a:ext cx="1181100" cy="1181100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398000" y="4084019"/>
            <a:ext cx="1181100" cy="1143000"/>
          </a:xfrm>
          <a:prstGeom prst="rect">
            <a:avLst/>
          </a:prstGeom>
        </p:spPr>
      </p:pic>
      <p:sp>
        <p:nvSpPr>
          <p:cNvPr id="10" name="object 10"/>
          <p:cNvSpPr txBox="1">
            <a:spLocks noGrp="1"/>
          </p:cNvSpPr>
          <p:nvPr>
            <p:ph type="title"/>
          </p:nvPr>
        </p:nvSpPr>
        <p:spPr>
          <a:xfrm>
            <a:off x="1270000" y="457200"/>
            <a:ext cx="15540355" cy="690288"/>
          </a:xfrm>
          <a:prstGeom prst="rect">
            <a:avLst/>
          </a:prstGeom>
        </p:spPr>
        <p:txBody>
          <a:bodyPr vert="horz" wrap="square" lIns="0" tIns="96872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35"/>
              </a:spcBef>
            </a:pPr>
            <a:r>
              <a:rPr sz="3850" b="1" spc="50" dirty="0" err="1">
                <a:solidFill>
                  <a:srgbClr val="1A63A2"/>
                </a:solidFill>
              </a:rPr>
              <a:t>Tecnologia</a:t>
            </a:r>
            <a:r>
              <a:rPr sz="3850" b="1" spc="265" dirty="0">
                <a:solidFill>
                  <a:srgbClr val="1A63A2"/>
                </a:solidFill>
              </a:rPr>
              <a:t> </a:t>
            </a:r>
            <a:r>
              <a:rPr lang="it-IT" sz="3850" b="1" spc="160" dirty="0">
                <a:solidFill>
                  <a:srgbClr val="1A63A2"/>
                </a:solidFill>
              </a:rPr>
              <a:t>a</a:t>
            </a:r>
            <a:r>
              <a:rPr sz="3850" b="1" spc="160" dirty="0" err="1">
                <a:solidFill>
                  <a:srgbClr val="1A63A2"/>
                </a:solidFill>
              </a:rPr>
              <a:t>bilitante</a:t>
            </a:r>
            <a:endParaRPr sz="3850" dirty="0"/>
          </a:p>
        </p:txBody>
      </p:sp>
      <p:sp>
        <p:nvSpPr>
          <p:cNvPr id="11" name="object 11"/>
          <p:cNvSpPr txBox="1"/>
          <p:nvPr/>
        </p:nvSpPr>
        <p:spPr>
          <a:xfrm>
            <a:off x="1270000" y="1266119"/>
            <a:ext cx="14935198" cy="2029210"/>
          </a:xfrm>
          <a:prstGeom prst="rect">
            <a:avLst/>
          </a:prstGeom>
        </p:spPr>
        <p:txBody>
          <a:bodyPr vert="horz" wrap="square" lIns="0" tIns="59055" rIns="0" bIns="0" rtlCol="0">
            <a:spAutoFit/>
          </a:bodyPr>
          <a:lstStyle/>
          <a:p>
            <a:pPr marL="28575" marR="17780" indent="-3810" algn="just">
              <a:lnSpc>
                <a:spcPts val="3100"/>
              </a:lnSpc>
              <a:spcBef>
                <a:spcPts val="465"/>
              </a:spcBef>
            </a:pPr>
            <a:r>
              <a:rPr lang="it-IT" sz="2400" spc="-50" dirty="0">
                <a:latin typeface="Calibri"/>
                <a:cs typeface="Calibri"/>
              </a:rPr>
              <a:t>Il trasferimento di potenza elettrica avviene tramite </a:t>
            </a:r>
            <a:r>
              <a:rPr lang="it-IT" sz="2400" spc="-50" dirty="0">
                <a:solidFill>
                  <a:srgbClr val="1A63A2"/>
                </a:solidFill>
                <a:latin typeface="Calibri"/>
                <a:cs typeface="Calibri"/>
              </a:rPr>
              <a:t>l’accoppiamento induttivo statico di due bobine </a:t>
            </a:r>
            <a:r>
              <a:rPr lang="it-IT" sz="2400" spc="-50" dirty="0">
                <a:solidFill>
                  <a:schemeClr val="tx1"/>
                </a:solidFill>
                <a:latin typeface="Calibri"/>
                <a:cs typeface="Calibri"/>
              </a:rPr>
              <a:t>(</a:t>
            </a:r>
            <a:r>
              <a:rPr lang="it-IT" sz="2400" spc="-50" dirty="0" err="1">
                <a:solidFill>
                  <a:schemeClr val="tx1"/>
                </a:solidFill>
                <a:latin typeface="Calibri"/>
                <a:cs typeface="Calibri"/>
              </a:rPr>
              <a:t>pad</a:t>
            </a:r>
            <a:r>
              <a:rPr lang="it-IT" sz="2400" spc="-50" dirty="0">
                <a:solidFill>
                  <a:schemeClr val="tx1"/>
                </a:solidFill>
                <a:latin typeface="Calibri"/>
                <a:cs typeface="Calibri"/>
              </a:rPr>
              <a:t>). </a:t>
            </a:r>
            <a:r>
              <a:rPr lang="it-IT" sz="2400" spc="-50" dirty="0">
                <a:latin typeface="Calibri"/>
                <a:cs typeface="Calibri"/>
              </a:rPr>
              <a:t>La prima,</a:t>
            </a:r>
            <a:r>
              <a:rPr sz="2400" spc="-155" dirty="0">
                <a:latin typeface="Calibri"/>
                <a:cs typeface="Calibri"/>
              </a:rPr>
              <a:t> </a:t>
            </a:r>
            <a:r>
              <a:rPr sz="2400" spc="-25" dirty="0" err="1">
                <a:latin typeface="Calibri"/>
                <a:cs typeface="Calibri"/>
              </a:rPr>
              <a:t>trasmittente</a:t>
            </a:r>
            <a:r>
              <a:rPr lang="it-IT" sz="2400" spc="-25" dirty="0">
                <a:latin typeface="Calibri"/>
                <a:cs typeface="Calibri"/>
              </a:rPr>
              <a:t>,</a:t>
            </a:r>
            <a:r>
              <a:rPr lang="it-IT" sz="2400" spc="-5" dirty="0">
                <a:latin typeface="Calibri"/>
                <a:cs typeface="Calibri"/>
              </a:rPr>
              <a:t> </a:t>
            </a:r>
            <a:r>
              <a:rPr lang="it-IT" sz="2400" spc="-50" dirty="0">
                <a:latin typeface="Calibri"/>
                <a:cs typeface="Calibri"/>
              </a:rPr>
              <a:t>installata sopra o sotto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lang="it-IT" sz="2400" spc="-75" dirty="0">
                <a:latin typeface="Calibri"/>
                <a:cs typeface="Calibri"/>
              </a:rPr>
              <a:t>i</a:t>
            </a:r>
            <a:r>
              <a:rPr sz="2400" dirty="0">
                <a:latin typeface="Calibri"/>
                <a:cs typeface="Calibri"/>
              </a:rPr>
              <a:t>l</a:t>
            </a:r>
            <a:r>
              <a:rPr sz="2400" spc="-114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manto </a:t>
            </a:r>
            <a:r>
              <a:rPr sz="2400" spc="-40" dirty="0">
                <a:latin typeface="Calibri"/>
                <a:cs typeface="Calibri"/>
              </a:rPr>
              <a:t>stradale</a:t>
            </a:r>
            <a:r>
              <a:rPr sz="2400" spc="-125" dirty="0">
                <a:latin typeface="Calibri"/>
                <a:cs typeface="Calibri"/>
              </a:rPr>
              <a:t> </a:t>
            </a:r>
            <a:r>
              <a:rPr sz="2400" spc="-50" dirty="0">
                <a:latin typeface="Calibri"/>
                <a:cs typeface="Calibri"/>
              </a:rPr>
              <a:t>alimenta</a:t>
            </a:r>
            <a:r>
              <a:rPr sz="2400" spc="-110" dirty="0">
                <a:latin typeface="Calibri"/>
                <a:cs typeface="Calibri"/>
              </a:rPr>
              <a:t> </a:t>
            </a:r>
            <a:r>
              <a:rPr sz="2400" spc="-50" dirty="0">
                <a:latin typeface="Calibri"/>
                <a:cs typeface="Calibri"/>
              </a:rPr>
              <a:t>una</a:t>
            </a:r>
            <a:r>
              <a:rPr sz="2400" spc="-114" dirty="0">
                <a:latin typeface="Calibri"/>
                <a:cs typeface="Calibri"/>
              </a:rPr>
              <a:t> </a:t>
            </a:r>
            <a:r>
              <a:rPr sz="2400" spc="-35" dirty="0">
                <a:latin typeface="Calibri"/>
                <a:cs typeface="Calibri"/>
              </a:rPr>
              <a:t>bobina</a:t>
            </a:r>
            <a:r>
              <a:rPr sz="2400" spc="-114" dirty="0">
                <a:latin typeface="Calibri"/>
                <a:cs typeface="Calibri"/>
              </a:rPr>
              <a:t> </a:t>
            </a:r>
            <a:r>
              <a:rPr sz="2400" spc="-35" dirty="0">
                <a:latin typeface="Calibri"/>
                <a:cs typeface="Calibri"/>
              </a:rPr>
              <a:t>ricevente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spc="-55" dirty="0">
                <a:latin typeface="Calibri"/>
                <a:cs typeface="Calibri"/>
              </a:rPr>
              <a:t>sotto</a:t>
            </a:r>
            <a:r>
              <a:rPr sz="2400" spc="-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il</a:t>
            </a:r>
            <a:r>
              <a:rPr sz="2400" spc="-165" dirty="0">
                <a:latin typeface="Calibri"/>
                <a:cs typeface="Calibri"/>
              </a:rPr>
              <a:t> </a:t>
            </a:r>
            <a:r>
              <a:rPr sz="2400" spc="-35" dirty="0">
                <a:latin typeface="Calibri"/>
                <a:cs typeface="Calibri"/>
              </a:rPr>
              <a:t>veicolo.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La</a:t>
            </a:r>
            <a:r>
              <a:rPr sz="2400" spc="-165" dirty="0">
                <a:latin typeface="Calibri"/>
                <a:cs typeface="Calibri"/>
              </a:rPr>
              <a:t> </a:t>
            </a:r>
            <a:r>
              <a:rPr sz="2400" dirty="0" err="1">
                <a:latin typeface="Calibri"/>
                <a:cs typeface="Calibri"/>
              </a:rPr>
              <a:t>tecnologia</a:t>
            </a:r>
            <a:r>
              <a:rPr sz="2400" spc="-95" dirty="0">
                <a:latin typeface="Calibri"/>
                <a:cs typeface="Calibri"/>
              </a:rPr>
              <a:t> </a:t>
            </a:r>
            <a:r>
              <a:rPr sz="2400" spc="-10" dirty="0" err="1">
                <a:latin typeface="Calibri"/>
                <a:cs typeface="Calibri"/>
              </a:rPr>
              <a:t>risonante</a:t>
            </a:r>
            <a:r>
              <a:rPr lang="it-IT" sz="2400" spc="-10" dirty="0">
                <a:latin typeface="Calibri"/>
                <a:cs typeface="Calibri"/>
              </a:rPr>
              <a:t> (</a:t>
            </a:r>
            <a:r>
              <a:rPr lang="it-IT" sz="2400" spc="-10" dirty="0">
                <a:solidFill>
                  <a:srgbClr val="1A63A2"/>
                </a:solidFill>
                <a:latin typeface="Calibri"/>
                <a:cs typeface="Calibri"/>
              </a:rPr>
              <a:t>RIWPT</a:t>
            </a:r>
            <a:r>
              <a:rPr lang="it-IT" sz="2400" spc="-10" dirty="0">
                <a:latin typeface="Calibri"/>
                <a:cs typeface="Calibri"/>
              </a:rPr>
              <a:t>), attraverso circuiti di compensazione, minimizza l’impedenza reattiva,</a:t>
            </a:r>
            <a:r>
              <a:rPr sz="2400" spc="-85" dirty="0">
                <a:latin typeface="Calibri"/>
                <a:cs typeface="Calibri"/>
              </a:rPr>
              <a:t> </a:t>
            </a:r>
            <a:r>
              <a:rPr sz="2400" spc="-35" dirty="0" err="1">
                <a:latin typeface="Calibri"/>
                <a:cs typeface="Calibri"/>
              </a:rPr>
              <a:t>garan</a:t>
            </a:r>
            <a:r>
              <a:rPr lang="it-IT" sz="2400" spc="-35" dirty="0">
                <a:latin typeface="Calibri"/>
                <a:cs typeface="Calibri"/>
              </a:rPr>
              <a:t>tendo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un'efficienza </a:t>
            </a:r>
            <a:r>
              <a:rPr sz="2400" spc="-45" dirty="0">
                <a:latin typeface="Calibri"/>
                <a:cs typeface="Calibri"/>
              </a:rPr>
              <a:t>superiore</a:t>
            </a:r>
            <a:r>
              <a:rPr sz="2400" spc="-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al</a:t>
            </a:r>
            <a:r>
              <a:rPr sz="2400" spc="-160" dirty="0">
                <a:latin typeface="Calibri"/>
                <a:cs typeface="Calibri"/>
              </a:rPr>
              <a:t> </a:t>
            </a:r>
            <a:r>
              <a:rPr sz="2400" spc="-95" dirty="0">
                <a:latin typeface="Calibri"/>
                <a:cs typeface="Calibri"/>
              </a:rPr>
              <a:t>90</a:t>
            </a:r>
            <a:r>
              <a:rPr lang="it-IT" sz="2000" spc="-142" baseline="30030" dirty="0">
                <a:latin typeface="Calibri"/>
                <a:cs typeface="Calibri"/>
              </a:rPr>
              <a:t> </a:t>
            </a:r>
            <a:r>
              <a:rPr lang="it-IT" sz="2000" spc="-142" dirty="0">
                <a:latin typeface="Calibri"/>
                <a:cs typeface="Calibri"/>
              </a:rPr>
              <a:t>%</a:t>
            </a:r>
            <a:r>
              <a:rPr sz="2400" spc="7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anche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con</a:t>
            </a:r>
            <a:r>
              <a:rPr sz="2400" spc="-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un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spc="-55" dirty="0">
                <a:latin typeface="Calibri"/>
                <a:cs typeface="Calibri"/>
              </a:rPr>
              <a:t>traferro</a:t>
            </a:r>
            <a:r>
              <a:rPr sz="2400" spc="7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fino</a:t>
            </a:r>
            <a:r>
              <a:rPr sz="2400" spc="-11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a</a:t>
            </a:r>
            <a:r>
              <a:rPr sz="2400" spc="-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250</a:t>
            </a:r>
            <a:r>
              <a:rPr sz="2400" spc="-160" dirty="0">
                <a:latin typeface="Calibri"/>
                <a:cs typeface="Calibri"/>
              </a:rPr>
              <a:t> </a:t>
            </a:r>
            <a:r>
              <a:rPr sz="2400" spc="-70" dirty="0">
                <a:latin typeface="Calibri"/>
                <a:cs typeface="Calibri"/>
              </a:rPr>
              <a:t>mm,</a:t>
            </a:r>
            <a:r>
              <a:rPr sz="2400" spc="-85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tipico</a:t>
            </a:r>
            <a:r>
              <a:rPr sz="2400" spc="-1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degli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autobus.</a:t>
            </a:r>
            <a:r>
              <a:rPr lang="it-IT" sz="2400" spc="-10" dirty="0">
                <a:latin typeface="Calibri"/>
                <a:cs typeface="Calibri"/>
              </a:rPr>
              <a:t> Nel modello coefficiente di accoppiamento terrà conto di distanza e disallineamento dei </a:t>
            </a:r>
            <a:r>
              <a:rPr lang="it-IT" sz="2400" spc="-10" dirty="0" err="1">
                <a:latin typeface="Calibri"/>
                <a:cs typeface="Calibri"/>
              </a:rPr>
              <a:t>pad</a:t>
            </a:r>
            <a:r>
              <a:rPr lang="it-IT" sz="2400" spc="-10" dirty="0">
                <a:latin typeface="Calibri"/>
                <a:cs typeface="Calibri"/>
              </a:rPr>
              <a:t>.</a:t>
            </a:r>
            <a:endParaRPr sz="2400" dirty="0">
              <a:latin typeface="Calibri"/>
              <a:cs typeface="Calibri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0772793" y="3954902"/>
            <a:ext cx="5432405" cy="1249680"/>
          </a:xfrm>
          <a:prstGeom prst="rect">
            <a:avLst/>
          </a:prstGeom>
        </p:spPr>
        <p:txBody>
          <a:bodyPr vert="horz" wrap="square" lIns="0" tIns="59690" rIns="0" bIns="0" rtlCol="0">
            <a:spAutoFit/>
          </a:bodyPr>
          <a:lstStyle/>
          <a:p>
            <a:pPr marL="325120" marR="5080" indent="-313055" algn="just">
              <a:lnSpc>
                <a:spcPct val="89800"/>
              </a:lnSpc>
              <a:spcBef>
                <a:spcPts val="470"/>
              </a:spcBef>
              <a:buChar char="•"/>
              <a:tabLst>
                <a:tab pos="325120" algn="l"/>
                <a:tab pos="331470" algn="l"/>
              </a:tabLst>
            </a:pPr>
            <a:r>
              <a:rPr sz="2900" dirty="0">
                <a:latin typeface="Calibri"/>
                <a:cs typeface="Calibri"/>
              </a:rPr>
              <a:t>	</a:t>
            </a:r>
            <a:r>
              <a:rPr sz="2900" dirty="0">
                <a:solidFill>
                  <a:srgbClr val="1A63A2"/>
                </a:solidFill>
                <a:latin typeface="Calibri"/>
                <a:cs typeface="Calibri"/>
              </a:rPr>
              <a:t>Automazione</a:t>
            </a:r>
            <a:r>
              <a:rPr sz="2900" spc="-45" dirty="0">
                <a:solidFill>
                  <a:srgbClr val="1A63A2"/>
                </a:solidFill>
                <a:latin typeface="Calibri"/>
                <a:cs typeface="Calibri"/>
              </a:rPr>
              <a:t> </a:t>
            </a:r>
            <a:r>
              <a:rPr sz="2900" spc="-20" dirty="0">
                <a:solidFill>
                  <a:srgbClr val="1A63A2"/>
                </a:solidFill>
                <a:latin typeface="Calibri"/>
                <a:cs typeface="Calibri"/>
              </a:rPr>
              <a:t>Totale:</a:t>
            </a:r>
            <a:r>
              <a:rPr sz="2900" spc="-120" dirty="0">
                <a:solidFill>
                  <a:srgbClr val="1A63A2"/>
                </a:solidFill>
                <a:latin typeface="Calibri"/>
                <a:cs typeface="Calibri"/>
              </a:rPr>
              <a:t> </a:t>
            </a:r>
            <a:r>
              <a:rPr sz="2900" spc="-10" dirty="0">
                <a:latin typeface="Calibri"/>
                <a:cs typeface="Calibri"/>
              </a:rPr>
              <a:t>Nessun </a:t>
            </a:r>
            <a:r>
              <a:rPr sz="2850" spc="-45" dirty="0">
                <a:latin typeface="Calibri"/>
                <a:cs typeface="Calibri"/>
              </a:rPr>
              <a:t>intervento</a:t>
            </a:r>
            <a:r>
              <a:rPr sz="2850" spc="-40" dirty="0">
                <a:latin typeface="Calibri"/>
                <a:cs typeface="Calibri"/>
              </a:rPr>
              <a:t> </a:t>
            </a:r>
            <a:r>
              <a:rPr sz="2850" spc="-70" dirty="0">
                <a:latin typeface="Calibri"/>
                <a:cs typeface="Calibri"/>
              </a:rPr>
              <a:t>umano,</a:t>
            </a:r>
            <a:r>
              <a:rPr sz="2850" spc="-60" dirty="0">
                <a:latin typeface="Calibri"/>
                <a:cs typeface="Calibri"/>
              </a:rPr>
              <a:t> </a:t>
            </a:r>
            <a:r>
              <a:rPr sz="2850" spc="-45" dirty="0">
                <a:latin typeface="Calibri"/>
                <a:cs typeface="Calibri"/>
              </a:rPr>
              <a:t>nessuna</a:t>
            </a:r>
            <a:r>
              <a:rPr sz="2850" spc="-120" dirty="0">
                <a:latin typeface="Calibri"/>
                <a:cs typeface="Calibri"/>
              </a:rPr>
              <a:t> </a:t>
            </a:r>
            <a:r>
              <a:rPr sz="2850" spc="-10" dirty="0">
                <a:latin typeface="Calibri"/>
                <a:cs typeface="Calibri"/>
              </a:rPr>
              <a:t>usura meccanica.</a:t>
            </a:r>
            <a:endParaRPr sz="2850" dirty="0">
              <a:latin typeface="Calibri"/>
              <a:cs typeface="Calibri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0785494" y="6018652"/>
            <a:ext cx="5419705" cy="1261243"/>
          </a:xfrm>
          <a:prstGeom prst="rect">
            <a:avLst/>
          </a:prstGeom>
        </p:spPr>
        <p:txBody>
          <a:bodyPr vert="horz" wrap="square" lIns="0" tIns="67945" rIns="0" bIns="0" rtlCol="0">
            <a:spAutoFit/>
          </a:bodyPr>
          <a:lstStyle/>
          <a:p>
            <a:pPr marL="311785" marR="5080" indent="-299720" algn="just">
              <a:lnSpc>
                <a:spcPts val="3100"/>
              </a:lnSpc>
              <a:spcBef>
                <a:spcPts val="535"/>
              </a:spcBef>
              <a:buChar char="•"/>
              <a:tabLst>
                <a:tab pos="311785" algn="l"/>
                <a:tab pos="320675" algn="l"/>
              </a:tabLst>
            </a:pPr>
            <a:r>
              <a:rPr sz="2900" dirty="0">
                <a:latin typeface="Calibri"/>
                <a:cs typeface="Calibri"/>
              </a:rPr>
              <a:t>	</a:t>
            </a:r>
            <a:r>
              <a:rPr sz="2900" dirty="0">
                <a:solidFill>
                  <a:srgbClr val="1A63A2"/>
                </a:solidFill>
                <a:latin typeface="Calibri"/>
                <a:cs typeface="Calibri"/>
              </a:rPr>
              <a:t>Integrazione</a:t>
            </a:r>
            <a:r>
              <a:rPr sz="2900" spc="-70" dirty="0">
                <a:solidFill>
                  <a:srgbClr val="1A63A2"/>
                </a:solidFill>
                <a:latin typeface="Calibri"/>
                <a:cs typeface="Calibri"/>
              </a:rPr>
              <a:t> </a:t>
            </a:r>
            <a:r>
              <a:rPr sz="2900" dirty="0">
                <a:solidFill>
                  <a:srgbClr val="1A63A2"/>
                </a:solidFill>
                <a:latin typeface="Calibri"/>
                <a:cs typeface="Calibri"/>
              </a:rPr>
              <a:t>Urbana:</a:t>
            </a:r>
            <a:r>
              <a:rPr sz="2900" spc="-45" dirty="0">
                <a:solidFill>
                  <a:srgbClr val="1A63A2"/>
                </a:solidFill>
                <a:latin typeface="Calibri"/>
                <a:cs typeface="Calibri"/>
              </a:rPr>
              <a:t> </a:t>
            </a:r>
            <a:r>
              <a:rPr sz="2900" spc="-105" dirty="0">
                <a:latin typeface="Calibri"/>
                <a:cs typeface="Calibri"/>
              </a:rPr>
              <a:t>Impatto</a:t>
            </a:r>
            <a:r>
              <a:rPr sz="2900" spc="-50" dirty="0">
                <a:latin typeface="Calibri"/>
                <a:cs typeface="Calibri"/>
              </a:rPr>
              <a:t> </a:t>
            </a:r>
            <a:r>
              <a:rPr sz="2900" spc="-10" dirty="0">
                <a:latin typeface="Calibri"/>
                <a:cs typeface="Calibri"/>
              </a:rPr>
              <a:t>visivo </a:t>
            </a:r>
            <a:r>
              <a:rPr sz="2900" spc="-65" dirty="0">
                <a:latin typeface="Calibri"/>
                <a:cs typeface="Calibri"/>
              </a:rPr>
              <a:t>nullo,</a:t>
            </a:r>
            <a:r>
              <a:rPr sz="2900" spc="40" dirty="0">
                <a:latin typeface="Calibri"/>
                <a:cs typeface="Calibri"/>
              </a:rPr>
              <a:t> </a:t>
            </a:r>
            <a:r>
              <a:rPr sz="2900" spc="-75" dirty="0">
                <a:latin typeface="Calibri"/>
                <a:cs typeface="Calibri"/>
              </a:rPr>
              <a:t>nessuna</a:t>
            </a:r>
            <a:r>
              <a:rPr sz="2900" spc="-15" dirty="0">
                <a:latin typeface="Calibri"/>
                <a:cs typeface="Calibri"/>
              </a:rPr>
              <a:t> </a:t>
            </a:r>
            <a:r>
              <a:rPr sz="2900" spc="-65" dirty="0">
                <a:latin typeface="Calibri"/>
                <a:cs typeface="Calibri"/>
              </a:rPr>
              <a:t>infrastruttura</a:t>
            </a:r>
            <a:r>
              <a:rPr sz="2900" spc="-170" dirty="0">
                <a:latin typeface="Calibri"/>
                <a:cs typeface="Calibri"/>
              </a:rPr>
              <a:t> </a:t>
            </a:r>
            <a:r>
              <a:rPr sz="2900" spc="-10" dirty="0">
                <a:latin typeface="Calibri"/>
                <a:cs typeface="Calibri"/>
              </a:rPr>
              <a:t>aerea.</a:t>
            </a:r>
            <a:endParaRPr sz="2900" dirty="0">
              <a:latin typeface="Calibri"/>
              <a:cs typeface="Calibri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0771131" y="7740913"/>
            <a:ext cx="5432405" cy="1278890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324485" marR="5080" indent="-312420" algn="just">
              <a:lnSpc>
                <a:spcPts val="3100"/>
              </a:lnSpc>
              <a:spcBef>
                <a:spcPts val="675"/>
              </a:spcBef>
              <a:buChar char="•"/>
              <a:tabLst>
                <a:tab pos="324485" algn="l"/>
                <a:tab pos="332740" algn="l"/>
              </a:tabLst>
            </a:pPr>
            <a:r>
              <a:rPr sz="3050" dirty="0">
                <a:solidFill>
                  <a:srgbClr val="1A63A2"/>
                </a:solidFill>
                <a:latin typeface="Calibri"/>
                <a:cs typeface="Calibri"/>
              </a:rPr>
              <a:t>	</a:t>
            </a:r>
            <a:r>
              <a:rPr sz="3050" spc="-50" dirty="0">
                <a:solidFill>
                  <a:srgbClr val="1A63A2"/>
                </a:solidFill>
                <a:latin typeface="Calibri"/>
                <a:cs typeface="Calibri"/>
              </a:rPr>
              <a:t>Batterie</a:t>
            </a:r>
            <a:r>
              <a:rPr sz="3050" spc="-95" dirty="0">
                <a:solidFill>
                  <a:srgbClr val="1A63A2"/>
                </a:solidFill>
                <a:latin typeface="Calibri"/>
                <a:cs typeface="Calibri"/>
              </a:rPr>
              <a:t> </a:t>
            </a:r>
            <a:r>
              <a:rPr sz="3050" spc="-45" dirty="0">
                <a:solidFill>
                  <a:srgbClr val="1A63A2"/>
                </a:solidFill>
                <a:latin typeface="Calibri"/>
                <a:cs typeface="Calibri"/>
              </a:rPr>
              <a:t>Ridotte:</a:t>
            </a:r>
            <a:r>
              <a:rPr sz="3050" spc="-80" dirty="0">
                <a:solidFill>
                  <a:srgbClr val="1A63A2"/>
                </a:solidFill>
                <a:latin typeface="Calibri"/>
                <a:cs typeface="Calibri"/>
              </a:rPr>
              <a:t> </a:t>
            </a:r>
            <a:r>
              <a:rPr sz="3050" spc="-135" dirty="0">
                <a:latin typeface="Calibri"/>
                <a:cs typeface="Calibri"/>
              </a:rPr>
              <a:t>Potenziale</a:t>
            </a:r>
            <a:r>
              <a:rPr sz="3050" spc="-25" dirty="0">
                <a:latin typeface="Calibri"/>
                <a:cs typeface="Calibri"/>
              </a:rPr>
              <a:t> di </a:t>
            </a:r>
            <a:r>
              <a:rPr sz="2950" spc="-70" dirty="0">
                <a:latin typeface="Calibri"/>
                <a:cs typeface="Calibri"/>
              </a:rPr>
              <a:t>downsizing</a:t>
            </a:r>
            <a:r>
              <a:rPr sz="2950" spc="-75" dirty="0">
                <a:latin typeface="Calibri"/>
                <a:cs typeface="Calibri"/>
              </a:rPr>
              <a:t> </a:t>
            </a:r>
            <a:r>
              <a:rPr sz="2950" spc="-50" dirty="0">
                <a:latin typeface="Calibri"/>
                <a:cs typeface="Calibri"/>
              </a:rPr>
              <a:t>del</a:t>
            </a:r>
            <a:r>
              <a:rPr sz="2950" spc="-114" dirty="0">
                <a:latin typeface="Calibri"/>
                <a:cs typeface="Calibri"/>
              </a:rPr>
              <a:t> </a:t>
            </a:r>
            <a:r>
              <a:rPr sz="2950" spc="-90" dirty="0">
                <a:latin typeface="Calibri"/>
                <a:cs typeface="Calibri"/>
              </a:rPr>
              <a:t>pacco</a:t>
            </a:r>
            <a:r>
              <a:rPr sz="2950" spc="-75" dirty="0">
                <a:latin typeface="Calibri"/>
                <a:cs typeface="Calibri"/>
              </a:rPr>
              <a:t> </a:t>
            </a:r>
            <a:r>
              <a:rPr sz="2950" spc="-10" dirty="0">
                <a:latin typeface="Calibri"/>
                <a:cs typeface="Calibri"/>
              </a:rPr>
              <a:t>batterie, </a:t>
            </a:r>
            <a:r>
              <a:rPr sz="3050" spc="-140" dirty="0">
                <a:latin typeface="Calibri"/>
                <a:cs typeface="Calibri"/>
              </a:rPr>
              <a:t>riducendo</a:t>
            </a:r>
            <a:r>
              <a:rPr sz="3050" spc="40" dirty="0">
                <a:latin typeface="Calibri"/>
                <a:cs typeface="Calibri"/>
              </a:rPr>
              <a:t> </a:t>
            </a:r>
            <a:r>
              <a:rPr sz="3050" spc="-135" dirty="0">
                <a:latin typeface="Calibri"/>
                <a:cs typeface="Calibri"/>
              </a:rPr>
              <a:t>peso</a:t>
            </a:r>
            <a:r>
              <a:rPr sz="3050" spc="-10" dirty="0">
                <a:latin typeface="Calibri"/>
                <a:cs typeface="Calibri"/>
              </a:rPr>
              <a:t> </a:t>
            </a:r>
            <a:r>
              <a:rPr sz="3050" spc="-85" dirty="0">
                <a:latin typeface="Calibri"/>
                <a:cs typeface="Calibri"/>
              </a:rPr>
              <a:t>e</a:t>
            </a:r>
            <a:r>
              <a:rPr sz="3050" spc="-135" dirty="0">
                <a:latin typeface="Calibri"/>
                <a:cs typeface="Calibri"/>
              </a:rPr>
              <a:t> </a:t>
            </a:r>
            <a:r>
              <a:rPr sz="3050" spc="-10" dirty="0">
                <a:latin typeface="Calibri"/>
                <a:cs typeface="Calibri"/>
              </a:rPr>
              <a:t>costi.</a:t>
            </a:r>
            <a:endParaRPr sz="3050" dirty="0">
              <a:latin typeface="Calibri"/>
              <a:cs typeface="Calibri"/>
            </a:endParaRPr>
          </a:p>
        </p:txBody>
      </p:sp>
      <p:pic>
        <p:nvPicPr>
          <p:cNvPr id="20" name="Immagine 19">
            <a:extLst>
              <a:ext uri="{FF2B5EF4-FFF2-40B4-BE49-F238E27FC236}">
                <a16:creationId xmlns:a16="http://schemas.microsoft.com/office/drawing/2014/main" id="{5EE41CEB-F692-44C0-A53E-A6E66219C181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50541"/>
          <a:stretch/>
        </p:blipFill>
        <p:spPr>
          <a:xfrm>
            <a:off x="840926" y="3733800"/>
            <a:ext cx="7454713" cy="5564537"/>
          </a:xfrm>
          <a:prstGeom prst="rect">
            <a:avLst/>
          </a:prstGeom>
        </p:spPr>
      </p:pic>
      <p:sp>
        <p:nvSpPr>
          <p:cNvPr id="21" name="object 4">
            <a:extLst>
              <a:ext uri="{FF2B5EF4-FFF2-40B4-BE49-F238E27FC236}">
                <a16:creationId xmlns:a16="http://schemas.microsoft.com/office/drawing/2014/main" id="{32F0879F-5D15-44C2-AC17-7A94BAB34A02}"/>
              </a:ext>
            </a:extLst>
          </p:cNvPr>
          <p:cNvSpPr/>
          <p:nvPr/>
        </p:nvSpPr>
        <p:spPr>
          <a:xfrm>
            <a:off x="8890000" y="3733800"/>
            <a:ext cx="116075" cy="5564538"/>
          </a:xfrm>
          <a:custGeom>
            <a:avLst/>
            <a:gdLst/>
            <a:ahLst/>
            <a:cxnLst/>
            <a:rect l="l" t="t" r="r" b="b"/>
            <a:pathLst>
              <a:path h="9753600">
                <a:moveTo>
                  <a:pt x="0" y="9753600"/>
                </a:moveTo>
                <a:lnTo>
                  <a:pt x="0" y="0"/>
                </a:lnTo>
              </a:path>
            </a:pathLst>
          </a:custGeom>
          <a:ln w="50800">
            <a:solidFill>
              <a:srgbClr val="1A63A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4">
            <a:extLst>
              <a:ext uri="{FF2B5EF4-FFF2-40B4-BE49-F238E27FC236}">
                <a16:creationId xmlns:a16="http://schemas.microsoft.com/office/drawing/2014/main" id="{00DBC6F8-B81C-4384-8EA0-FF9CAC4317B1}"/>
              </a:ext>
            </a:extLst>
          </p:cNvPr>
          <p:cNvSpPr/>
          <p:nvPr/>
        </p:nvSpPr>
        <p:spPr>
          <a:xfrm>
            <a:off x="965200" y="592667"/>
            <a:ext cx="76200" cy="2702662"/>
          </a:xfrm>
          <a:custGeom>
            <a:avLst/>
            <a:gdLst/>
            <a:ahLst/>
            <a:cxnLst/>
            <a:rect l="l" t="t" r="r" b="b"/>
            <a:pathLst>
              <a:path h="9753600">
                <a:moveTo>
                  <a:pt x="0" y="9753600"/>
                </a:moveTo>
                <a:lnTo>
                  <a:pt x="0" y="0"/>
                </a:lnTo>
              </a:path>
            </a:pathLst>
          </a:custGeom>
          <a:ln w="50800">
            <a:solidFill>
              <a:srgbClr val="1A63A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  <p:transition spd="slow">
    <p:push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bject 10">
            <a:extLst>
              <a:ext uri="{FF2B5EF4-FFF2-40B4-BE49-F238E27FC236}">
                <a16:creationId xmlns:a16="http://schemas.microsoft.com/office/drawing/2014/main" id="{B862AD80-DFFF-4908-9EB4-AD29F61B3B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70000" y="304800"/>
            <a:ext cx="15540355" cy="690288"/>
          </a:xfrm>
          <a:prstGeom prst="rect">
            <a:avLst/>
          </a:prstGeom>
        </p:spPr>
        <p:txBody>
          <a:bodyPr vert="horz" wrap="square" lIns="0" tIns="96872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35"/>
              </a:spcBef>
            </a:pPr>
            <a:r>
              <a:rPr lang="it-IT" sz="3850" b="1" spc="50" dirty="0">
                <a:solidFill>
                  <a:srgbClr val="1A63A2"/>
                </a:solidFill>
              </a:rPr>
              <a:t>Obiettivi del progetto</a:t>
            </a:r>
            <a:endParaRPr sz="3850" dirty="0"/>
          </a:p>
        </p:txBody>
      </p:sp>
      <p:sp>
        <p:nvSpPr>
          <p:cNvPr id="23" name="object 11">
            <a:extLst>
              <a:ext uri="{FF2B5EF4-FFF2-40B4-BE49-F238E27FC236}">
                <a16:creationId xmlns:a16="http://schemas.microsoft.com/office/drawing/2014/main" id="{794134CF-5861-4952-AFBA-406E2205A0A5}"/>
              </a:ext>
            </a:extLst>
          </p:cNvPr>
          <p:cNvSpPr txBox="1"/>
          <p:nvPr/>
        </p:nvSpPr>
        <p:spPr>
          <a:xfrm>
            <a:off x="1270000" y="1113719"/>
            <a:ext cx="15006954" cy="1824025"/>
          </a:xfrm>
          <a:prstGeom prst="rect">
            <a:avLst/>
          </a:prstGeom>
        </p:spPr>
        <p:txBody>
          <a:bodyPr vert="horz" wrap="square" lIns="0" tIns="59055" rIns="0" bIns="0" rtlCol="0">
            <a:spAutoFit/>
          </a:bodyPr>
          <a:lstStyle/>
          <a:p>
            <a:pPr marL="28575" marR="17780" indent="-3810" algn="just">
              <a:lnSpc>
                <a:spcPts val="3100"/>
              </a:lnSpc>
              <a:spcBef>
                <a:spcPts val="465"/>
              </a:spcBef>
            </a:pPr>
            <a:r>
              <a:rPr lang="it-IT" sz="2800" dirty="0">
                <a:latin typeface="Calibri"/>
                <a:cs typeface="Calibri"/>
              </a:rPr>
              <a:t>L’obiettivo è valutare la fattibilità tecnica ed energetica di un sistema di ricarica WPT statico per la linea milanese del bus 973, tramite la produzione di codice </a:t>
            </a:r>
            <a:r>
              <a:rPr lang="it-IT" sz="2800" dirty="0" err="1">
                <a:latin typeface="Calibri"/>
                <a:cs typeface="Calibri"/>
              </a:rPr>
              <a:t>MatLab</a:t>
            </a:r>
            <a:r>
              <a:rPr lang="it-IT" sz="2800" dirty="0">
                <a:latin typeface="Calibri"/>
                <a:cs typeface="Calibri"/>
              </a:rPr>
              <a:t> scalabile. L’analisi mira a:</a:t>
            </a:r>
          </a:p>
          <a:p>
            <a:pPr marL="28575" marR="17780" indent="-3810" algn="just">
              <a:lnSpc>
                <a:spcPts val="3100"/>
              </a:lnSpc>
              <a:spcBef>
                <a:spcPts val="465"/>
              </a:spcBef>
            </a:pPr>
            <a:r>
              <a:rPr lang="it-IT" sz="3200" b="1" dirty="0">
                <a:solidFill>
                  <a:srgbClr val="1A63A2"/>
                </a:solidFill>
                <a:latin typeface="Calibri"/>
                <a:cs typeface="Calibri"/>
              </a:rPr>
              <a:t>1. </a:t>
            </a:r>
            <a:r>
              <a:rPr lang="it-IT" sz="2800" dirty="0">
                <a:latin typeface="Calibri"/>
                <a:cs typeface="Calibri"/>
              </a:rPr>
              <a:t>Modellare il consumo energetico basandosi su dati cinematici reali.</a:t>
            </a:r>
          </a:p>
          <a:p>
            <a:pPr marL="28575" marR="17780" indent="-3810" algn="just">
              <a:lnSpc>
                <a:spcPts val="3100"/>
              </a:lnSpc>
              <a:spcBef>
                <a:spcPts val="465"/>
              </a:spcBef>
            </a:pPr>
            <a:r>
              <a:rPr lang="it-IT" sz="3200" b="1" dirty="0">
                <a:solidFill>
                  <a:srgbClr val="1A63A2"/>
                </a:solidFill>
                <a:latin typeface="Calibri"/>
                <a:cs typeface="Calibri"/>
              </a:rPr>
              <a:t>2. </a:t>
            </a:r>
            <a:r>
              <a:rPr lang="it-IT" sz="2800" dirty="0">
                <a:latin typeface="Calibri"/>
                <a:cs typeface="Calibri"/>
              </a:rPr>
              <a:t>Verificare il bilancio energetico considerando diversi scenari di ricarica nelle soste programmate.</a:t>
            </a:r>
            <a:endParaRPr sz="2800" dirty="0">
              <a:latin typeface="Calibri"/>
              <a:cs typeface="Calibri"/>
            </a:endParaRPr>
          </a:p>
        </p:txBody>
      </p:sp>
      <p:sp>
        <p:nvSpPr>
          <p:cNvPr id="24" name="object 4">
            <a:extLst>
              <a:ext uri="{FF2B5EF4-FFF2-40B4-BE49-F238E27FC236}">
                <a16:creationId xmlns:a16="http://schemas.microsoft.com/office/drawing/2014/main" id="{EB329C48-C0E0-4087-80BD-802D1546C640}"/>
              </a:ext>
            </a:extLst>
          </p:cNvPr>
          <p:cNvSpPr/>
          <p:nvPr/>
        </p:nvSpPr>
        <p:spPr>
          <a:xfrm>
            <a:off x="948683" y="440267"/>
            <a:ext cx="45719" cy="2497477"/>
          </a:xfrm>
          <a:custGeom>
            <a:avLst/>
            <a:gdLst/>
            <a:ahLst/>
            <a:cxnLst/>
            <a:rect l="l" t="t" r="r" b="b"/>
            <a:pathLst>
              <a:path h="9753600">
                <a:moveTo>
                  <a:pt x="0" y="9753600"/>
                </a:moveTo>
                <a:lnTo>
                  <a:pt x="0" y="0"/>
                </a:lnTo>
              </a:path>
            </a:pathLst>
          </a:custGeom>
          <a:ln w="50800">
            <a:solidFill>
              <a:srgbClr val="1A63A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10">
            <a:extLst>
              <a:ext uri="{FF2B5EF4-FFF2-40B4-BE49-F238E27FC236}">
                <a16:creationId xmlns:a16="http://schemas.microsoft.com/office/drawing/2014/main" id="{F42E7727-E597-40BF-A6F8-EE13C81AD712}"/>
              </a:ext>
            </a:extLst>
          </p:cNvPr>
          <p:cNvSpPr txBox="1">
            <a:spLocks/>
          </p:cNvSpPr>
          <p:nvPr/>
        </p:nvSpPr>
        <p:spPr>
          <a:xfrm>
            <a:off x="1274445" y="3369923"/>
            <a:ext cx="15540355" cy="690288"/>
          </a:xfrm>
          <a:prstGeom prst="rect">
            <a:avLst/>
          </a:prstGeom>
        </p:spPr>
        <p:txBody>
          <a:bodyPr vert="horz" wrap="square" lIns="0" tIns="96872" rIns="0" bIns="0" rtlCol="0">
            <a:spAutoFit/>
          </a:bodyPr>
          <a:lstStyle>
            <a:lvl1pPr>
              <a:defRPr sz="4150" b="0" i="0">
                <a:solidFill>
                  <a:srgbClr val="08486E"/>
                </a:solidFill>
                <a:latin typeface="Arial MT"/>
                <a:ea typeface="+mj-ea"/>
                <a:cs typeface="Arial MT"/>
              </a:defRPr>
            </a:lvl1pPr>
          </a:lstStyle>
          <a:p>
            <a:pPr>
              <a:spcBef>
                <a:spcPts val="135"/>
              </a:spcBef>
            </a:pPr>
            <a:r>
              <a:rPr lang="it-IT" sz="3850" b="1" spc="50" dirty="0">
                <a:solidFill>
                  <a:srgbClr val="1A63A2"/>
                </a:solidFill>
              </a:rPr>
              <a:t>Focus sulla linea 973</a:t>
            </a:r>
            <a:endParaRPr lang="it-IT" sz="3850" dirty="0"/>
          </a:p>
        </p:txBody>
      </p:sp>
      <p:sp>
        <p:nvSpPr>
          <p:cNvPr id="26" name="object 11">
            <a:extLst>
              <a:ext uri="{FF2B5EF4-FFF2-40B4-BE49-F238E27FC236}">
                <a16:creationId xmlns:a16="http://schemas.microsoft.com/office/drawing/2014/main" id="{5BD4C911-A5D8-438C-824F-02360D411A2B}"/>
              </a:ext>
            </a:extLst>
          </p:cNvPr>
          <p:cNvSpPr txBox="1"/>
          <p:nvPr/>
        </p:nvSpPr>
        <p:spPr>
          <a:xfrm>
            <a:off x="1274444" y="4178842"/>
            <a:ext cx="15006955" cy="1649811"/>
          </a:xfrm>
          <a:prstGeom prst="rect">
            <a:avLst/>
          </a:prstGeom>
        </p:spPr>
        <p:txBody>
          <a:bodyPr vert="horz" wrap="square" lIns="0" tIns="59055" rIns="0" bIns="0" rtlCol="0">
            <a:spAutoFit/>
          </a:bodyPr>
          <a:lstStyle/>
          <a:p>
            <a:pPr marL="28575" marR="17780" indent="-3810" algn="just">
              <a:lnSpc>
                <a:spcPts val="3100"/>
              </a:lnSpc>
              <a:spcBef>
                <a:spcPts val="465"/>
              </a:spcBef>
            </a:pPr>
            <a:r>
              <a:rPr lang="it-IT" sz="2800" dirty="0">
                <a:latin typeface="Calibri"/>
                <a:cs typeface="Calibri"/>
              </a:rPr>
              <a:t>La linea 973 (</a:t>
            </a:r>
            <a:r>
              <a:rPr lang="it-IT" sz="2800" dirty="0">
                <a:solidFill>
                  <a:srgbClr val="1A63A2"/>
                </a:solidFill>
                <a:latin typeface="Calibri"/>
                <a:cs typeface="Calibri"/>
              </a:rPr>
              <a:t>Milano P.za Cinque Giornate </a:t>
            </a:r>
            <a:r>
              <a:rPr lang="it-IT" sz="2800" dirty="0">
                <a:solidFill>
                  <a:schemeClr val="tx1"/>
                </a:solidFill>
                <a:latin typeface="Calibri"/>
                <a:cs typeface="Calibri"/>
              </a:rPr>
              <a:t>-</a:t>
            </a:r>
            <a:r>
              <a:rPr lang="it-IT" sz="2800" dirty="0">
                <a:solidFill>
                  <a:srgbClr val="1A63A2"/>
                </a:solidFill>
                <a:latin typeface="Calibri"/>
                <a:cs typeface="Calibri"/>
              </a:rPr>
              <a:t> Linate Aeroporto </a:t>
            </a:r>
            <a:r>
              <a:rPr lang="it-IT" sz="2800" dirty="0">
                <a:solidFill>
                  <a:schemeClr val="tx1"/>
                </a:solidFill>
                <a:latin typeface="Calibri"/>
                <a:cs typeface="Calibri"/>
              </a:rPr>
              <a:t>-</a:t>
            </a:r>
            <a:r>
              <a:rPr lang="it-IT" sz="2800" dirty="0">
                <a:solidFill>
                  <a:srgbClr val="1A63A2"/>
                </a:solidFill>
                <a:latin typeface="Calibri"/>
                <a:cs typeface="Calibri"/>
              </a:rPr>
              <a:t> San Felicino</a:t>
            </a:r>
            <a:r>
              <a:rPr lang="it-IT" sz="2800" dirty="0">
                <a:latin typeface="Calibri"/>
                <a:cs typeface="Calibri"/>
              </a:rPr>
              <a:t>) sostituisce la vecchia linea 73, ed è stata scelta perché presenta caratteristiche ideali per il WPT, principalmente grazie a ampie porzioni del percorso su corsie preferenziali che garantiscono regolarità del moto e facilità di allineamento ai </a:t>
            </a:r>
            <a:r>
              <a:rPr lang="it-IT" sz="2800" dirty="0" err="1">
                <a:latin typeface="Calibri"/>
                <a:cs typeface="Calibri"/>
              </a:rPr>
              <a:t>pad</a:t>
            </a:r>
            <a:r>
              <a:rPr lang="it-IT" sz="2800" dirty="0">
                <a:latin typeface="Calibri"/>
                <a:cs typeface="Calibri"/>
              </a:rPr>
              <a:t> nei capolinea.</a:t>
            </a:r>
            <a:endParaRPr sz="2800" dirty="0">
              <a:latin typeface="Calibri"/>
              <a:cs typeface="Calibri"/>
            </a:endParaRPr>
          </a:p>
        </p:txBody>
      </p:sp>
      <p:sp>
        <p:nvSpPr>
          <p:cNvPr id="27" name="object 4">
            <a:extLst>
              <a:ext uri="{FF2B5EF4-FFF2-40B4-BE49-F238E27FC236}">
                <a16:creationId xmlns:a16="http://schemas.microsoft.com/office/drawing/2014/main" id="{37627165-E109-4E41-9A70-272F3CA12F3A}"/>
              </a:ext>
            </a:extLst>
          </p:cNvPr>
          <p:cNvSpPr/>
          <p:nvPr/>
        </p:nvSpPr>
        <p:spPr>
          <a:xfrm>
            <a:off x="953127" y="3505390"/>
            <a:ext cx="45719" cy="2088548"/>
          </a:xfrm>
          <a:custGeom>
            <a:avLst/>
            <a:gdLst/>
            <a:ahLst/>
            <a:cxnLst/>
            <a:rect l="l" t="t" r="r" b="b"/>
            <a:pathLst>
              <a:path h="9753600">
                <a:moveTo>
                  <a:pt x="0" y="9753600"/>
                </a:moveTo>
                <a:lnTo>
                  <a:pt x="0" y="0"/>
                </a:lnTo>
              </a:path>
            </a:pathLst>
          </a:custGeom>
          <a:ln w="50800">
            <a:solidFill>
              <a:srgbClr val="1A63A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295FC70A-56B0-4535-8788-70553DACE0C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7190" b="3104"/>
          <a:stretch/>
        </p:blipFill>
        <p:spPr>
          <a:xfrm>
            <a:off x="3667726" y="6019800"/>
            <a:ext cx="10139748" cy="3380729"/>
          </a:xfrm>
          <a:prstGeom prst="rect">
            <a:avLst/>
          </a:prstGeom>
          <a:effectLst>
            <a:softEdge rad="254000"/>
          </a:effectLst>
        </p:spPr>
      </p:pic>
    </p:spTree>
    <p:extLst>
      <p:ext uri="{BB962C8B-B14F-4D97-AF65-F5344CB8AC3E}">
        <p14:creationId xmlns:p14="http://schemas.microsoft.com/office/powerpoint/2010/main" val="1366507144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498600" y="3975100"/>
            <a:ext cx="2286000" cy="227330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229100" y="4902200"/>
            <a:ext cx="889000" cy="40640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588000" y="3975100"/>
            <a:ext cx="2286000" cy="227330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8305800" y="4902200"/>
            <a:ext cx="889000" cy="406400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9639300" y="3975100"/>
            <a:ext cx="2286000" cy="2273300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2369800" y="4902200"/>
            <a:ext cx="889000" cy="406400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3703300" y="3962400"/>
            <a:ext cx="2286000" cy="2286000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1270001" y="1691321"/>
            <a:ext cx="15291213" cy="1280479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12700" marR="5080" indent="10795" algn="just">
              <a:lnSpc>
                <a:spcPts val="3200"/>
              </a:lnSpc>
              <a:spcBef>
                <a:spcPts val="385"/>
              </a:spcBef>
            </a:pPr>
            <a:r>
              <a:rPr sz="2800" dirty="0">
                <a:latin typeface="Calibri"/>
                <a:cs typeface="Calibri"/>
              </a:rPr>
              <a:t>Per</a:t>
            </a:r>
            <a:r>
              <a:rPr sz="2800" spc="-165" dirty="0">
                <a:latin typeface="Calibri"/>
                <a:cs typeface="Calibri"/>
              </a:rPr>
              <a:t> </a:t>
            </a:r>
            <a:r>
              <a:rPr sz="2800" spc="-55" dirty="0">
                <a:latin typeface="Calibri"/>
                <a:cs typeface="Calibri"/>
              </a:rPr>
              <a:t>garantire</a:t>
            </a:r>
            <a:r>
              <a:rPr sz="2800" spc="-10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la</a:t>
            </a:r>
            <a:r>
              <a:rPr sz="2800" spc="-165" dirty="0">
                <a:latin typeface="Calibri"/>
                <a:cs typeface="Calibri"/>
              </a:rPr>
              <a:t> </a:t>
            </a:r>
            <a:r>
              <a:rPr sz="2800" spc="-45" dirty="0" err="1">
                <a:latin typeface="Calibri"/>
                <a:cs typeface="Calibri"/>
              </a:rPr>
              <a:t>massima</a:t>
            </a:r>
            <a:r>
              <a:rPr sz="2800" spc="-75" dirty="0">
                <a:latin typeface="Calibri"/>
                <a:cs typeface="Calibri"/>
              </a:rPr>
              <a:t> </a:t>
            </a:r>
            <a:r>
              <a:rPr sz="2800" spc="-45" dirty="0" err="1">
                <a:latin typeface="Calibri"/>
                <a:cs typeface="Calibri"/>
              </a:rPr>
              <a:t>accuratezza</a:t>
            </a:r>
            <a:r>
              <a:rPr lang="it-IT" sz="2800" spc="-45" dirty="0">
                <a:latin typeface="Calibri"/>
                <a:cs typeface="Calibri"/>
              </a:rPr>
              <a:t> è stato </a:t>
            </a:r>
            <a:r>
              <a:rPr sz="2800" spc="-35" dirty="0" err="1">
                <a:latin typeface="Calibri"/>
                <a:cs typeface="Calibri"/>
              </a:rPr>
              <a:t>costruito</a:t>
            </a:r>
            <a:r>
              <a:rPr sz="2800" spc="-5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un</a:t>
            </a:r>
            <a:r>
              <a:rPr sz="2800" spc="-135" dirty="0">
                <a:latin typeface="Calibri"/>
                <a:cs typeface="Calibri"/>
              </a:rPr>
              <a:t> </a:t>
            </a:r>
            <a:r>
              <a:rPr sz="2800" spc="-55" dirty="0">
                <a:latin typeface="Calibri"/>
                <a:cs typeface="Calibri"/>
              </a:rPr>
              <a:t>modello</a:t>
            </a:r>
            <a:r>
              <a:rPr sz="2800" spc="-6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digitale </a:t>
            </a:r>
            <a:r>
              <a:rPr sz="2800" dirty="0">
                <a:latin typeface="Calibri"/>
                <a:cs typeface="Calibri"/>
              </a:rPr>
              <a:t>completo</a:t>
            </a:r>
            <a:r>
              <a:rPr sz="2800" spc="39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della</a:t>
            </a:r>
            <a:r>
              <a:rPr sz="2800" spc="3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linea</a:t>
            </a:r>
            <a:r>
              <a:rPr sz="2800" spc="36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973</a:t>
            </a:r>
            <a:r>
              <a:rPr sz="2800" spc="29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in</a:t>
            </a:r>
            <a:r>
              <a:rPr sz="2800" spc="3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ambiente</a:t>
            </a:r>
            <a:r>
              <a:rPr sz="2800" spc="43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MATLAB,</a:t>
            </a:r>
            <a:r>
              <a:rPr sz="2800" spc="33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basato</a:t>
            </a:r>
            <a:r>
              <a:rPr sz="2800" spc="4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su</a:t>
            </a:r>
            <a:r>
              <a:rPr sz="2800" spc="305" dirty="0">
                <a:latin typeface="Calibri"/>
                <a:cs typeface="Calibri"/>
              </a:rPr>
              <a:t> </a:t>
            </a:r>
            <a:r>
              <a:rPr sz="2800" dirty="0" err="1">
                <a:latin typeface="Calibri"/>
                <a:cs typeface="Calibri"/>
              </a:rPr>
              <a:t>dati</a:t>
            </a:r>
            <a:r>
              <a:rPr sz="2800" spc="335" dirty="0">
                <a:latin typeface="Calibri"/>
                <a:cs typeface="Calibri"/>
              </a:rPr>
              <a:t> </a:t>
            </a:r>
            <a:r>
              <a:rPr sz="2800" dirty="0" err="1">
                <a:latin typeface="Calibri"/>
                <a:cs typeface="Calibri"/>
              </a:rPr>
              <a:t>cinematici</a:t>
            </a:r>
            <a:r>
              <a:rPr lang="it-IT" sz="2800" spc="420" dirty="0">
                <a:latin typeface="Calibri"/>
                <a:cs typeface="Calibri"/>
              </a:rPr>
              <a:t> </a:t>
            </a:r>
            <a:r>
              <a:rPr sz="2800" spc="-30" dirty="0" err="1">
                <a:latin typeface="Calibri"/>
                <a:cs typeface="Calibri"/>
              </a:rPr>
              <a:t>raccolti</a:t>
            </a:r>
            <a:r>
              <a:rPr sz="2800" spc="-50" dirty="0">
                <a:latin typeface="Calibri"/>
                <a:cs typeface="Calibri"/>
              </a:rPr>
              <a:t> </a:t>
            </a:r>
            <a:r>
              <a:rPr sz="2800" spc="-90" dirty="0">
                <a:latin typeface="Calibri"/>
                <a:cs typeface="Calibri"/>
              </a:rPr>
              <a:t>direttamente</a:t>
            </a:r>
            <a:r>
              <a:rPr sz="2800" spc="35" dirty="0">
                <a:latin typeface="Calibri"/>
                <a:cs typeface="Calibri"/>
              </a:rPr>
              <a:t> </a:t>
            </a:r>
            <a:r>
              <a:rPr sz="2800" dirty="0" err="1">
                <a:latin typeface="Calibri"/>
                <a:cs typeface="Calibri"/>
              </a:rPr>
              <a:t>sul</a:t>
            </a:r>
            <a:r>
              <a:rPr sz="2800" spc="-16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campo</a:t>
            </a:r>
            <a:r>
              <a:rPr lang="it-IT" sz="2800" spc="-10" dirty="0">
                <a:latin typeface="Calibri"/>
                <a:cs typeface="Calibri"/>
              </a:rPr>
              <a:t> e alcuni parametri medi ricavati dalla letteratura già esistente per modellare il veicolo e la sua dinamica.</a:t>
            </a:r>
            <a:endParaRPr sz="2800" dirty="0">
              <a:latin typeface="Calibri"/>
              <a:cs typeface="Calibri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061499" y="6496050"/>
            <a:ext cx="3129915" cy="764312"/>
          </a:xfrm>
          <a:prstGeom prst="rect">
            <a:avLst/>
          </a:prstGeom>
        </p:spPr>
        <p:txBody>
          <a:bodyPr vert="horz" wrap="square" lIns="0" tIns="45720" rIns="0" bIns="0" rtlCol="0">
            <a:spAutoFit/>
          </a:bodyPr>
          <a:lstStyle/>
          <a:p>
            <a:pPr marL="295910" marR="255904" algn="ctr">
              <a:lnSpc>
                <a:spcPts val="2800"/>
              </a:lnSpc>
              <a:spcBef>
                <a:spcPts val="360"/>
              </a:spcBef>
            </a:pPr>
            <a:r>
              <a:rPr sz="2500" b="1" spc="215" dirty="0">
                <a:latin typeface="Calibri"/>
                <a:cs typeface="Calibri"/>
              </a:rPr>
              <a:t>Raccolta</a:t>
            </a:r>
            <a:r>
              <a:rPr sz="2500" b="1" spc="140" dirty="0">
                <a:latin typeface="Calibri"/>
                <a:cs typeface="Calibri"/>
              </a:rPr>
              <a:t> </a:t>
            </a:r>
            <a:r>
              <a:rPr sz="2500" b="1" spc="220" dirty="0">
                <a:latin typeface="Calibri"/>
                <a:cs typeface="Calibri"/>
              </a:rPr>
              <a:t>Dati</a:t>
            </a:r>
            <a:r>
              <a:rPr sz="2500" b="1" spc="-40" dirty="0">
                <a:latin typeface="Calibri"/>
                <a:cs typeface="Calibri"/>
              </a:rPr>
              <a:t> </a:t>
            </a:r>
            <a:r>
              <a:rPr sz="2500" b="1" spc="185" dirty="0" err="1">
                <a:latin typeface="Calibri"/>
                <a:cs typeface="Calibri"/>
              </a:rPr>
              <a:t>sul</a:t>
            </a:r>
            <a:r>
              <a:rPr sz="2500" b="1" spc="185" dirty="0">
                <a:latin typeface="Calibri"/>
                <a:cs typeface="Calibri"/>
              </a:rPr>
              <a:t> </a:t>
            </a:r>
            <a:r>
              <a:rPr sz="2500" b="1" spc="270" dirty="0">
                <a:latin typeface="Calibri"/>
                <a:cs typeface="Calibri"/>
              </a:rPr>
              <a:t>Campo</a:t>
            </a:r>
            <a:endParaRPr sz="2500" b="1" dirty="0">
              <a:latin typeface="Calibri"/>
              <a:cs typeface="Calibri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176299" y="6362357"/>
            <a:ext cx="3099435" cy="534762"/>
          </a:xfrm>
          <a:prstGeom prst="rect">
            <a:avLst/>
          </a:prstGeom>
        </p:spPr>
        <p:txBody>
          <a:bodyPr vert="horz" wrap="square" lIns="0" tIns="13335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50"/>
              </a:spcBef>
            </a:pPr>
            <a:r>
              <a:rPr sz="2600" b="1" spc="130" dirty="0" err="1">
                <a:latin typeface="Calibri"/>
                <a:cs typeface="Calibri"/>
              </a:rPr>
              <a:t>Elaborazione</a:t>
            </a:r>
            <a:r>
              <a:rPr sz="2600" b="1" spc="170" dirty="0">
                <a:latin typeface="Calibri"/>
                <a:cs typeface="Calibri"/>
              </a:rPr>
              <a:t> </a:t>
            </a:r>
            <a:r>
              <a:rPr sz="2600" b="1" spc="155" dirty="0" err="1">
                <a:latin typeface="Calibri"/>
                <a:cs typeface="Calibri"/>
              </a:rPr>
              <a:t>Dati</a:t>
            </a:r>
            <a:endParaRPr sz="2600" b="1" dirty="0">
              <a:latin typeface="Calibri"/>
              <a:cs typeface="Calibri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9130784" y="6404263"/>
            <a:ext cx="3284854" cy="511678"/>
          </a:xfrm>
          <a:prstGeom prst="rect">
            <a:avLst/>
          </a:prstGeom>
        </p:spPr>
        <p:txBody>
          <a:bodyPr vert="horz" wrap="square" lIns="0" tIns="110489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869"/>
              </a:spcBef>
            </a:pPr>
            <a:r>
              <a:rPr sz="2600" b="1" spc="130" dirty="0" err="1">
                <a:latin typeface="Calibri"/>
                <a:cs typeface="Calibri"/>
              </a:rPr>
              <a:t>Modello</a:t>
            </a:r>
            <a:r>
              <a:rPr sz="2600" b="1" spc="130" dirty="0">
                <a:latin typeface="Calibri"/>
                <a:cs typeface="Calibri"/>
              </a:rPr>
              <a:t> </a:t>
            </a:r>
            <a:r>
              <a:rPr sz="2600" b="1" spc="130" dirty="0" err="1">
                <a:latin typeface="Calibri"/>
                <a:cs typeface="Calibri"/>
              </a:rPr>
              <a:t>Energetico</a:t>
            </a:r>
            <a:endParaRPr sz="2600" b="1" spc="130" dirty="0">
              <a:latin typeface="Calibri"/>
              <a:cs typeface="Calibri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3282637" y="6502400"/>
            <a:ext cx="3100705" cy="8130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spcBef>
                <a:spcPts val="869"/>
              </a:spcBef>
            </a:pPr>
            <a:r>
              <a:rPr sz="2600" b="1" spc="130" dirty="0" err="1">
                <a:latin typeface="Calibri"/>
                <a:cs typeface="Calibri"/>
              </a:rPr>
              <a:t>Simulazione</a:t>
            </a:r>
            <a:r>
              <a:rPr sz="2600" b="1" spc="130" dirty="0">
                <a:latin typeface="Calibri"/>
                <a:cs typeface="Calibri"/>
              </a:rPr>
              <a:t> </a:t>
            </a:r>
            <a:r>
              <a:rPr sz="2600" b="1" spc="130" dirty="0" err="1">
                <a:latin typeface="Calibri"/>
                <a:cs typeface="Calibri"/>
              </a:rPr>
              <a:t>Scenari</a:t>
            </a:r>
            <a:r>
              <a:rPr lang="it-IT" sz="2600" b="1" spc="130" dirty="0">
                <a:latin typeface="Calibri"/>
                <a:cs typeface="Calibri"/>
              </a:rPr>
              <a:t> WPT</a:t>
            </a:r>
            <a:endParaRPr sz="2600" b="1" spc="130" dirty="0">
              <a:latin typeface="Calibri"/>
              <a:cs typeface="Calibri"/>
            </a:endParaRPr>
          </a:p>
        </p:txBody>
      </p:sp>
      <p:sp>
        <p:nvSpPr>
          <p:cNvPr id="18" name="object 10">
            <a:extLst>
              <a:ext uri="{FF2B5EF4-FFF2-40B4-BE49-F238E27FC236}">
                <a16:creationId xmlns:a16="http://schemas.microsoft.com/office/drawing/2014/main" id="{DDB4A55B-1735-4F57-9B5B-B77331538059}"/>
              </a:ext>
            </a:extLst>
          </p:cNvPr>
          <p:cNvSpPr txBox="1">
            <a:spLocks/>
          </p:cNvSpPr>
          <p:nvPr/>
        </p:nvSpPr>
        <p:spPr>
          <a:xfrm>
            <a:off x="1270001" y="872594"/>
            <a:ext cx="14399274" cy="690288"/>
          </a:xfrm>
          <a:prstGeom prst="rect">
            <a:avLst/>
          </a:prstGeom>
        </p:spPr>
        <p:txBody>
          <a:bodyPr vert="horz" wrap="square" lIns="0" tIns="96872" rIns="0" bIns="0" rtlCol="0">
            <a:spAutoFit/>
          </a:bodyPr>
          <a:lstStyle>
            <a:lvl1pPr>
              <a:defRPr sz="4150" b="0" i="0">
                <a:solidFill>
                  <a:srgbClr val="08486E"/>
                </a:solidFill>
                <a:latin typeface="Arial MT"/>
                <a:ea typeface="+mj-ea"/>
                <a:cs typeface="Arial MT"/>
              </a:defRPr>
            </a:lvl1pPr>
          </a:lstStyle>
          <a:p>
            <a:pPr>
              <a:spcBef>
                <a:spcPts val="135"/>
              </a:spcBef>
            </a:pPr>
            <a:r>
              <a:rPr lang="it-IT" sz="3850" b="1" spc="50" dirty="0">
                <a:solidFill>
                  <a:srgbClr val="1A63A2"/>
                </a:solidFill>
              </a:rPr>
              <a:t>Approccio</a:t>
            </a:r>
            <a:endParaRPr lang="it-IT" sz="3850" dirty="0"/>
          </a:p>
        </p:txBody>
      </p:sp>
      <p:sp>
        <p:nvSpPr>
          <p:cNvPr id="19" name="object 4">
            <a:extLst>
              <a:ext uri="{FF2B5EF4-FFF2-40B4-BE49-F238E27FC236}">
                <a16:creationId xmlns:a16="http://schemas.microsoft.com/office/drawing/2014/main" id="{F113988A-E3C3-47EE-9271-32677EFEF36C}"/>
              </a:ext>
            </a:extLst>
          </p:cNvPr>
          <p:cNvSpPr/>
          <p:nvPr/>
        </p:nvSpPr>
        <p:spPr>
          <a:xfrm>
            <a:off x="948683" y="1008062"/>
            <a:ext cx="112816" cy="1962150"/>
          </a:xfrm>
          <a:custGeom>
            <a:avLst/>
            <a:gdLst/>
            <a:ahLst/>
            <a:cxnLst/>
            <a:rect l="l" t="t" r="r" b="b"/>
            <a:pathLst>
              <a:path h="9753600">
                <a:moveTo>
                  <a:pt x="0" y="9753600"/>
                </a:moveTo>
                <a:lnTo>
                  <a:pt x="0" y="0"/>
                </a:lnTo>
              </a:path>
            </a:pathLst>
          </a:custGeom>
          <a:ln w="50800">
            <a:solidFill>
              <a:srgbClr val="1A63A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11">
            <a:extLst>
              <a:ext uri="{FF2B5EF4-FFF2-40B4-BE49-F238E27FC236}">
                <a16:creationId xmlns:a16="http://schemas.microsoft.com/office/drawing/2014/main" id="{F99E6844-2DFC-43CF-9A2B-8815DBDB99E7}"/>
              </a:ext>
            </a:extLst>
          </p:cNvPr>
          <p:cNvSpPr txBox="1"/>
          <p:nvPr/>
        </p:nvSpPr>
        <p:spPr>
          <a:xfrm>
            <a:off x="1054572" y="7700665"/>
            <a:ext cx="3129915" cy="666016"/>
          </a:xfrm>
          <a:prstGeom prst="rect">
            <a:avLst/>
          </a:prstGeom>
        </p:spPr>
        <p:txBody>
          <a:bodyPr vert="horz" wrap="square" lIns="0" tIns="45720" rIns="0" bIns="0" rtlCol="0">
            <a:spAutoFit/>
          </a:bodyPr>
          <a:lstStyle/>
          <a:p>
            <a:pPr marL="12700" marR="5080" algn="ctr">
              <a:lnSpc>
                <a:spcPts val="2400"/>
              </a:lnSpc>
              <a:spcBef>
                <a:spcPts val="919"/>
              </a:spcBef>
            </a:pPr>
            <a:r>
              <a:rPr sz="2400" spc="-85" dirty="0" err="1">
                <a:latin typeface="Calibri"/>
                <a:cs typeface="Calibri"/>
              </a:rPr>
              <a:t>Acquisizione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spc="-95" dirty="0">
                <a:latin typeface="Calibri"/>
                <a:cs typeface="Calibri"/>
              </a:rPr>
              <a:t>dati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spc="-120" dirty="0" err="1">
                <a:latin typeface="Calibri"/>
                <a:cs typeface="Calibri"/>
              </a:rPr>
              <a:t>cinematici</a:t>
            </a:r>
            <a:r>
              <a:rPr sz="2400" spc="-120" dirty="0">
                <a:latin typeface="Calibri"/>
                <a:cs typeface="Calibri"/>
              </a:rPr>
              <a:t> </a:t>
            </a:r>
            <a:r>
              <a:rPr sz="2400" spc="-95" dirty="0">
                <a:latin typeface="Calibri"/>
                <a:cs typeface="Calibri"/>
              </a:rPr>
              <a:t>con</a:t>
            </a:r>
            <a:r>
              <a:rPr sz="2400" spc="-80" dirty="0">
                <a:latin typeface="Calibri"/>
                <a:cs typeface="Calibri"/>
              </a:rPr>
              <a:t> </a:t>
            </a:r>
            <a:r>
              <a:rPr sz="2400" spc="-125" dirty="0">
                <a:latin typeface="Calibri"/>
                <a:cs typeface="Calibri"/>
              </a:rPr>
              <a:t>frequenza</a:t>
            </a:r>
            <a:r>
              <a:rPr sz="2400" spc="45" dirty="0">
                <a:latin typeface="Calibri"/>
                <a:cs typeface="Calibri"/>
              </a:rPr>
              <a:t> </a:t>
            </a:r>
            <a:r>
              <a:rPr sz="2400" spc="-110" dirty="0">
                <a:latin typeface="Calibri"/>
                <a:cs typeface="Calibri"/>
              </a:rPr>
              <a:t>fino</a:t>
            </a:r>
            <a:r>
              <a:rPr sz="2400" spc="25" dirty="0">
                <a:latin typeface="Calibri"/>
                <a:cs typeface="Calibri"/>
              </a:rPr>
              <a:t> </a:t>
            </a:r>
            <a:r>
              <a:rPr sz="2400" spc="-50" dirty="0">
                <a:latin typeface="Calibri"/>
                <a:cs typeface="Calibri"/>
              </a:rPr>
              <a:t>a </a:t>
            </a:r>
            <a:r>
              <a:rPr sz="2400" spc="-20" dirty="0">
                <a:latin typeface="Calibri"/>
                <a:cs typeface="Calibri"/>
              </a:rPr>
              <a:t>20</a:t>
            </a:r>
            <a:r>
              <a:rPr sz="2400" spc="-114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Hz</a:t>
            </a:r>
            <a:endParaRPr sz="2400" dirty="0">
              <a:latin typeface="Calibri"/>
              <a:cs typeface="Calibri"/>
            </a:endParaRPr>
          </a:p>
        </p:txBody>
      </p:sp>
      <p:sp>
        <p:nvSpPr>
          <p:cNvPr id="21" name="object 11">
            <a:extLst>
              <a:ext uri="{FF2B5EF4-FFF2-40B4-BE49-F238E27FC236}">
                <a16:creationId xmlns:a16="http://schemas.microsoft.com/office/drawing/2014/main" id="{37D51B1D-1D1E-40E8-86D8-25EF872C8F6F}"/>
              </a:ext>
            </a:extLst>
          </p:cNvPr>
          <p:cNvSpPr txBox="1"/>
          <p:nvPr/>
        </p:nvSpPr>
        <p:spPr>
          <a:xfrm>
            <a:off x="5210935" y="7546776"/>
            <a:ext cx="3129915" cy="973793"/>
          </a:xfrm>
          <a:prstGeom prst="rect">
            <a:avLst/>
          </a:prstGeom>
        </p:spPr>
        <p:txBody>
          <a:bodyPr vert="horz" wrap="square" lIns="0" tIns="45720" rIns="0" bIns="0" rtlCol="0">
            <a:spAutoFit/>
          </a:bodyPr>
          <a:lstStyle/>
          <a:p>
            <a:pPr marL="12065" marR="5080" algn="ctr">
              <a:lnSpc>
                <a:spcPts val="2400"/>
              </a:lnSpc>
              <a:spcBef>
                <a:spcPts val="1360"/>
              </a:spcBef>
            </a:pPr>
            <a:r>
              <a:rPr lang="it-IT" sz="2400" spc="-105" dirty="0">
                <a:latin typeface="Calibri"/>
                <a:cs typeface="Calibri"/>
              </a:rPr>
              <a:t>Algoritmi</a:t>
            </a:r>
            <a:r>
              <a:rPr lang="it-IT" sz="2400" spc="-5" dirty="0">
                <a:latin typeface="Calibri"/>
                <a:cs typeface="Calibri"/>
              </a:rPr>
              <a:t> </a:t>
            </a:r>
            <a:r>
              <a:rPr lang="it-IT" sz="2400" spc="-145" dirty="0">
                <a:latin typeface="Calibri"/>
                <a:cs typeface="Calibri"/>
              </a:rPr>
              <a:t>per</a:t>
            </a:r>
            <a:r>
              <a:rPr lang="it-IT" sz="2400" spc="-50" dirty="0">
                <a:latin typeface="Calibri"/>
                <a:cs typeface="Calibri"/>
              </a:rPr>
              <a:t> </a:t>
            </a:r>
            <a:r>
              <a:rPr lang="it-IT" sz="2400" spc="-105" dirty="0">
                <a:latin typeface="Calibri"/>
                <a:cs typeface="Calibri"/>
              </a:rPr>
              <a:t>identificare</a:t>
            </a:r>
            <a:r>
              <a:rPr lang="it-IT" sz="2400" spc="95" dirty="0">
                <a:latin typeface="Calibri"/>
                <a:cs typeface="Calibri"/>
              </a:rPr>
              <a:t> </a:t>
            </a:r>
            <a:r>
              <a:rPr lang="it-IT" sz="2400" spc="-35" dirty="0">
                <a:latin typeface="Calibri"/>
                <a:cs typeface="Calibri"/>
              </a:rPr>
              <a:t>le </a:t>
            </a:r>
            <a:r>
              <a:rPr lang="it-IT" sz="2400" spc="-114" dirty="0">
                <a:latin typeface="Calibri"/>
                <a:cs typeface="Calibri"/>
              </a:rPr>
              <a:t>soste</a:t>
            </a:r>
            <a:r>
              <a:rPr lang="it-IT" sz="2400" spc="-20" dirty="0">
                <a:latin typeface="Calibri"/>
                <a:cs typeface="Calibri"/>
              </a:rPr>
              <a:t> </a:t>
            </a:r>
            <a:r>
              <a:rPr lang="it-IT" sz="2400" spc="-90" dirty="0">
                <a:latin typeface="Calibri"/>
                <a:cs typeface="Calibri"/>
              </a:rPr>
              <a:t>reali</a:t>
            </a:r>
            <a:r>
              <a:rPr lang="it-IT" sz="2400" spc="-45" dirty="0">
                <a:latin typeface="Calibri"/>
                <a:cs typeface="Calibri"/>
              </a:rPr>
              <a:t> </a:t>
            </a:r>
            <a:r>
              <a:rPr lang="it-IT" sz="2400" spc="-120" dirty="0">
                <a:latin typeface="Calibri"/>
                <a:cs typeface="Calibri"/>
              </a:rPr>
              <a:t>e</a:t>
            </a:r>
            <a:r>
              <a:rPr lang="it-IT" sz="2400" spc="-30" dirty="0">
                <a:latin typeface="Calibri"/>
                <a:cs typeface="Calibri"/>
              </a:rPr>
              <a:t> </a:t>
            </a:r>
            <a:r>
              <a:rPr lang="it-IT" sz="2400" spc="-105" dirty="0">
                <a:latin typeface="Calibri"/>
                <a:cs typeface="Calibri"/>
              </a:rPr>
              <a:t>calcolare</a:t>
            </a:r>
            <a:r>
              <a:rPr lang="it-IT" sz="2400" spc="5" dirty="0">
                <a:latin typeface="Calibri"/>
                <a:cs typeface="Calibri"/>
              </a:rPr>
              <a:t> </a:t>
            </a:r>
            <a:r>
              <a:rPr lang="it-IT" sz="2400" spc="-50" dirty="0">
                <a:solidFill>
                  <a:srgbClr val="161616"/>
                </a:solidFill>
                <a:latin typeface="Calibri"/>
                <a:cs typeface="Calibri"/>
              </a:rPr>
              <a:t>i </a:t>
            </a:r>
            <a:r>
              <a:rPr lang="it-IT" sz="2400" spc="-175" dirty="0">
                <a:latin typeface="Calibri"/>
                <a:cs typeface="Calibri"/>
              </a:rPr>
              <a:t>tempi</a:t>
            </a:r>
            <a:r>
              <a:rPr lang="it-IT" sz="2400" spc="40" dirty="0">
                <a:latin typeface="Calibri"/>
                <a:cs typeface="Calibri"/>
              </a:rPr>
              <a:t> </a:t>
            </a:r>
            <a:r>
              <a:rPr lang="it-IT" sz="2400" spc="-20" dirty="0">
                <a:latin typeface="Calibri"/>
                <a:cs typeface="Calibri"/>
              </a:rPr>
              <a:t>medi</a:t>
            </a:r>
            <a:endParaRPr lang="it-IT" sz="2400" dirty="0">
              <a:latin typeface="Calibri"/>
              <a:cs typeface="Calibri"/>
            </a:endParaRPr>
          </a:p>
        </p:txBody>
      </p:sp>
      <p:sp>
        <p:nvSpPr>
          <p:cNvPr id="23" name="object 11">
            <a:extLst>
              <a:ext uri="{FF2B5EF4-FFF2-40B4-BE49-F238E27FC236}">
                <a16:creationId xmlns:a16="http://schemas.microsoft.com/office/drawing/2014/main" id="{A09F1E2B-2575-458D-AF73-8F987965C4C4}"/>
              </a:ext>
            </a:extLst>
          </p:cNvPr>
          <p:cNvSpPr txBox="1"/>
          <p:nvPr/>
        </p:nvSpPr>
        <p:spPr>
          <a:xfrm>
            <a:off x="9321117" y="7239000"/>
            <a:ext cx="3129915" cy="1589346"/>
          </a:xfrm>
          <a:prstGeom prst="rect">
            <a:avLst/>
          </a:prstGeom>
        </p:spPr>
        <p:txBody>
          <a:bodyPr vert="horz" wrap="square" lIns="0" tIns="45720" rIns="0" bIns="0" rtlCol="0">
            <a:spAutoFit/>
          </a:bodyPr>
          <a:lstStyle/>
          <a:p>
            <a:pPr marL="12065" marR="5080" algn="ctr">
              <a:lnSpc>
                <a:spcPts val="2400"/>
              </a:lnSpc>
              <a:spcBef>
                <a:spcPts val="1360"/>
              </a:spcBef>
            </a:pPr>
            <a:r>
              <a:rPr lang="it-IT" sz="2400" spc="-105" dirty="0">
                <a:latin typeface="Calibri"/>
                <a:cs typeface="Calibri"/>
              </a:rPr>
              <a:t>Calcolo del consumo energetico istantaneo basato sulle caratteristiche del veicolo e del modello dinamico</a:t>
            </a:r>
          </a:p>
        </p:txBody>
      </p:sp>
      <p:sp>
        <p:nvSpPr>
          <p:cNvPr id="24" name="object 11">
            <a:extLst>
              <a:ext uri="{FF2B5EF4-FFF2-40B4-BE49-F238E27FC236}">
                <a16:creationId xmlns:a16="http://schemas.microsoft.com/office/drawing/2014/main" id="{E54B1B61-5E44-469F-81AD-E7BF6DBDA25D}"/>
              </a:ext>
            </a:extLst>
          </p:cNvPr>
          <p:cNvSpPr txBox="1"/>
          <p:nvPr/>
        </p:nvSpPr>
        <p:spPr>
          <a:xfrm>
            <a:off x="13431299" y="7421494"/>
            <a:ext cx="3129915" cy="1281569"/>
          </a:xfrm>
          <a:prstGeom prst="rect">
            <a:avLst/>
          </a:prstGeom>
        </p:spPr>
        <p:txBody>
          <a:bodyPr vert="horz" wrap="square" lIns="0" tIns="45720" rIns="0" bIns="0" rtlCol="0">
            <a:spAutoFit/>
          </a:bodyPr>
          <a:lstStyle/>
          <a:p>
            <a:pPr marL="318135" marR="304165" indent="-635" algn="ctr">
              <a:lnSpc>
                <a:spcPts val="2400"/>
              </a:lnSpc>
              <a:spcBef>
                <a:spcPts val="1019"/>
              </a:spcBef>
            </a:pPr>
            <a:r>
              <a:rPr lang="it-IT" sz="2400" spc="-65" dirty="0">
                <a:latin typeface="Calibri"/>
                <a:cs typeface="Calibri"/>
              </a:rPr>
              <a:t>Verifica</a:t>
            </a:r>
            <a:r>
              <a:rPr lang="it-IT" sz="2400" spc="-15" dirty="0">
                <a:latin typeface="Calibri"/>
                <a:cs typeface="Calibri"/>
              </a:rPr>
              <a:t> </a:t>
            </a:r>
            <a:r>
              <a:rPr lang="it-IT" sz="2400" spc="-40" dirty="0">
                <a:latin typeface="Calibri"/>
                <a:cs typeface="Calibri"/>
              </a:rPr>
              <a:t>del</a:t>
            </a:r>
            <a:r>
              <a:rPr lang="it-IT" sz="2400" spc="-60" dirty="0">
                <a:latin typeface="Calibri"/>
                <a:cs typeface="Calibri"/>
              </a:rPr>
              <a:t> </a:t>
            </a:r>
            <a:r>
              <a:rPr lang="it-IT" sz="2400" spc="-10" dirty="0">
                <a:latin typeface="Calibri"/>
                <a:cs typeface="Calibri"/>
              </a:rPr>
              <a:t>bilancio </a:t>
            </a:r>
            <a:r>
              <a:rPr lang="it-IT" sz="2400" spc="-70" dirty="0">
                <a:latin typeface="Calibri"/>
                <a:cs typeface="Calibri"/>
              </a:rPr>
              <a:t>energetico</a:t>
            </a:r>
            <a:r>
              <a:rPr lang="it-IT" sz="2400" spc="-30" dirty="0">
                <a:latin typeface="Calibri"/>
                <a:cs typeface="Calibri"/>
              </a:rPr>
              <a:t> </a:t>
            </a:r>
            <a:r>
              <a:rPr lang="it-IT" sz="2400" spc="-20" dirty="0">
                <a:latin typeface="Calibri"/>
                <a:cs typeface="Calibri"/>
              </a:rPr>
              <a:t>con</a:t>
            </a:r>
            <a:r>
              <a:rPr lang="it-IT" sz="2400" spc="-110" dirty="0">
                <a:latin typeface="Calibri"/>
                <a:cs typeface="Calibri"/>
              </a:rPr>
              <a:t> </a:t>
            </a:r>
            <a:r>
              <a:rPr lang="it-IT" sz="2400" spc="-55" dirty="0">
                <a:latin typeface="Calibri"/>
                <a:cs typeface="Calibri"/>
              </a:rPr>
              <a:t>diversi </a:t>
            </a:r>
            <a:r>
              <a:rPr lang="it-IT" sz="2400" spc="-65" dirty="0">
                <a:latin typeface="Calibri"/>
                <a:cs typeface="Calibri"/>
              </a:rPr>
              <a:t>scenari</a:t>
            </a:r>
            <a:r>
              <a:rPr lang="it-IT" sz="2400" spc="-10" dirty="0">
                <a:latin typeface="Calibri"/>
                <a:cs typeface="Calibri"/>
              </a:rPr>
              <a:t> di</a:t>
            </a:r>
            <a:r>
              <a:rPr lang="it-IT" sz="2400" spc="-120" dirty="0">
                <a:latin typeface="Calibri"/>
                <a:cs typeface="Calibri"/>
              </a:rPr>
              <a:t> </a:t>
            </a:r>
            <a:r>
              <a:rPr lang="it-IT" sz="2400" spc="-10" dirty="0">
                <a:latin typeface="Calibri"/>
                <a:cs typeface="Calibri"/>
              </a:rPr>
              <a:t>ricarica</a:t>
            </a:r>
            <a:endParaRPr lang="it-IT" sz="2400" dirty="0">
              <a:latin typeface="Calibri"/>
              <a:cs typeface="Calibri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bject 10">
            <a:extLst>
              <a:ext uri="{FF2B5EF4-FFF2-40B4-BE49-F238E27FC236}">
                <a16:creationId xmlns:a16="http://schemas.microsoft.com/office/drawing/2014/main" id="{5C45D80E-4C6C-4715-9BBE-E9FC45C4D9E5}"/>
              </a:ext>
            </a:extLst>
          </p:cNvPr>
          <p:cNvSpPr txBox="1"/>
          <p:nvPr/>
        </p:nvSpPr>
        <p:spPr>
          <a:xfrm>
            <a:off x="1270001" y="1691321"/>
            <a:ext cx="11705935" cy="2203808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12700" marR="5080" indent="10795" algn="just">
              <a:lnSpc>
                <a:spcPts val="3200"/>
              </a:lnSpc>
              <a:spcBef>
                <a:spcPts val="385"/>
              </a:spcBef>
            </a:pPr>
            <a:r>
              <a:rPr lang="it-IT" sz="2800" dirty="0">
                <a:latin typeface="Calibri"/>
                <a:cs typeface="Calibri"/>
              </a:rPr>
              <a:t>È stata condotta una campagna di acquisizione dati a bordo dei bus. Tramite l’applicazione </a:t>
            </a:r>
            <a:r>
              <a:rPr lang="it-IT" sz="2800" dirty="0" err="1">
                <a:latin typeface="Calibri"/>
                <a:cs typeface="Calibri"/>
              </a:rPr>
              <a:t>MatlabMobile</a:t>
            </a:r>
            <a:r>
              <a:rPr lang="it-IT" sz="2800" dirty="0">
                <a:latin typeface="Calibri"/>
                <a:cs typeface="Calibri"/>
              </a:rPr>
              <a:t> sono state campionate per ogni viaggio completo da capolinea a capolinea le seguenti grandezze:</a:t>
            </a:r>
          </a:p>
          <a:p>
            <a:pPr marL="12700" marR="5080" indent="10795" algn="just">
              <a:lnSpc>
                <a:spcPts val="3200"/>
              </a:lnSpc>
              <a:spcBef>
                <a:spcPts val="385"/>
              </a:spcBef>
            </a:pPr>
            <a:r>
              <a:rPr lang="it-IT" sz="2800" b="1" dirty="0">
                <a:solidFill>
                  <a:srgbClr val="1A63A2"/>
                </a:solidFill>
                <a:latin typeface="Calibri"/>
                <a:cs typeface="Calibri"/>
              </a:rPr>
              <a:t>•</a:t>
            </a:r>
            <a:r>
              <a:rPr lang="it-IT" sz="2800" dirty="0">
                <a:latin typeface="Calibri"/>
                <a:cs typeface="Calibri"/>
              </a:rPr>
              <a:t> </a:t>
            </a:r>
            <a:r>
              <a:rPr lang="it-IT" sz="2800" dirty="0">
                <a:solidFill>
                  <a:srgbClr val="1A63A2"/>
                </a:solidFill>
                <a:latin typeface="Calibri"/>
                <a:cs typeface="Calibri"/>
              </a:rPr>
              <a:t>Velocità</a:t>
            </a:r>
            <a:r>
              <a:rPr lang="it-IT" sz="2800" dirty="0">
                <a:latin typeface="Calibri"/>
                <a:cs typeface="Calibri"/>
              </a:rPr>
              <a:t> e </a:t>
            </a:r>
            <a:r>
              <a:rPr lang="it-IT" sz="2800" dirty="0">
                <a:solidFill>
                  <a:srgbClr val="1A63A2"/>
                </a:solidFill>
                <a:latin typeface="Calibri"/>
                <a:cs typeface="Calibri"/>
              </a:rPr>
              <a:t>Posizione</a:t>
            </a:r>
            <a:r>
              <a:rPr lang="it-IT" sz="2800" dirty="0">
                <a:latin typeface="Calibri"/>
                <a:cs typeface="Calibri"/>
              </a:rPr>
              <a:t> (da GPS): </a:t>
            </a:r>
            <a:r>
              <a:rPr lang="it-IT" sz="2800" dirty="0" err="1">
                <a:latin typeface="Calibri"/>
                <a:cs typeface="Calibri"/>
              </a:rPr>
              <a:t>fs</a:t>
            </a:r>
            <a:r>
              <a:rPr lang="it-IT" sz="2800" dirty="0">
                <a:latin typeface="Calibri"/>
                <a:cs typeface="Calibri"/>
              </a:rPr>
              <a:t> = 1 Hz.</a:t>
            </a:r>
          </a:p>
          <a:p>
            <a:pPr marL="12700" marR="5080" indent="10795" algn="just">
              <a:lnSpc>
                <a:spcPts val="3200"/>
              </a:lnSpc>
              <a:spcBef>
                <a:spcPts val="385"/>
              </a:spcBef>
            </a:pPr>
            <a:r>
              <a:rPr lang="it-IT" sz="2800" b="1" dirty="0">
                <a:solidFill>
                  <a:srgbClr val="1A63A2"/>
                </a:solidFill>
                <a:latin typeface="Calibri"/>
                <a:cs typeface="Calibri"/>
              </a:rPr>
              <a:t>•</a:t>
            </a:r>
            <a:r>
              <a:rPr lang="it-IT" sz="2800" dirty="0">
                <a:latin typeface="Calibri"/>
                <a:cs typeface="Calibri"/>
              </a:rPr>
              <a:t> </a:t>
            </a:r>
            <a:r>
              <a:rPr lang="it-IT" sz="2800" dirty="0">
                <a:solidFill>
                  <a:srgbClr val="1A63A2"/>
                </a:solidFill>
                <a:latin typeface="Calibri"/>
                <a:cs typeface="Calibri"/>
              </a:rPr>
              <a:t>Accelerazione</a:t>
            </a:r>
            <a:r>
              <a:rPr lang="it-IT" sz="2800" dirty="0">
                <a:latin typeface="Calibri"/>
                <a:cs typeface="Calibri"/>
              </a:rPr>
              <a:t> (da accelerometro): </a:t>
            </a:r>
            <a:r>
              <a:rPr lang="it-IT" sz="2800" dirty="0" err="1">
                <a:latin typeface="Calibri"/>
                <a:cs typeface="Calibri"/>
              </a:rPr>
              <a:t>fs</a:t>
            </a:r>
            <a:r>
              <a:rPr lang="it-IT" sz="2800" dirty="0">
                <a:latin typeface="Calibri"/>
                <a:cs typeface="Calibri"/>
              </a:rPr>
              <a:t> = 20 Hz.</a:t>
            </a:r>
          </a:p>
        </p:txBody>
      </p:sp>
      <p:sp>
        <p:nvSpPr>
          <p:cNvPr id="12" name="object 10">
            <a:extLst>
              <a:ext uri="{FF2B5EF4-FFF2-40B4-BE49-F238E27FC236}">
                <a16:creationId xmlns:a16="http://schemas.microsoft.com/office/drawing/2014/main" id="{7EF9A695-ACF3-4000-AC94-73144E98EDB5}"/>
              </a:ext>
            </a:extLst>
          </p:cNvPr>
          <p:cNvSpPr txBox="1">
            <a:spLocks/>
          </p:cNvSpPr>
          <p:nvPr/>
        </p:nvSpPr>
        <p:spPr>
          <a:xfrm>
            <a:off x="1270001" y="872594"/>
            <a:ext cx="14399274" cy="690288"/>
          </a:xfrm>
          <a:prstGeom prst="rect">
            <a:avLst/>
          </a:prstGeom>
        </p:spPr>
        <p:txBody>
          <a:bodyPr vert="horz" wrap="square" lIns="0" tIns="96872" rIns="0" bIns="0" rtlCol="0">
            <a:spAutoFit/>
          </a:bodyPr>
          <a:lstStyle>
            <a:lvl1pPr>
              <a:defRPr sz="4150" b="0" i="0">
                <a:solidFill>
                  <a:srgbClr val="08486E"/>
                </a:solidFill>
                <a:latin typeface="Arial MT"/>
                <a:ea typeface="+mj-ea"/>
                <a:cs typeface="Arial MT"/>
              </a:defRPr>
            </a:lvl1pPr>
          </a:lstStyle>
          <a:p>
            <a:pPr>
              <a:spcBef>
                <a:spcPts val="135"/>
              </a:spcBef>
            </a:pPr>
            <a:r>
              <a:rPr lang="it-IT" sz="3850" b="1" spc="50" dirty="0">
                <a:solidFill>
                  <a:srgbClr val="1A63A2"/>
                </a:solidFill>
              </a:rPr>
              <a:t>Raccolta dati</a:t>
            </a:r>
            <a:endParaRPr lang="it-IT" sz="3850" dirty="0"/>
          </a:p>
        </p:txBody>
      </p:sp>
      <p:sp>
        <p:nvSpPr>
          <p:cNvPr id="13" name="object 4">
            <a:extLst>
              <a:ext uri="{FF2B5EF4-FFF2-40B4-BE49-F238E27FC236}">
                <a16:creationId xmlns:a16="http://schemas.microsoft.com/office/drawing/2014/main" id="{D7B77138-FD9D-4F2A-8B64-3BCD2BFABF17}"/>
              </a:ext>
            </a:extLst>
          </p:cNvPr>
          <p:cNvSpPr/>
          <p:nvPr/>
        </p:nvSpPr>
        <p:spPr>
          <a:xfrm>
            <a:off x="916238" y="1008062"/>
            <a:ext cx="201362" cy="3335338"/>
          </a:xfrm>
          <a:custGeom>
            <a:avLst/>
            <a:gdLst/>
            <a:ahLst/>
            <a:cxnLst/>
            <a:rect l="l" t="t" r="r" b="b"/>
            <a:pathLst>
              <a:path h="9753600">
                <a:moveTo>
                  <a:pt x="0" y="9753600"/>
                </a:moveTo>
                <a:lnTo>
                  <a:pt x="0" y="0"/>
                </a:lnTo>
              </a:path>
            </a:pathLst>
          </a:custGeom>
          <a:ln w="50800">
            <a:solidFill>
              <a:srgbClr val="1A63A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1D91E6B8-DFFB-4543-9648-42CADB7241D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581" r="8982"/>
          <a:stretch/>
        </p:blipFill>
        <p:spPr>
          <a:xfrm>
            <a:off x="13309600" y="1169203"/>
            <a:ext cx="3886201" cy="2505075"/>
          </a:xfrm>
          <a:prstGeom prst="rect">
            <a:avLst/>
          </a:prstGeom>
          <a:effectLst>
            <a:softEdge rad="241300"/>
          </a:effectLst>
        </p:spPr>
      </p:pic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52A686B7-73C9-41D3-85C7-7AA0912024E0}"/>
              </a:ext>
            </a:extLst>
          </p:cNvPr>
          <p:cNvSpPr txBox="1"/>
          <p:nvPr/>
        </p:nvSpPr>
        <p:spPr>
          <a:xfrm>
            <a:off x="1193801" y="3944699"/>
            <a:ext cx="15697199" cy="9335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2700" marR="5080" lvl="0" indent="10795" algn="just" defTabSz="914400" eaLnBrk="1" fontAlgn="auto" latinLnBrk="0" hangingPunct="1">
              <a:lnSpc>
                <a:spcPts val="3200"/>
              </a:lnSpc>
              <a:spcBef>
                <a:spcPts val="38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2800" dirty="0">
                <a:latin typeface="Calibri"/>
                <a:cs typeface="Calibri"/>
              </a:rPr>
              <a:t>I dati sono stati presi in diverse fasce orarie per coprire varie condizioni di traffico e affollamento.</a:t>
            </a:r>
          </a:p>
          <a:p>
            <a:endParaRPr lang="it-IT" sz="2800" dirty="0"/>
          </a:p>
        </p:txBody>
      </p:sp>
      <p:sp>
        <p:nvSpPr>
          <p:cNvPr id="16" name="object 10">
            <a:extLst>
              <a:ext uri="{FF2B5EF4-FFF2-40B4-BE49-F238E27FC236}">
                <a16:creationId xmlns:a16="http://schemas.microsoft.com/office/drawing/2014/main" id="{F615019A-506F-4402-83D3-0497C058A4E5}"/>
              </a:ext>
            </a:extLst>
          </p:cNvPr>
          <p:cNvSpPr txBox="1"/>
          <p:nvPr/>
        </p:nvSpPr>
        <p:spPr>
          <a:xfrm>
            <a:off x="1242763" y="5695527"/>
            <a:ext cx="15343437" cy="459741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12700" marR="5080" indent="10795" algn="just">
              <a:lnSpc>
                <a:spcPts val="3200"/>
              </a:lnSpc>
              <a:spcBef>
                <a:spcPts val="385"/>
              </a:spcBef>
            </a:pPr>
            <a:r>
              <a:rPr lang="it-IT" sz="2800" dirty="0">
                <a:latin typeface="Calibri"/>
                <a:cs typeface="Calibri"/>
              </a:rPr>
              <a:t>L’analisi tecnica dei dati si è articolata in due fasi: </a:t>
            </a:r>
          </a:p>
        </p:txBody>
      </p:sp>
      <p:sp>
        <p:nvSpPr>
          <p:cNvPr id="17" name="object 10">
            <a:extLst>
              <a:ext uri="{FF2B5EF4-FFF2-40B4-BE49-F238E27FC236}">
                <a16:creationId xmlns:a16="http://schemas.microsoft.com/office/drawing/2014/main" id="{0B969F2A-83DF-4159-916C-F7A50F30B071}"/>
              </a:ext>
            </a:extLst>
          </p:cNvPr>
          <p:cNvSpPr txBox="1">
            <a:spLocks/>
          </p:cNvSpPr>
          <p:nvPr/>
        </p:nvSpPr>
        <p:spPr>
          <a:xfrm>
            <a:off x="1242763" y="4876800"/>
            <a:ext cx="14399274" cy="690288"/>
          </a:xfrm>
          <a:prstGeom prst="rect">
            <a:avLst/>
          </a:prstGeom>
        </p:spPr>
        <p:txBody>
          <a:bodyPr vert="horz" wrap="square" lIns="0" tIns="96872" rIns="0" bIns="0" rtlCol="0">
            <a:spAutoFit/>
          </a:bodyPr>
          <a:lstStyle>
            <a:lvl1pPr>
              <a:defRPr sz="4150" b="0" i="0">
                <a:solidFill>
                  <a:srgbClr val="08486E"/>
                </a:solidFill>
                <a:latin typeface="Arial MT"/>
                <a:ea typeface="+mj-ea"/>
                <a:cs typeface="Arial MT"/>
              </a:defRPr>
            </a:lvl1pPr>
          </a:lstStyle>
          <a:p>
            <a:pPr>
              <a:spcBef>
                <a:spcPts val="135"/>
              </a:spcBef>
            </a:pPr>
            <a:r>
              <a:rPr lang="it-IT" sz="3850" b="1" spc="50" dirty="0">
                <a:solidFill>
                  <a:srgbClr val="1A63A2"/>
                </a:solidFill>
              </a:rPr>
              <a:t>Elaborazione dati</a:t>
            </a:r>
            <a:endParaRPr lang="it-IT" sz="3850" dirty="0"/>
          </a:p>
        </p:txBody>
      </p:sp>
      <p:sp>
        <p:nvSpPr>
          <p:cNvPr id="18" name="object 4">
            <a:extLst>
              <a:ext uri="{FF2B5EF4-FFF2-40B4-BE49-F238E27FC236}">
                <a16:creationId xmlns:a16="http://schemas.microsoft.com/office/drawing/2014/main" id="{B53124D5-C5A0-4EEE-9D9F-1EC89D0D8301}"/>
              </a:ext>
            </a:extLst>
          </p:cNvPr>
          <p:cNvSpPr/>
          <p:nvPr/>
        </p:nvSpPr>
        <p:spPr>
          <a:xfrm>
            <a:off x="916238" y="5012268"/>
            <a:ext cx="174124" cy="1143000"/>
          </a:xfrm>
          <a:custGeom>
            <a:avLst/>
            <a:gdLst/>
            <a:ahLst/>
            <a:cxnLst/>
            <a:rect l="l" t="t" r="r" b="b"/>
            <a:pathLst>
              <a:path h="9753600">
                <a:moveTo>
                  <a:pt x="0" y="9753600"/>
                </a:moveTo>
                <a:lnTo>
                  <a:pt x="0" y="0"/>
                </a:lnTo>
              </a:path>
            </a:pathLst>
          </a:custGeom>
          <a:ln w="50800">
            <a:solidFill>
              <a:srgbClr val="1A63A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2" name="Elemento grafico 21" descr="Batteria in carica">
            <a:extLst>
              <a:ext uri="{FF2B5EF4-FFF2-40B4-BE49-F238E27FC236}">
                <a16:creationId xmlns:a16="http://schemas.microsoft.com/office/drawing/2014/main" id="{083BF01E-6A96-40AB-BA16-1F5D2FDF10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09201" y="7825429"/>
            <a:ext cx="1295399" cy="1295399"/>
          </a:xfrm>
          <a:prstGeom prst="rect">
            <a:avLst/>
          </a:prstGeom>
        </p:spPr>
      </p:pic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99F3524D-D5FB-4A8B-8513-9B84AC781475}"/>
              </a:ext>
            </a:extLst>
          </p:cNvPr>
          <p:cNvSpPr txBox="1"/>
          <p:nvPr/>
        </p:nvSpPr>
        <p:spPr>
          <a:xfrm>
            <a:off x="3726727" y="7957500"/>
            <a:ext cx="4495800" cy="8079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50" b="1" dirty="0">
                <a:solidFill>
                  <a:srgbClr val="1A63A2"/>
                </a:solidFill>
                <a:latin typeface="Calibri"/>
                <a:cs typeface="Calibri"/>
              </a:rPr>
              <a:t>Caratterizzazione delle soste</a:t>
            </a:r>
          </a:p>
          <a:p>
            <a:r>
              <a:rPr lang="it-IT" i="1" dirty="0" err="1"/>
              <a:t>DataElaboration</a:t>
            </a:r>
            <a:r>
              <a:rPr lang="it-IT" dirty="0" err="1"/>
              <a:t>.</a:t>
            </a:r>
            <a:r>
              <a:rPr lang="it-IT" i="1" dirty="0" err="1"/>
              <a:t>m</a:t>
            </a:r>
            <a:r>
              <a:rPr lang="it-IT" dirty="0"/>
              <a:t> </a:t>
            </a:r>
          </a:p>
        </p:txBody>
      </p: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4156594F-91B1-4EAC-B3FF-1C0F73295E87}"/>
              </a:ext>
            </a:extLst>
          </p:cNvPr>
          <p:cNvSpPr txBox="1"/>
          <p:nvPr/>
        </p:nvSpPr>
        <p:spPr>
          <a:xfrm>
            <a:off x="11508882" y="7957500"/>
            <a:ext cx="5257800" cy="8079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50" b="1" dirty="0">
                <a:solidFill>
                  <a:srgbClr val="1A63A2"/>
                </a:solidFill>
                <a:latin typeface="Calibri"/>
                <a:cs typeface="Calibri"/>
              </a:rPr>
              <a:t>Modellazione energetica</a:t>
            </a:r>
          </a:p>
          <a:p>
            <a:r>
              <a:rPr lang="it-IT" i="1" dirty="0" err="1"/>
              <a:t>Energy</a:t>
            </a:r>
            <a:r>
              <a:rPr lang="it-IT" dirty="0" err="1"/>
              <a:t>.</a:t>
            </a:r>
            <a:r>
              <a:rPr lang="it-IT" i="1" dirty="0" err="1"/>
              <a:t>m</a:t>
            </a:r>
            <a:r>
              <a:rPr lang="it-IT" dirty="0"/>
              <a:t> </a:t>
            </a:r>
          </a:p>
        </p:txBody>
      </p:sp>
      <p:pic>
        <p:nvPicPr>
          <p:cNvPr id="31" name="Elemento grafico 30" descr="Freccia leggermente curva">
            <a:extLst>
              <a:ext uri="{FF2B5EF4-FFF2-40B4-BE49-F238E27FC236}">
                <a16:creationId xmlns:a16="http://schemas.microsoft.com/office/drawing/2014/main" id="{D0EF6FCD-27C1-4BFB-99A5-68EAA1F4CA3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145765">
            <a:off x="9223393" y="6584002"/>
            <a:ext cx="914400" cy="914400"/>
          </a:xfrm>
          <a:prstGeom prst="rect">
            <a:avLst/>
          </a:prstGeom>
        </p:spPr>
      </p:pic>
      <p:pic>
        <p:nvPicPr>
          <p:cNvPr id="34" name="Elemento grafico 33" descr="Freccia leggermente curva">
            <a:extLst>
              <a:ext uri="{FF2B5EF4-FFF2-40B4-BE49-F238E27FC236}">
                <a16:creationId xmlns:a16="http://schemas.microsoft.com/office/drawing/2014/main" id="{F45C9AD9-1265-4989-8B1F-D855FC3CB3A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9454235" flipH="1">
            <a:off x="7765327" y="6581794"/>
            <a:ext cx="914400" cy="914400"/>
          </a:xfrm>
          <a:prstGeom prst="rect">
            <a:avLst/>
          </a:prstGeom>
        </p:spPr>
      </p:pic>
      <p:grpSp>
        <p:nvGrpSpPr>
          <p:cNvPr id="35" name="Gruppo 34">
            <a:extLst>
              <a:ext uri="{FF2B5EF4-FFF2-40B4-BE49-F238E27FC236}">
                <a16:creationId xmlns:a16="http://schemas.microsoft.com/office/drawing/2014/main" id="{44D093C3-98E9-4FAF-8FEB-243BEAAEA8C7}"/>
              </a:ext>
            </a:extLst>
          </p:cNvPr>
          <p:cNvGrpSpPr/>
          <p:nvPr/>
        </p:nvGrpSpPr>
        <p:grpSpPr>
          <a:xfrm>
            <a:off x="1879600" y="7357790"/>
            <a:ext cx="2062596" cy="1938610"/>
            <a:chOff x="4089400" y="6361678"/>
            <a:chExt cx="3200400" cy="2701803"/>
          </a:xfrm>
        </p:grpSpPr>
        <p:pic>
          <p:nvPicPr>
            <p:cNvPr id="36" name="Immagine 35">
              <a:extLst>
                <a:ext uri="{FF2B5EF4-FFF2-40B4-BE49-F238E27FC236}">
                  <a16:creationId xmlns:a16="http://schemas.microsoft.com/office/drawing/2014/main" id="{5534764F-542B-4F5A-B37C-D13504654C7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0000" b="90000" l="10000" r="90000">
                          <a14:foregroundMark x1="30027" y1="35417" x2="28150" y2="39338"/>
                          <a14:foregroundMark x1="28150" y1="39338" x2="56971" y2="40196"/>
                          <a14:foregroundMark x1="56971" y1="40196" x2="66354" y2="39583"/>
                          <a14:foregroundMark x1="66354" y1="39583" x2="70107" y2="39583"/>
                          <a14:foregroundMark x1="70107" y1="39583" x2="73727" y2="38725"/>
                          <a14:foregroundMark x1="73727" y1="38725" x2="70777" y2="35907"/>
                          <a14:foregroundMark x1="70777" y1="35907" x2="35925" y2="38113"/>
                          <a14:foregroundMark x1="35925" y1="38113" x2="31635" y2="36029"/>
                          <a14:foregroundMark x1="31635" y1="36029" x2="30831" y2="35294"/>
                          <a14:backgroundMark x1="39276" y1="57721" x2="48391" y2="61765"/>
                          <a14:backgroundMark x1="48391" y1="61765" x2="49062" y2="61887"/>
                          <a14:backgroundMark x1="56702" y1="58578" x2="63405" y2="6139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949" t="17949" r="15385" b="23077"/>
            <a:stretch/>
          </p:blipFill>
          <p:spPr>
            <a:xfrm>
              <a:off x="4089400" y="6361678"/>
              <a:ext cx="3200400" cy="2701803"/>
            </a:xfrm>
            <a:prstGeom prst="rect">
              <a:avLst/>
            </a:prstGeom>
          </p:spPr>
        </p:pic>
        <p:pic>
          <p:nvPicPr>
            <p:cNvPr id="37" name="Elemento grafico 36" descr="Bus">
              <a:extLst>
                <a:ext uri="{FF2B5EF4-FFF2-40B4-BE49-F238E27FC236}">
                  <a16:creationId xmlns:a16="http://schemas.microsoft.com/office/drawing/2014/main" id="{2A646CBE-771F-4773-9D74-485133926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4898794" y="7163337"/>
              <a:ext cx="1562100" cy="1562100"/>
            </a:xfrm>
            <a:prstGeom prst="rect">
              <a:avLst/>
            </a:prstGeom>
          </p:spPr>
        </p:pic>
      </p:grpSp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object 10">
            <a:extLst>
              <a:ext uri="{FF2B5EF4-FFF2-40B4-BE49-F238E27FC236}">
                <a16:creationId xmlns:a16="http://schemas.microsoft.com/office/drawing/2014/main" id="{5FD37DE1-3C6F-416D-9321-E4B7908838D3}"/>
              </a:ext>
            </a:extLst>
          </p:cNvPr>
          <p:cNvSpPr txBox="1"/>
          <p:nvPr/>
        </p:nvSpPr>
        <p:spPr>
          <a:xfrm>
            <a:off x="1246183" y="1119086"/>
            <a:ext cx="15095955" cy="1690847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12700" marR="5080" indent="10795" algn="just">
              <a:lnSpc>
                <a:spcPts val="3200"/>
              </a:lnSpc>
              <a:spcBef>
                <a:spcPts val="385"/>
              </a:spcBef>
            </a:pPr>
            <a:r>
              <a:rPr lang="it-IT" sz="2800" spc="-70" dirty="0">
                <a:latin typeface="Calibri"/>
                <a:cs typeface="Calibri"/>
              </a:rPr>
              <a:t>Per determinare la finestra temporale disponibile per la ricarica, è stato sviluppato un algoritmo di stop </a:t>
            </a:r>
            <a:r>
              <a:rPr lang="it-IT" sz="2800" spc="-70" dirty="0" err="1">
                <a:latin typeface="Calibri"/>
                <a:cs typeface="Calibri"/>
              </a:rPr>
              <a:t>detection</a:t>
            </a:r>
            <a:r>
              <a:rPr lang="it-IT" sz="2800" spc="-70" dirty="0">
                <a:latin typeface="Calibri"/>
                <a:cs typeface="Calibri"/>
              </a:rPr>
              <a:t> (</a:t>
            </a:r>
            <a:r>
              <a:rPr lang="it-IT" sz="2800" i="1" spc="-70" dirty="0" err="1">
                <a:solidFill>
                  <a:srgbClr val="1A63A2"/>
                </a:solidFill>
                <a:latin typeface="Calibri"/>
                <a:cs typeface="Calibri"/>
              </a:rPr>
              <a:t>DataElaboration.m</a:t>
            </a:r>
            <a:r>
              <a:rPr lang="it-IT" sz="2800" spc="-70" dirty="0">
                <a:latin typeface="Calibri"/>
                <a:cs typeface="Calibri"/>
              </a:rPr>
              <a:t>), che</a:t>
            </a:r>
            <a:r>
              <a:rPr lang="it-IT" sz="2800" spc="-114" dirty="0">
                <a:latin typeface="Calibri"/>
                <a:cs typeface="Calibri"/>
              </a:rPr>
              <a:t> </a:t>
            </a:r>
            <a:r>
              <a:rPr lang="it-IT" sz="2800" spc="-50" dirty="0">
                <a:latin typeface="Calibri"/>
                <a:cs typeface="Calibri"/>
              </a:rPr>
              <a:t>analizza</a:t>
            </a:r>
            <a:r>
              <a:rPr lang="it-IT" sz="2800" spc="85" dirty="0">
                <a:latin typeface="Calibri"/>
                <a:cs typeface="Calibri"/>
              </a:rPr>
              <a:t> </a:t>
            </a:r>
            <a:r>
              <a:rPr lang="it-IT" sz="2800" dirty="0">
                <a:latin typeface="Calibri"/>
                <a:cs typeface="Calibri"/>
              </a:rPr>
              <a:t>i</a:t>
            </a:r>
            <a:r>
              <a:rPr lang="it-IT" sz="2800" spc="-135" dirty="0">
                <a:latin typeface="Calibri"/>
                <a:cs typeface="Calibri"/>
              </a:rPr>
              <a:t> </a:t>
            </a:r>
            <a:r>
              <a:rPr lang="it-IT" sz="2800" spc="-25" dirty="0">
                <a:latin typeface="Calibri"/>
                <a:cs typeface="Calibri"/>
              </a:rPr>
              <a:t>dati</a:t>
            </a:r>
            <a:r>
              <a:rPr lang="it-IT" sz="2800" spc="-100" dirty="0">
                <a:latin typeface="Calibri"/>
                <a:cs typeface="Calibri"/>
              </a:rPr>
              <a:t> </a:t>
            </a:r>
            <a:r>
              <a:rPr lang="it-IT" sz="2800" spc="55" dirty="0">
                <a:latin typeface="Calibri"/>
                <a:cs typeface="Calibri"/>
              </a:rPr>
              <a:t>GPS</a:t>
            </a:r>
            <a:r>
              <a:rPr lang="it-IT" sz="2800" spc="-120" dirty="0">
                <a:latin typeface="Calibri"/>
                <a:cs typeface="Calibri"/>
              </a:rPr>
              <a:t> </a:t>
            </a:r>
            <a:r>
              <a:rPr lang="it-IT" sz="2800" spc="-40" dirty="0">
                <a:latin typeface="Calibri"/>
                <a:cs typeface="Calibri"/>
              </a:rPr>
              <a:t>per</a:t>
            </a:r>
            <a:r>
              <a:rPr lang="it-IT" sz="2800" spc="-125" dirty="0">
                <a:latin typeface="Calibri"/>
                <a:cs typeface="Calibri"/>
              </a:rPr>
              <a:t> </a:t>
            </a:r>
            <a:r>
              <a:rPr lang="it-IT" sz="2800" spc="-40" dirty="0">
                <a:latin typeface="Calibri"/>
                <a:cs typeface="Calibri"/>
              </a:rPr>
              <a:t>isolare</a:t>
            </a:r>
            <a:r>
              <a:rPr lang="it-IT" sz="2800" spc="-75" dirty="0">
                <a:latin typeface="Calibri"/>
                <a:cs typeface="Calibri"/>
              </a:rPr>
              <a:t> </a:t>
            </a:r>
            <a:r>
              <a:rPr lang="it-IT" sz="2800" spc="-20" dirty="0">
                <a:latin typeface="Calibri"/>
                <a:cs typeface="Calibri"/>
              </a:rPr>
              <a:t>le</a:t>
            </a:r>
            <a:r>
              <a:rPr lang="it-IT" sz="2800" spc="-140" dirty="0">
                <a:latin typeface="Calibri"/>
                <a:cs typeface="Calibri"/>
              </a:rPr>
              <a:t> </a:t>
            </a:r>
            <a:r>
              <a:rPr lang="it-IT" sz="2800" dirty="0">
                <a:latin typeface="Calibri"/>
                <a:cs typeface="Calibri"/>
              </a:rPr>
              <a:t>soste</a:t>
            </a:r>
            <a:r>
              <a:rPr lang="it-IT" sz="2800" spc="-165" dirty="0">
                <a:latin typeface="Calibri"/>
                <a:cs typeface="Calibri"/>
              </a:rPr>
              <a:t> </a:t>
            </a:r>
            <a:r>
              <a:rPr lang="it-IT" sz="2800" dirty="0">
                <a:latin typeface="Calibri"/>
                <a:cs typeface="Calibri"/>
              </a:rPr>
              <a:t>effettive</a:t>
            </a:r>
            <a:r>
              <a:rPr lang="it-IT" sz="2800" spc="-80" dirty="0">
                <a:latin typeface="Calibri"/>
                <a:cs typeface="Calibri"/>
              </a:rPr>
              <a:t> </a:t>
            </a:r>
            <a:r>
              <a:rPr lang="it-IT" sz="2800" dirty="0">
                <a:latin typeface="Calibri"/>
                <a:cs typeface="Calibri"/>
              </a:rPr>
              <a:t>in</a:t>
            </a:r>
            <a:r>
              <a:rPr lang="it-IT" sz="2800" spc="-90" dirty="0">
                <a:latin typeface="Calibri"/>
                <a:cs typeface="Calibri"/>
              </a:rPr>
              <a:t> </a:t>
            </a:r>
            <a:r>
              <a:rPr lang="it-IT" sz="2800" spc="-85" dirty="0">
                <a:latin typeface="Calibri"/>
                <a:cs typeface="Calibri"/>
              </a:rPr>
              <a:t>fermata</a:t>
            </a:r>
            <a:r>
              <a:rPr lang="it-IT" sz="2800" spc="-15" dirty="0">
                <a:latin typeface="Calibri"/>
                <a:cs typeface="Calibri"/>
              </a:rPr>
              <a:t> </a:t>
            </a:r>
            <a:r>
              <a:rPr lang="it-IT" sz="2800" spc="-40" dirty="0">
                <a:latin typeface="Calibri"/>
                <a:cs typeface="Calibri"/>
              </a:rPr>
              <a:t>(campioni con velocità</a:t>
            </a:r>
            <a:r>
              <a:rPr lang="it-IT" sz="2800" spc="70" dirty="0">
                <a:latin typeface="Calibri"/>
                <a:cs typeface="Calibri"/>
              </a:rPr>
              <a:t> </a:t>
            </a:r>
            <a:r>
              <a:rPr lang="it-IT" sz="2800" dirty="0">
                <a:latin typeface="Calibri"/>
                <a:cs typeface="Calibri"/>
              </a:rPr>
              <a:t>&lt;</a:t>
            </a:r>
            <a:r>
              <a:rPr lang="it-IT" sz="2800" spc="-70" dirty="0">
                <a:latin typeface="Calibri"/>
                <a:cs typeface="Calibri"/>
              </a:rPr>
              <a:t> </a:t>
            </a:r>
            <a:r>
              <a:rPr lang="it-IT" sz="2800" dirty="0">
                <a:latin typeface="Calibri"/>
                <a:cs typeface="Calibri"/>
              </a:rPr>
              <a:t>0.3</a:t>
            </a:r>
            <a:r>
              <a:rPr lang="it-IT" sz="2800" spc="-160" dirty="0">
                <a:latin typeface="Calibri"/>
                <a:cs typeface="Calibri"/>
              </a:rPr>
              <a:t> </a:t>
            </a:r>
            <a:r>
              <a:rPr lang="it-IT" sz="2800" spc="-20" dirty="0">
                <a:latin typeface="Calibri"/>
                <a:cs typeface="Calibri"/>
              </a:rPr>
              <a:t>m/s e </a:t>
            </a:r>
            <a:r>
              <a:rPr lang="it-IT" sz="2800" dirty="0">
                <a:latin typeface="Calibri"/>
                <a:cs typeface="Calibri"/>
              </a:rPr>
              <a:t>distanza</a:t>
            </a:r>
            <a:r>
              <a:rPr lang="it-IT" sz="2800" spc="25" dirty="0">
                <a:latin typeface="Calibri"/>
                <a:cs typeface="Calibri"/>
              </a:rPr>
              <a:t> </a:t>
            </a:r>
            <a:r>
              <a:rPr lang="it-IT" sz="2800" dirty="0">
                <a:latin typeface="Calibri"/>
                <a:cs typeface="Calibri"/>
              </a:rPr>
              <a:t>&lt;</a:t>
            </a:r>
            <a:r>
              <a:rPr lang="it-IT" sz="2800" spc="-30" dirty="0">
                <a:latin typeface="Calibri"/>
                <a:cs typeface="Calibri"/>
              </a:rPr>
              <a:t> </a:t>
            </a:r>
            <a:r>
              <a:rPr lang="it-IT" sz="2800" dirty="0">
                <a:latin typeface="Calibri"/>
                <a:cs typeface="Calibri"/>
              </a:rPr>
              <a:t>15</a:t>
            </a:r>
            <a:r>
              <a:rPr lang="it-IT" sz="2800" spc="-165" dirty="0">
                <a:latin typeface="Calibri"/>
                <a:cs typeface="Calibri"/>
              </a:rPr>
              <a:t> </a:t>
            </a:r>
            <a:r>
              <a:rPr lang="it-IT" sz="2800" dirty="0">
                <a:latin typeface="Calibri"/>
                <a:cs typeface="Calibri"/>
              </a:rPr>
              <a:t>m</a:t>
            </a:r>
            <a:r>
              <a:rPr lang="it-IT" sz="2800" spc="-150" dirty="0">
                <a:latin typeface="Calibri"/>
                <a:cs typeface="Calibri"/>
              </a:rPr>
              <a:t> </a:t>
            </a:r>
            <a:r>
              <a:rPr lang="it-IT" sz="2800" spc="-30" dirty="0">
                <a:latin typeface="Calibri"/>
                <a:cs typeface="Calibri"/>
              </a:rPr>
              <a:t>dalla</a:t>
            </a:r>
            <a:r>
              <a:rPr lang="it-IT" sz="2800" spc="-70" dirty="0">
                <a:latin typeface="Calibri"/>
                <a:cs typeface="Calibri"/>
              </a:rPr>
              <a:t> </a:t>
            </a:r>
            <a:r>
              <a:rPr lang="it-IT" sz="2800" spc="-25" dirty="0">
                <a:latin typeface="Calibri"/>
                <a:cs typeface="Calibri"/>
              </a:rPr>
              <a:t>coordinata</a:t>
            </a:r>
            <a:r>
              <a:rPr lang="it-IT" sz="2800" spc="-105" dirty="0">
                <a:latin typeface="Calibri"/>
                <a:cs typeface="Calibri"/>
              </a:rPr>
              <a:t> </a:t>
            </a:r>
            <a:r>
              <a:rPr lang="it-IT" sz="2800" spc="-25" dirty="0">
                <a:latin typeface="Calibri"/>
                <a:cs typeface="Calibri"/>
              </a:rPr>
              <a:t>ufficiale della pensilina), </a:t>
            </a:r>
            <a:r>
              <a:rPr lang="it-IT" sz="2800" spc="-15" dirty="0">
                <a:latin typeface="Calibri"/>
                <a:cs typeface="Calibri"/>
              </a:rPr>
              <a:t>escludendo</a:t>
            </a:r>
            <a:r>
              <a:rPr lang="it-IT" sz="2800" spc="40" dirty="0">
                <a:latin typeface="Calibri"/>
                <a:cs typeface="Calibri"/>
              </a:rPr>
              <a:t> </a:t>
            </a:r>
            <a:r>
              <a:rPr lang="it-IT" sz="2800" dirty="0">
                <a:latin typeface="Calibri"/>
                <a:cs typeface="Calibri"/>
              </a:rPr>
              <a:t>le</a:t>
            </a:r>
            <a:r>
              <a:rPr lang="it-IT" sz="2800" spc="-114" dirty="0">
                <a:latin typeface="Calibri"/>
                <a:cs typeface="Calibri"/>
              </a:rPr>
              <a:t> </a:t>
            </a:r>
            <a:r>
              <a:rPr lang="it-IT" sz="2800" spc="-45" dirty="0">
                <a:latin typeface="Calibri"/>
                <a:cs typeface="Calibri"/>
              </a:rPr>
              <a:t>fermate</a:t>
            </a:r>
            <a:r>
              <a:rPr lang="it-IT" sz="2800" spc="-55" dirty="0">
                <a:latin typeface="Calibri"/>
                <a:cs typeface="Calibri"/>
              </a:rPr>
              <a:t> </a:t>
            </a:r>
            <a:r>
              <a:rPr lang="it-IT" sz="2800" dirty="0">
                <a:latin typeface="Calibri"/>
                <a:cs typeface="Calibri"/>
              </a:rPr>
              <a:t>per</a:t>
            </a:r>
            <a:r>
              <a:rPr lang="it-IT" sz="2800" spc="-15" dirty="0">
                <a:latin typeface="Calibri"/>
                <a:cs typeface="Calibri"/>
              </a:rPr>
              <a:t> </a:t>
            </a:r>
            <a:r>
              <a:rPr lang="it-IT" sz="2800" spc="-25" dirty="0">
                <a:latin typeface="Calibri"/>
                <a:cs typeface="Calibri"/>
              </a:rPr>
              <a:t>traffico e/o semafori.</a:t>
            </a:r>
            <a:r>
              <a:rPr lang="it-IT" sz="2800" spc="-30" dirty="0">
                <a:latin typeface="Calibri"/>
                <a:cs typeface="Calibri"/>
              </a:rPr>
              <a:t> </a:t>
            </a:r>
          </a:p>
        </p:txBody>
      </p:sp>
      <p:sp>
        <p:nvSpPr>
          <p:cNvPr id="32" name="object 10">
            <a:extLst>
              <a:ext uri="{FF2B5EF4-FFF2-40B4-BE49-F238E27FC236}">
                <a16:creationId xmlns:a16="http://schemas.microsoft.com/office/drawing/2014/main" id="{20EDE264-25AA-412E-BEF6-322B16F3E6A6}"/>
              </a:ext>
            </a:extLst>
          </p:cNvPr>
          <p:cNvSpPr txBox="1">
            <a:spLocks/>
          </p:cNvSpPr>
          <p:nvPr/>
        </p:nvSpPr>
        <p:spPr>
          <a:xfrm>
            <a:off x="1270001" y="376512"/>
            <a:ext cx="14399274" cy="690288"/>
          </a:xfrm>
          <a:prstGeom prst="rect">
            <a:avLst/>
          </a:prstGeom>
        </p:spPr>
        <p:txBody>
          <a:bodyPr vert="horz" wrap="square" lIns="0" tIns="96872" rIns="0" bIns="0" rtlCol="0">
            <a:spAutoFit/>
          </a:bodyPr>
          <a:lstStyle>
            <a:lvl1pPr>
              <a:defRPr sz="4150" b="0" i="0">
                <a:solidFill>
                  <a:srgbClr val="08486E"/>
                </a:solidFill>
                <a:latin typeface="Arial MT"/>
                <a:ea typeface="+mj-ea"/>
                <a:cs typeface="Arial MT"/>
              </a:defRPr>
            </a:lvl1pPr>
          </a:lstStyle>
          <a:p>
            <a:pPr>
              <a:spcBef>
                <a:spcPts val="135"/>
              </a:spcBef>
            </a:pPr>
            <a:r>
              <a:rPr lang="it-IT" sz="3850" b="1" spc="50" dirty="0">
                <a:solidFill>
                  <a:srgbClr val="1A63A2"/>
                </a:solidFill>
              </a:rPr>
              <a:t>Identificazione delle pensiline </a:t>
            </a:r>
            <a:endParaRPr lang="it-IT" sz="3850" dirty="0"/>
          </a:p>
        </p:txBody>
      </p:sp>
      <p:sp>
        <p:nvSpPr>
          <p:cNvPr id="33" name="object 4">
            <a:extLst>
              <a:ext uri="{FF2B5EF4-FFF2-40B4-BE49-F238E27FC236}">
                <a16:creationId xmlns:a16="http://schemas.microsoft.com/office/drawing/2014/main" id="{0F4220C0-A1E1-427D-B41F-22AEA52A42F1}"/>
              </a:ext>
            </a:extLst>
          </p:cNvPr>
          <p:cNvSpPr/>
          <p:nvPr/>
        </p:nvSpPr>
        <p:spPr>
          <a:xfrm>
            <a:off x="1041400" y="368555"/>
            <a:ext cx="76200" cy="2427206"/>
          </a:xfrm>
          <a:custGeom>
            <a:avLst/>
            <a:gdLst/>
            <a:ahLst/>
            <a:cxnLst/>
            <a:rect l="l" t="t" r="r" b="b"/>
            <a:pathLst>
              <a:path h="9753600">
                <a:moveTo>
                  <a:pt x="0" y="9753600"/>
                </a:moveTo>
                <a:lnTo>
                  <a:pt x="0" y="0"/>
                </a:lnTo>
              </a:path>
            </a:pathLst>
          </a:custGeom>
          <a:ln w="50800">
            <a:solidFill>
              <a:srgbClr val="1A63A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7" name="Immagine 36">
            <a:extLst>
              <a:ext uri="{FF2B5EF4-FFF2-40B4-BE49-F238E27FC236}">
                <a16:creationId xmlns:a16="http://schemas.microsoft.com/office/drawing/2014/main" id="{94BBD138-8AC4-41AC-A5BB-0E1519EA599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08"/>
          <a:stretch/>
        </p:blipFill>
        <p:spPr>
          <a:xfrm>
            <a:off x="1269261" y="3019873"/>
            <a:ext cx="10363939" cy="6581327"/>
          </a:xfrm>
          <a:prstGeom prst="rect">
            <a:avLst/>
          </a:prstGeom>
        </p:spPr>
      </p:pic>
      <p:sp>
        <p:nvSpPr>
          <p:cNvPr id="38" name="CasellaDiTesto 37">
            <a:extLst>
              <a:ext uri="{FF2B5EF4-FFF2-40B4-BE49-F238E27FC236}">
                <a16:creationId xmlns:a16="http://schemas.microsoft.com/office/drawing/2014/main" id="{D75B992B-111E-4204-8373-5F37856E71D8}"/>
              </a:ext>
            </a:extLst>
          </p:cNvPr>
          <p:cNvSpPr txBox="1"/>
          <p:nvPr/>
        </p:nvSpPr>
        <p:spPr>
          <a:xfrm>
            <a:off x="12471400" y="3809382"/>
            <a:ext cx="387073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2700" marR="5080" lvl="0" indent="10795" algn="just" defTabSz="914400" eaLnBrk="1" fontAlgn="auto" latinLnBrk="0" hangingPunct="1">
              <a:lnSpc>
                <a:spcPts val="3200"/>
              </a:lnSpc>
              <a:spcBef>
                <a:spcPts val="38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2800" spc="-30" dirty="0">
                <a:latin typeface="Calibri"/>
                <a:cs typeface="Calibri"/>
              </a:rPr>
              <a:t>Il codice è stato validato plottando su una mappa vettoriale:</a:t>
            </a:r>
          </a:p>
        </p:txBody>
      </p:sp>
      <p:sp>
        <p:nvSpPr>
          <p:cNvPr id="39" name="object 4">
            <a:extLst>
              <a:ext uri="{FF2B5EF4-FFF2-40B4-BE49-F238E27FC236}">
                <a16:creationId xmlns:a16="http://schemas.microsoft.com/office/drawing/2014/main" id="{B25D2C5C-BC15-4556-8C51-32B4D0ECDFB6}"/>
              </a:ext>
            </a:extLst>
          </p:cNvPr>
          <p:cNvSpPr/>
          <p:nvPr/>
        </p:nvSpPr>
        <p:spPr>
          <a:xfrm rot="16200000">
            <a:off x="14315441" y="1661161"/>
            <a:ext cx="45719" cy="3733799"/>
          </a:xfrm>
          <a:custGeom>
            <a:avLst/>
            <a:gdLst/>
            <a:ahLst/>
            <a:cxnLst/>
            <a:rect l="l" t="t" r="r" b="b"/>
            <a:pathLst>
              <a:path h="9753600">
                <a:moveTo>
                  <a:pt x="0" y="9753600"/>
                </a:moveTo>
                <a:lnTo>
                  <a:pt x="0" y="0"/>
                </a:lnTo>
              </a:path>
            </a:pathLst>
          </a:custGeom>
          <a:ln w="50800">
            <a:solidFill>
              <a:srgbClr val="1A63A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6C2AFB9A-22FD-447D-9E20-D0D628F01BF3}"/>
              </a:ext>
            </a:extLst>
          </p:cNvPr>
          <p:cNvSpPr txBox="1"/>
          <p:nvPr/>
        </p:nvSpPr>
        <p:spPr>
          <a:xfrm>
            <a:off x="12471400" y="4854238"/>
            <a:ext cx="3870738" cy="13747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2700" marR="5080" lvl="0" indent="10795" algn="just" defTabSz="914400" eaLnBrk="1" fontAlgn="auto" latinLnBrk="0" hangingPunct="1">
              <a:lnSpc>
                <a:spcPts val="3200"/>
              </a:lnSpc>
              <a:spcBef>
                <a:spcPts val="38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sz="2800" b="1" spc="-30" dirty="0">
              <a:solidFill>
                <a:srgbClr val="1A63A2"/>
              </a:solidFill>
              <a:latin typeface="Calibri"/>
              <a:cs typeface="Calibri"/>
            </a:endParaRPr>
          </a:p>
          <a:p>
            <a:pPr marL="355600" marR="5080" lvl="0" indent="-342900" algn="just" defTabSz="914400" eaLnBrk="1" fontAlgn="auto" latinLnBrk="0" hangingPunct="1">
              <a:lnSpc>
                <a:spcPts val="3200"/>
              </a:lnSpc>
              <a:spcBef>
                <a:spcPts val="38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it-IT" sz="2800" spc="-30" dirty="0">
                <a:solidFill>
                  <a:schemeClr val="tx1"/>
                </a:solidFill>
                <a:latin typeface="Calibri"/>
                <a:cs typeface="Calibri"/>
              </a:rPr>
              <a:t>il</a:t>
            </a:r>
            <a:r>
              <a:rPr lang="it-IT" sz="2800" b="1" spc="-30" dirty="0">
                <a:solidFill>
                  <a:srgbClr val="1A63A2"/>
                </a:solidFill>
                <a:latin typeface="Calibri"/>
                <a:cs typeface="Calibri"/>
              </a:rPr>
              <a:t> </a:t>
            </a:r>
            <a:r>
              <a:rPr lang="it-IT" sz="2800" spc="-30" dirty="0">
                <a:solidFill>
                  <a:srgbClr val="1A63A2"/>
                </a:solidFill>
                <a:latin typeface="Calibri"/>
                <a:cs typeface="Calibri"/>
              </a:rPr>
              <a:t>percorso</a:t>
            </a:r>
            <a:r>
              <a:rPr lang="it-IT" sz="2800" b="1" spc="-30" dirty="0">
                <a:solidFill>
                  <a:srgbClr val="1A63A2"/>
                </a:solidFill>
                <a:latin typeface="Calibri"/>
                <a:cs typeface="Calibri"/>
              </a:rPr>
              <a:t> </a:t>
            </a:r>
            <a:r>
              <a:rPr lang="it-IT" sz="2800" spc="-30" dirty="0">
                <a:solidFill>
                  <a:schemeClr val="tx1"/>
                </a:solidFill>
                <a:latin typeface="Calibri"/>
                <a:cs typeface="Calibri"/>
              </a:rPr>
              <a:t>da log GPS con relativa</a:t>
            </a:r>
            <a:r>
              <a:rPr lang="it-IT" sz="2800" b="1" spc="-30" dirty="0">
                <a:solidFill>
                  <a:srgbClr val="1A63A2"/>
                </a:solidFill>
                <a:latin typeface="Calibri"/>
                <a:cs typeface="Calibri"/>
              </a:rPr>
              <a:t> </a:t>
            </a:r>
            <a:r>
              <a:rPr lang="it-IT" sz="2800" spc="-30" dirty="0">
                <a:solidFill>
                  <a:srgbClr val="1A63A2"/>
                </a:solidFill>
                <a:latin typeface="Calibri"/>
                <a:cs typeface="Calibri"/>
              </a:rPr>
              <a:t>velocità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A386FA83-79FC-46F4-9980-B395E57C2CDF}"/>
              </a:ext>
            </a:extLst>
          </p:cNvPr>
          <p:cNvSpPr txBox="1"/>
          <p:nvPr/>
        </p:nvSpPr>
        <p:spPr>
          <a:xfrm>
            <a:off x="12471400" y="6353731"/>
            <a:ext cx="3870738" cy="12208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55600" marR="5080" lvl="0" indent="-342900" algn="just" defTabSz="914400" eaLnBrk="1" fontAlgn="auto" latinLnBrk="0" hangingPunct="1">
              <a:lnSpc>
                <a:spcPts val="3200"/>
              </a:lnSpc>
              <a:spcBef>
                <a:spcPts val="38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it-IT" sz="2800" spc="-30" dirty="0">
                <a:solidFill>
                  <a:schemeClr val="tx1"/>
                </a:solidFill>
                <a:latin typeface="Calibri"/>
                <a:cs typeface="Calibri"/>
              </a:rPr>
              <a:t>le</a:t>
            </a:r>
            <a:r>
              <a:rPr lang="it-IT" sz="2800" b="1" spc="-30" dirty="0">
                <a:solidFill>
                  <a:srgbClr val="1A63A2"/>
                </a:solidFill>
                <a:latin typeface="Calibri"/>
                <a:cs typeface="Calibri"/>
              </a:rPr>
              <a:t> </a:t>
            </a:r>
            <a:r>
              <a:rPr lang="it-IT" sz="2800" spc="-30" dirty="0">
                <a:solidFill>
                  <a:srgbClr val="1A63A2"/>
                </a:solidFill>
                <a:latin typeface="Calibri"/>
                <a:cs typeface="Calibri"/>
              </a:rPr>
              <a:t>fermate</a:t>
            </a:r>
            <a:r>
              <a:rPr lang="it-IT" sz="2800" b="1" spc="-30" dirty="0">
                <a:solidFill>
                  <a:srgbClr val="1A63A2"/>
                </a:solidFill>
                <a:latin typeface="Calibri"/>
                <a:cs typeface="Calibri"/>
              </a:rPr>
              <a:t> </a:t>
            </a:r>
            <a:r>
              <a:rPr lang="it-IT" sz="2800" spc="-30" dirty="0">
                <a:solidFill>
                  <a:srgbClr val="1A63A2"/>
                </a:solidFill>
                <a:latin typeface="Calibri"/>
                <a:cs typeface="Calibri"/>
              </a:rPr>
              <a:t>ufficiali</a:t>
            </a:r>
            <a:r>
              <a:rPr lang="it-IT" sz="2800" b="1" spc="-30" dirty="0">
                <a:solidFill>
                  <a:srgbClr val="1A63A2"/>
                </a:solidFill>
                <a:latin typeface="Calibri"/>
                <a:cs typeface="Calibri"/>
              </a:rPr>
              <a:t> </a:t>
            </a:r>
            <a:r>
              <a:rPr lang="it-IT" sz="2800" spc="-30" dirty="0">
                <a:solidFill>
                  <a:schemeClr val="tx1"/>
                </a:solidFill>
                <a:latin typeface="Calibri"/>
                <a:cs typeface="Calibri"/>
              </a:rPr>
              <a:t>(in verde) </a:t>
            </a:r>
            <a:endParaRPr lang="it-IT" sz="2800" b="1" spc="-30" dirty="0">
              <a:solidFill>
                <a:srgbClr val="1A63A2"/>
              </a:solidFill>
              <a:latin typeface="Calibri"/>
              <a:cs typeface="Calibri"/>
            </a:endParaRPr>
          </a:p>
          <a:p>
            <a:endParaRPr lang="it-IT" sz="2000" b="1" dirty="0">
              <a:solidFill>
                <a:srgbClr val="1A63A2"/>
              </a:solidFill>
            </a:endParaRP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841E559F-472A-42F2-9AF2-D3C1CF9A64A5}"/>
              </a:ext>
            </a:extLst>
          </p:cNvPr>
          <p:cNvSpPr txBox="1"/>
          <p:nvPr/>
        </p:nvSpPr>
        <p:spPr>
          <a:xfrm>
            <a:off x="12471400" y="7420531"/>
            <a:ext cx="387073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55600" marR="5080" lvl="0" indent="-342900" algn="just" defTabSz="914400" eaLnBrk="1" fontAlgn="auto" latinLnBrk="0" hangingPunct="1">
              <a:lnSpc>
                <a:spcPts val="3200"/>
              </a:lnSpc>
              <a:spcBef>
                <a:spcPts val="38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it-IT" sz="2800" spc="-30" dirty="0">
                <a:solidFill>
                  <a:schemeClr val="tx1"/>
                </a:solidFill>
                <a:latin typeface="Calibri"/>
                <a:cs typeface="Calibri"/>
              </a:rPr>
              <a:t>le </a:t>
            </a:r>
            <a:r>
              <a:rPr lang="it-IT" sz="2800" spc="-30" dirty="0">
                <a:solidFill>
                  <a:srgbClr val="1A63A2"/>
                </a:solidFill>
                <a:latin typeface="Calibri"/>
                <a:cs typeface="Calibri"/>
              </a:rPr>
              <a:t>fermate</a:t>
            </a:r>
            <a:r>
              <a:rPr lang="it-IT" sz="2800" b="1" spc="-30" dirty="0">
                <a:solidFill>
                  <a:srgbClr val="1A63A2"/>
                </a:solidFill>
                <a:latin typeface="Calibri"/>
                <a:cs typeface="Calibri"/>
              </a:rPr>
              <a:t> </a:t>
            </a:r>
            <a:r>
              <a:rPr lang="it-IT" sz="2800" spc="-30" dirty="0">
                <a:solidFill>
                  <a:srgbClr val="1A63A2"/>
                </a:solidFill>
                <a:latin typeface="Calibri"/>
                <a:cs typeface="Calibri"/>
              </a:rPr>
              <a:t>calcolate</a:t>
            </a:r>
            <a:r>
              <a:rPr lang="it-IT" sz="2800" b="1" spc="-30" dirty="0">
                <a:solidFill>
                  <a:srgbClr val="1A63A2"/>
                </a:solidFill>
                <a:latin typeface="Calibri"/>
                <a:cs typeface="Calibri"/>
              </a:rPr>
              <a:t> </a:t>
            </a:r>
            <a:r>
              <a:rPr lang="it-IT" sz="2800" spc="-30" dirty="0">
                <a:solidFill>
                  <a:schemeClr val="tx1"/>
                </a:solidFill>
                <a:latin typeface="Calibri"/>
                <a:cs typeface="Calibri"/>
              </a:rPr>
              <a:t>con il metodo descritto (in rosso)</a:t>
            </a:r>
            <a:endParaRPr lang="it-IT" sz="2800" dirty="0">
              <a:solidFill>
                <a:schemeClr val="tx1"/>
              </a:solidFill>
              <a:latin typeface="Calibri"/>
              <a:cs typeface="Calibri"/>
            </a:endParaRPr>
          </a:p>
          <a:p>
            <a:endParaRPr lang="it-IT" sz="2000" b="1" dirty="0">
              <a:solidFill>
                <a:srgbClr val="1A63A2"/>
              </a:solidFill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bject 10">
            <a:extLst>
              <a:ext uri="{FF2B5EF4-FFF2-40B4-BE49-F238E27FC236}">
                <a16:creationId xmlns:a16="http://schemas.microsoft.com/office/drawing/2014/main" id="{20EDE264-25AA-412E-BEF6-322B16F3E6A6}"/>
              </a:ext>
            </a:extLst>
          </p:cNvPr>
          <p:cNvSpPr txBox="1">
            <a:spLocks/>
          </p:cNvSpPr>
          <p:nvPr/>
        </p:nvSpPr>
        <p:spPr>
          <a:xfrm>
            <a:off x="1270001" y="609600"/>
            <a:ext cx="14399274" cy="690288"/>
          </a:xfrm>
          <a:prstGeom prst="rect">
            <a:avLst/>
          </a:prstGeom>
        </p:spPr>
        <p:txBody>
          <a:bodyPr vert="horz" wrap="square" lIns="0" tIns="96872" rIns="0" bIns="0" rtlCol="0">
            <a:spAutoFit/>
          </a:bodyPr>
          <a:lstStyle>
            <a:lvl1pPr>
              <a:defRPr sz="4150" b="0" i="0">
                <a:solidFill>
                  <a:srgbClr val="08486E"/>
                </a:solidFill>
                <a:latin typeface="Arial MT"/>
                <a:ea typeface="+mj-ea"/>
                <a:cs typeface="Arial MT"/>
              </a:defRPr>
            </a:lvl1pPr>
          </a:lstStyle>
          <a:p>
            <a:pPr>
              <a:spcBef>
                <a:spcPts val="135"/>
              </a:spcBef>
            </a:pPr>
            <a:r>
              <a:rPr lang="it-IT" sz="3850" b="1" spc="50" dirty="0">
                <a:solidFill>
                  <a:srgbClr val="1A63A2"/>
                </a:solidFill>
              </a:rPr>
              <a:t>Stima dei tempi di fermata</a:t>
            </a:r>
            <a:endParaRPr lang="it-IT" sz="3850" dirty="0"/>
          </a:p>
        </p:txBody>
      </p:sp>
      <p:sp>
        <p:nvSpPr>
          <p:cNvPr id="33" name="object 4">
            <a:extLst>
              <a:ext uri="{FF2B5EF4-FFF2-40B4-BE49-F238E27FC236}">
                <a16:creationId xmlns:a16="http://schemas.microsoft.com/office/drawing/2014/main" id="{0F4220C0-A1E1-427D-B41F-22AEA52A42F1}"/>
              </a:ext>
            </a:extLst>
          </p:cNvPr>
          <p:cNvSpPr/>
          <p:nvPr/>
        </p:nvSpPr>
        <p:spPr>
          <a:xfrm>
            <a:off x="1041400" y="745067"/>
            <a:ext cx="76200" cy="1963739"/>
          </a:xfrm>
          <a:custGeom>
            <a:avLst/>
            <a:gdLst/>
            <a:ahLst/>
            <a:cxnLst/>
            <a:rect l="l" t="t" r="r" b="b"/>
            <a:pathLst>
              <a:path h="9753600">
                <a:moveTo>
                  <a:pt x="0" y="9753600"/>
                </a:moveTo>
                <a:lnTo>
                  <a:pt x="0" y="0"/>
                </a:lnTo>
              </a:path>
            </a:pathLst>
          </a:custGeom>
          <a:ln w="50800">
            <a:solidFill>
              <a:srgbClr val="1A63A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30">
            <a:extLst>
              <a:ext uri="{FF2B5EF4-FFF2-40B4-BE49-F238E27FC236}">
                <a16:creationId xmlns:a16="http://schemas.microsoft.com/office/drawing/2014/main" id="{A76CE530-0DC5-4B63-8CFF-475B31F5CF43}"/>
              </a:ext>
            </a:extLst>
          </p:cNvPr>
          <p:cNvSpPr txBox="1"/>
          <p:nvPr/>
        </p:nvSpPr>
        <p:spPr>
          <a:xfrm>
            <a:off x="1270001" y="1389855"/>
            <a:ext cx="15316199" cy="131895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just">
              <a:spcBef>
                <a:spcPts val="105"/>
              </a:spcBef>
            </a:pPr>
            <a:r>
              <a:rPr lang="it-IT" sz="2800" dirty="0">
                <a:latin typeface="Calibri"/>
                <a:cs typeface="Calibri"/>
              </a:rPr>
              <a:t>Lo stesso script calcola la media temporale delle soste validate su tutti i log di dati disponibili. I</a:t>
            </a:r>
            <a:r>
              <a:rPr lang="it-IT" sz="2800" spc="-130" dirty="0">
                <a:latin typeface="Calibri"/>
                <a:cs typeface="Calibri"/>
              </a:rPr>
              <a:t> </a:t>
            </a:r>
            <a:r>
              <a:rPr lang="it-IT" sz="2800" spc="-25" dirty="0">
                <a:latin typeface="Calibri"/>
                <a:cs typeface="Calibri"/>
              </a:rPr>
              <a:t>risultati</a:t>
            </a:r>
            <a:r>
              <a:rPr lang="it-IT" sz="2800" spc="-120" dirty="0">
                <a:latin typeface="Calibri"/>
                <a:cs typeface="Calibri"/>
              </a:rPr>
              <a:t> </a:t>
            </a:r>
            <a:r>
              <a:rPr lang="it-IT" sz="2800" spc="-30" dirty="0">
                <a:latin typeface="Calibri"/>
                <a:cs typeface="Calibri"/>
              </a:rPr>
              <a:t>mostrano</a:t>
            </a:r>
            <a:r>
              <a:rPr lang="it-IT" sz="2800" spc="40" dirty="0">
                <a:latin typeface="Calibri"/>
                <a:cs typeface="Calibri"/>
              </a:rPr>
              <a:t> </a:t>
            </a:r>
            <a:r>
              <a:rPr lang="it-IT" sz="2800" dirty="0">
                <a:latin typeface="Calibri"/>
                <a:cs typeface="Calibri"/>
              </a:rPr>
              <a:t>che</a:t>
            </a:r>
            <a:r>
              <a:rPr lang="it-IT" sz="2800" spc="-60" dirty="0">
                <a:latin typeface="Calibri"/>
                <a:cs typeface="Calibri"/>
              </a:rPr>
              <a:t> </a:t>
            </a:r>
            <a:r>
              <a:rPr lang="it-IT" sz="2800" spc="-25" dirty="0">
                <a:latin typeface="Calibri"/>
                <a:cs typeface="Calibri"/>
              </a:rPr>
              <a:t>la </a:t>
            </a:r>
            <a:r>
              <a:rPr lang="it-IT" sz="2800" spc="-80" dirty="0">
                <a:latin typeface="Calibri"/>
                <a:cs typeface="Calibri"/>
              </a:rPr>
              <a:t>maggior</a:t>
            </a:r>
            <a:r>
              <a:rPr lang="it-IT" sz="2800" spc="-90" dirty="0">
                <a:latin typeface="Calibri"/>
                <a:cs typeface="Calibri"/>
              </a:rPr>
              <a:t> </a:t>
            </a:r>
            <a:r>
              <a:rPr lang="it-IT" sz="2800" spc="-100" dirty="0">
                <a:latin typeface="Calibri"/>
                <a:cs typeface="Calibri"/>
              </a:rPr>
              <a:t>parte</a:t>
            </a:r>
            <a:r>
              <a:rPr lang="it-IT" sz="2800" spc="-65" dirty="0">
                <a:latin typeface="Calibri"/>
                <a:cs typeface="Calibri"/>
              </a:rPr>
              <a:t> </a:t>
            </a:r>
            <a:r>
              <a:rPr lang="it-IT" sz="2800" spc="-40" dirty="0">
                <a:latin typeface="Calibri"/>
                <a:cs typeface="Calibri"/>
              </a:rPr>
              <a:t>delle</a:t>
            </a:r>
            <a:r>
              <a:rPr lang="it-IT" sz="2800" spc="-65" dirty="0">
                <a:latin typeface="Calibri"/>
                <a:cs typeface="Calibri"/>
              </a:rPr>
              <a:t> </a:t>
            </a:r>
            <a:r>
              <a:rPr lang="it-IT" sz="2800" spc="-60" dirty="0">
                <a:latin typeface="Calibri"/>
                <a:cs typeface="Calibri"/>
              </a:rPr>
              <a:t>soste</a:t>
            </a:r>
            <a:r>
              <a:rPr lang="it-IT" sz="2800" spc="-105" dirty="0">
                <a:latin typeface="Calibri"/>
                <a:cs typeface="Calibri"/>
              </a:rPr>
              <a:t> </a:t>
            </a:r>
            <a:r>
              <a:rPr lang="it-IT" sz="2800" spc="-100" dirty="0">
                <a:latin typeface="Calibri"/>
                <a:cs typeface="Calibri"/>
              </a:rPr>
              <a:t>intermedie</a:t>
            </a:r>
            <a:r>
              <a:rPr lang="it-IT" sz="2800" spc="90" dirty="0">
                <a:latin typeface="Calibri"/>
                <a:cs typeface="Calibri"/>
              </a:rPr>
              <a:t> </a:t>
            </a:r>
            <a:r>
              <a:rPr lang="it-IT" sz="2800" dirty="0">
                <a:latin typeface="Calibri"/>
                <a:cs typeface="Calibri"/>
              </a:rPr>
              <a:t>è</a:t>
            </a:r>
            <a:r>
              <a:rPr lang="it-IT" sz="2800" spc="-145" dirty="0">
                <a:latin typeface="Calibri"/>
                <a:cs typeface="Calibri"/>
              </a:rPr>
              <a:t> </a:t>
            </a:r>
            <a:r>
              <a:rPr lang="it-IT" sz="2800" spc="-90" dirty="0">
                <a:latin typeface="Calibri"/>
                <a:cs typeface="Calibri"/>
              </a:rPr>
              <a:t>troppo</a:t>
            </a:r>
            <a:r>
              <a:rPr lang="it-IT" sz="2800" spc="-50" dirty="0">
                <a:latin typeface="Calibri"/>
                <a:cs typeface="Calibri"/>
              </a:rPr>
              <a:t> </a:t>
            </a:r>
            <a:r>
              <a:rPr lang="it-IT" sz="2800" spc="-70" dirty="0">
                <a:latin typeface="Calibri"/>
                <a:cs typeface="Calibri"/>
              </a:rPr>
              <a:t>breve</a:t>
            </a:r>
            <a:r>
              <a:rPr lang="it-IT" sz="2800" spc="-100" dirty="0">
                <a:latin typeface="Calibri"/>
                <a:cs typeface="Calibri"/>
              </a:rPr>
              <a:t> </a:t>
            </a:r>
            <a:r>
              <a:rPr lang="it-IT" sz="2800" spc="-85" dirty="0">
                <a:latin typeface="Calibri"/>
                <a:cs typeface="Calibri"/>
              </a:rPr>
              <a:t>per</a:t>
            </a:r>
            <a:r>
              <a:rPr lang="it-IT" sz="2800" spc="-80" dirty="0">
                <a:latin typeface="Calibri"/>
                <a:cs typeface="Calibri"/>
              </a:rPr>
              <a:t> </a:t>
            </a:r>
            <a:r>
              <a:rPr lang="it-IT" sz="2800" spc="-75" dirty="0">
                <a:latin typeface="Calibri"/>
                <a:cs typeface="Calibri"/>
              </a:rPr>
              <a:t>una</a:t>
            </a:r>
            <a:r>
              <a:rPr lang="it-IT" sz="2800" spc="-90" dirty="0">
                <a:latin typeface="Calibri"/>
                <a:cs typeface="Calibri"/>
              </a:rPr>
              <a:t> </a:t>
            </a:r>
            <a:r>
              <a:rPr lang="it-IT" sz="2800" spc="-50" dirty="0">
                <a:latin typeface="Calibri"/>
                <a:cs typeface="Calibri"/>
              </a:rPr>
              <a:t>ricarica</a:t>
            </a:r>
            <a:r>
              <a:rPr lang="it-IT" sz="2800" spc="-30" dirty="0">
                <a:latin typeface="Calibri"/>
                <a:cs typeface="Calibri"/>
              </a:rPr>
              <a:t> </a:t>
            </a:r>
            <a:r>
              <a:rPr lang="it-IT" sz="2800" spc="-10" dirty="0">
                <a:latin typeface="Calibri"/>
                <a:cs typeface="Calibri"/>
              </a:rPr>
              <a:t>significativa. </a:t>
            </a:r>
            <a:r>
              <a:rPr sz="2800" dirty="0">
                <a:latin typeface="Calibri"/>
                <a:cs typeface="Calibri"/>
              </a:rPr>
              <a:t>I</a:t>
            </a:r>
            <a:r>
              <a:rPr sz="2800" spc="-155" dirty="0">
                <a:latin typeface="Calibri"/>
                <a:cs typeface="Calibri"/>
              </a:rPr>
              <a:t> </a:t>
            </a:r>
            <a:r>
              <a:rPr sz="2800" spc="-150" dirty="0">
                <a:latin typeface="Calibri"/>
                <a:cs typeface="Calibri"/>
              </a:rPr>
              <a:t>tempi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spc="-190" dirty="0">
                <a:latin typeface="Calibri"/>
                <a:cs typeface="Calibri"/>
              </a:rPr>
              <a:t>medi</a:t>
            </a:r>
            <a:r>
              <a:rPr sz="2800" spc="3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di</a:t>
            </a:r>
            <a:r>
              <a:rPr sz="2800" spc="-150" dirty="0">
                <a:latin typeface="Calibri"/>
                <a:cs typeface="Calibri"/>
              </a:rPr>
              <a:t> </a:t>
            </a:r>
            <a:r>
              <a:rPr sz="2800" spc="-105" dirty="0">
                <a:latin typeface="Calibri"/>
                <a:cs typeface="Calibri"/>
              </a:rPr>
              <a:t>sosta</a:t>
            </a:r>
            <a:r>
              <a:rPr sz="2800" spc="-50" dirty="0">
                <a:latin typeface="Calibri"/>
                <a:cs typeface="Calibri"/>
              </a:rPr>
              <a:t> </a:t>
            </a:r>
            <a:r>
              <a:rPr sz="2800" spc="-114" dirty="0">
                <a:latin typeface="Calibri"/>
                <a:cs typeface="Calibri"/>
              </a:rPr>
              <a:t>nella</a:t>
            </a:r>
            <a:r>
              <a:rPr sz="2800" spc="-95" dirty="0">
                <a:latin typeface="Calibri"/>
                <a:cs typeface="Calibri"/>
              </a:rPr>
              <a:t> </a:t>
            </a:r>
            <a:r>
              <a:rPr sz="2800" spc="-135" dirty="0">
                <a:latin typeface="Calibri"/>
                <a:cs typeface="Calibri"/>
              </a:rPr>
              <a:t>maggior</a:t>
            </a:r>
            <a:r>
              <a:rPr sz="2800" spc="-20" dirty="0">
                <a:latin typeface="Calibri"/>
                <a:cs typeface="Calibri"/>
              </a:rPr>
              <a:t> </a:t>
            </a:r>
            <a:r>
              <a:rPr sz="2800" spc="-105" dirty="0">
                <a:latin typeface="Calibri"/>
                <a:cs typeface="Calibri"/>
              </a:rPr>
              <a:t>parte</a:t>
            </a:r>
            <a:r>
              <a:rPr sz="2800" spc="5" dirty="0">
                <a:latin typeface="Calibri"/>
                <a:cs typeface="Calibri"/>
              </a:rPr>
              <a:t> </a:t>
            </a:r>
            <a:r>
              <a:rPr sz="2800" spc="-114" dirty="0">
                <a:latin typeface="Calibri"/>
                <a:cs typeface="Calibri"/>
              </a:rPr>
              <a:t>delle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spc="-135" dirty="0" err="1">
                <a:latin typeface="Calibri"/>
                <a:cs typeface="Calibri"/>
              </a:rPr>
              <a:t>fermate</a:t>
            </a:r>
            <a:r>
              <a:rPr sz="2800" spc="95" dirty="0">
                <a:latin typeface="Calibri"/>
                <a:cs typeface="Calibri"/>
              </a:rPr>
              <a:t> </a:t>
            </a:r>
            <a:r>
              <a:rPr sz="2800" spc="-135" dirty="0" err="1">
                <a:latin typeface="Calibri"/>
                <a:cs typeface="Calibri"/>
              </a:rPr>
              <a:t>sono</a:t>
            </a:r>
            <a:r>
              <a:rPr sz="2800" spc="20" dirty="0">
                <a:latin typeface="Calibri"/>
                <a:cs typeface="Calibri"/>
              </a:rPr>
              <a:t> </a:t>
            </a:r>
            <a:r>
              <a:rPr sz="2800" spc="-90" dirty="0">
                <a:latin typeface="Calibri"/>
                <a:cs typeface="Calibri"/>
              </a:rPr>
              <a:t>inferiori</a:t>
            </a:r>
            <a:r>
              <a:rPr sz="2800" spc="70" dirty="0">
                <a:latin typeface="Calibri"/>
                <a:cs typeface="Calibri"/>
              </a:rPr>
              <a:t> </a:t>
            </a:r>
            <a:r>
              <a:rPr sz="2800" spc="-95" dirty="0">
                <a:latin typeface="Calibri"/>
                <a:cs typeface="Calibri"/>
              </a:rPr>
              <a:t>ai</a:t>
            </a:r>
            <a:r>
              <a:rPr sz="2800" spc="-70" dirty="0">
                <a:latin typeface="Calibri"/>
                <a:cs typeface="Calibri"/>
              </a:rPr>
              <a:t> </a:t>
            </a:r>
            <a:r>
              <a:rPr sz="2800" spc="-50" dirty="0">
                <a:latin typeface="Calibri"/>
                <a:cs typeface="Calibri"/>
              </a:rPr>
              <a:t>30-</a:t>
            </a:r>
            <a:r>
              <a:rPr sz="2800" dirty="0">
                <a:latin typeface="Calibri"/>
                <a:cs typeface="Calibri"/>
              </a:rPr>
              <a:t>40</a:t>
            </a:r>
            <a:r>
              <a:rPr sz="2800" spc="-65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secondi.</a:t>
            </a:r>
            <a:endParaRPr sz="2800" dirty="0">
              <a:latin typeface="Calibri"/>
              <a:cs typeface="Calibri"/>
            </a:endParaRP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8E0855D1-68AC-4D80-B2A2-80D6023EF1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4141" y="3311401"/>
            <a:ext cx="7553459" cy="5005948"/>
          </a:xfrm>
          <a:prstGeom prst="rect">
            <a:avLst/>
          </a:prstGeom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197E656A-9528-4C65-8356-5CBD15DB02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3061" y="3333323"/>
            <a:ext cx="7615715" cy="5005948"/>
          </a:xfrm>
          <a:prstGeom prst="rect">
            <a:avLst/>
          </a:prstGeom>
        </p:spPr>
      </p:pic>
      <p:sp>
        <p:nvSpPr>
          <p:cNvPr id="8" name="object 30">
            <a:extLst>
              <a:ext uri="{FF2B5EF4-FFF2-40B4-BE49-F238E27FC236}">
                <a16:creationId xmlns:a16="http://schemas.microsoft.com/office/drawing/2014/main" id="{C0E611BF-D66B-4D44-8D88-850E34E5BDC1}"/>
              </a:ext>
            </a:extLst>
          </p:cNvPr>
          <p:cNvSpPr txBox="1"/>
          <p:nvPr/>
        </p:nvSpPr>
        <p:spPr>
          <a:xfrm>
            <a:off x="2371771" y="8747408"/>
            <a:ext cx="5010016" cy="4443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spcBef>
                <a:spcPts val="105"/>
              </a:spcBef>
            </a:pPr>
            <a:r>
              <a:rPr lang="it-IT" sz="2800" dirty="0">
                <a:latin typeface="Calibri"/>
                <a:cs typeface="Calibri"/>
              </a:rPr>
              <a:t>Milano        San Felicino</a:t>
            </a:r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5FB0F32D-025C-4ADE-B92E-2E78C2A91F9A}"/>
              </a:ext>
            </a:extLst>
          </p:cNvPr>
          <p:cNvSpPr/>
          <p:nvPr/>
        </p:nvSpPr>
        <p:spPr>
          <a:xfrm>
            <a:off x="3009879" y="8645401"/>
            <a:ext cx="3733800" cy="648366"/>
          </a:xfrm>
          <a:prstGeom prst="roundRect">
            <a:avLst/>
          </a:prstGeom>
          <a:noFill/>
          <a:ln w="57150">
            <a:solidFill>
              <a:srgbClr val="1A63A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3" name="Connettore diritto 12">
            <a:extLst>
              <a:ext uri="{FF2B5EF4-FFF2-40B4-BE49-F238E27FC236}">
                <a16:creationId xmlns:a16="http://schemas.microsoft.com/office/drawing/2014/main" id="{23698681-6CDC-4441-A8A0-AE571F4C141C}"/>
              </a:ext>
            </a:extLst>
          </p:cNvPr>
          <p:cNvCxnSpPr>
            <a:cxnSpLocks/>
          </p:cNvCxnSpPr>
          <p:nvPr/>
        </p:nvCxnSpPr>
        <p:spPr>
          <a:xfrm>
            <a:off x="1422400" y="4987801"/>
            <a:ext cx="7315200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ttore diritto 16">
            <a:extLst>
              <a:ext uri="{FF2B5EF4-FFF2-40B4-BE49-F238E27FC236}">
                <a16:creationId xmlns:a16="http://schemas.microsoft.com/office/drawing/2014/main" id="{40BB1874-E7DC-4D19-BFCD-560628EAB71B}"/>
              </a:ext>
            </a:extLst>
          </p:cNvPr>
          <p:cNvCxnSpPr>
            <a:cxnSpLocks/>
          </p:cNvCxnSpPr>
          <p:nvPr/>
        </p:nvCxnSpPr>
        <p:spPr>
          <a:xfrm>
            <a:off x="9347200" y="7731001"/>
            <a:ext cx="7239000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A192FBB3-3153-4196-ADD3-2885B0745DDC}"/>
              </a:ext>
            </a:extLst>
          </p:cNvPr>
          <p:cNvSpPr txBox="1"/>
          <p:nvPr/>
        </p:nvSpPr>
        <p:spPr>
          <a:xfrm>
            <a:off x="8242300" y="4695264"/>
            <a:ext cx="533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solidFill>
                  <a:schemeClr val="accent6">
                    <a:lumMod val="75000"/>
                  </a:schemeClr>
                </a:solidFill>
              </a:rPr>
              <a:t>40s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A322C8AD-6A3C-482B-BDA0-7C46FCCA72C5}"/>
              </a:ext>
            </a:extLst>
          </p:cNvPr>
          <p:cNvSpPr txBox="1"/>
          <p:nvPr/>
        </p:nvSpPr>
        <p:spPr>
          <a:xfrm>
            <a:off x="16052800" y="7426201"/>
            <a:ext cx="533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solidFill>
                  <a:schemeClr val="accent6">
                    <a:lumMod val="75000"/>
                  </a:schemeClr>
                </a:solidFill>
              </a:rPr>
              <a:t>40s</a:t>
            </a: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06AA7E9C-2566-47A1-BFB5-D5BF8B38E80F}"/>
              </a:ext>
            </a:extLst>
          </p:cNvPr>
          <p:cNvSpPr txBox="1"/>
          <p:nvPr/>
        </p:nvSpPr>
        <p:spPr>
          <a:xfrm rot="16200000">
            <a:off x="4110683" y="5804719"/>
            <a:ext cx="8748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solidFill>
                  <a:srgbClr val="1A63A2"/>
                </a:solidFill>
              </a:rPr>
              <a:t>Linate</a:t>
            </a:r>
          </a:p>
        </p:txBody>
      </p:sp>
      <p:cxnSp>
        <p:nvCxnSpPr>
          <p:cNvPr id="20" name="Connettore 2 19">
            <a:extLst>
              <a:ext uri="{FF2B5EF4-FFF2-40B4-BE49-F238E27FC236}">
                <a16:creationId xmlns:a16="http://schemas.microsoft.com/office/drawing/2014/main" id="{326A631F-B1B8-40B3-9B1C-01F24C640865}"/>
              </a:ext>
            </a:extLst>
          </p:cNvPr>
          <p:cNvCxnSpPr>
            <a:cxnSpLocks/>
          </p:cNvCxnSpPr>
          <p:nvPr/>
        </p:nvCxnSpPr>
        <p:spPr>
          <a:xfrm>
            <a:off x="4318000" y="8995391"/>
            <a:ext cx="457200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bject 30">
            <a:extLst>
              <a:ext uri="{FF2B5EF4-FFF2-40B4-BE49-F238E27FC236}">
                <a16:creationId xmlns:a16="http://schemas.microsoft.com/office/drawing/2014/main" id="{199038A0-1B90-4131-B637-B1035E48DAD2}"/>
              </a:ext>
            </a:extLst>
          </p:cNvPr>
          <p:cNvSpPr txBox="1"/>
          <p:nvPr/>
        </p:nvSpPr>
        <p:spPr>
          <a:xfrm>
            <a:off x="10461692" y="8750041"/>
            <a:ext cx="5010016" cy="4443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spcBef>
                <a:spcPts val="105"/>
              </a:spcBef>
            </a:pPr>
            <a:r>
              <a:rPr lang="it-IT" sz="2800" dirty="0">
                <a:latin typeface="Calibri"/>
                <a:cs typeface="Calibri"/>
              </a:rPr>
              <a:t>San Felicino        Milano</a:t>
            </a:r>
          </a:p>
        </p:txBody>
      </p:sp>
      <p:sp>
        <p:nvSpPr>
          <p:cNvPr id="27" name="Rettangolo con angoli arrotondati 26">
            <a:extLst>
              <a:ext uri="{FF2B5EF4-FFF2-40B4-BE49-F238E27FC236}">
                <a16:creationId xmlns:a16="http://schemas.microsoft.com/office/drawing/2014/main" id="{3CA55145-938A-4DC9-9F03-5B1B6C19B311}"/>
              </a:ext>
            </a:extLst>
          </p:cNvPr>
          <p:cNvSpPr/>
          <p:nvPr/>
        </p:nvSpPr>
        <p:spPr>
          <a:xfrm>
            <a:off x="11099800" y="8648034"/>
            <a:ext cx="3733800" cy="648366"/>
          </a:xfrm>
          <a:prstGeom prst="roundRect">
            <a:avLst/>
          </a:prstGeom>
          <a:noFill/>
          <a:ln w="57150">
            <a:solidFill>
              <a:srgbClr val="1A63A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28" name="Connettore 2 27">
            <a:extLst>
              <a:ext uri="{FF2B5EF4-FFF2-40B4-BE49-F238E27FC236}">
                <a16:creationId xmlns:a16="http://schemas.microsoft.com/office/drawing/2014/main" id="{BA0B281A-2C58-4070-817C-76F5BD6D7E30}"/>
              </a:ext>
            </a:extLst>
          </p:cNvPr>
          <p:cNvCxnSpPr>
            <a:cxnSpLocks/>
          </p:cNvCxnSpPr>
          <p:nvPr/>
        </p:nvCxnSpPr>
        <p:spPr>
          <a:xfrm>
            <a:off x="13081000" y="9004041"/>
            <a:ext cx="457200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0E5E1889-F24D-4C35-90CA-FAD388F99478}"/>
              </a:ext>
            </a:extLst>
          </p:cNvPr>
          <p:cNvSpPr txBox="1"/>
          <p:nvPr/>
        </p:nvSpPr>
        <p:spPr>
          <a:xfrm rot="16200000">
            <a:off x="12565906" y="7063507"/>
            <a:ext cx="8748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solidFill>
                  <a:srgbClr val="1A63A2"/>
                </a:solidFill>
              </a:rPr>
              <a:t>Linate</a:t>
            </a:r>
          </a:p>
        </p:txBody>
      </p:sp>
    </p:spTree>
    <p:extLst>
      <p:ext uri="{BB962C8B-B14F-4D97-AF65-F5344CB8AC3E}">
        <p14:creationId xmlns:p14="http://schemas.microsoft.com/office/powerpoint/2010/main" val="1030017351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bject 10">
            <a:extLst>
              <a:ext uri="{FF2B5EF4-FFF2-40B4-BE49-F238E27FC236}">
                <a16:creationId xmlns:a16="http://schemas.microsoft.com/office/drawing/2014/main" id="{20EDE264-25AA-412E-BEF6-322B16F3E6A6}"/>
              </a:ext>
            </a:extLst>
          </p:cNvPr>
          <p:cNvSpPr txBox="1">
            <a:spLocks/>
          </p:cNvSpPr>
          <p:nvPr/>
        </p:nvSpPr>
        <p:spPr>
          <a:xfrm>
            <a:off x="1270001" y="609600"/>
            <a:ext cx="14399274" cy="690288"/>
          </a:xfrm>
          <a:prstGeom prst="rect">
            <a:avLst/>
          </a:prstGeom>
        </p:spPr>
        <p:txBody>
          <a:bodyPr vert="horz" wrap="square" lIns="0" tIns="96872" rIns="0" bIns="0" rtlCol="0">
            <a:spAutoFit/>
          </a:bodyPr>
          <a:lstStyle>
            <a:lvl1pPr>
              <a:defRPr sz="4150" b="0" i="0">
                <a:solidFill>
                  <a:srgbClr val="08486E"/>
                </a:solidFill>
                <a:latin typeface="Arial MT"/>
                <a:ea typeface="+mj-ea"/>
                <a:cs typeface="Arial MT"/>
              </a:defRPr>
            </a:lvl1pPr>
          </a:lstStyle>
          <a:p>
            <a:pPr>
              <a:spcBef>
                <a:spcPts val="135"/>
              </a:spcBef>
            </a:pPr>
            <a:r>
              <a:rPr lang="it-IT" sz="3850" b="1" spc="50" dirty="0">
                <a:solidFill>
                  <a:srgbClr val="1A63A2"/>
                </a:solidFill>
              </a:rPr>
              <a:t>Modello energetico del veicolo</a:t>
            </a:r>
            <a:endParaRPr lang="it-IT" sz="3850" dirty="0"/>
          </a:p>
        </p:txBody>
      </p:sp>
      <p:sp>
        <p:nvSpPr>
          <p:cNvPr id="33" name="object 4">
            <a:extLst>
              <a:ext uri="{FF2B5EF4-FFF2-40B4-BE49-F238E27FC236}">
                <a16:creationId xmlns:a16="http://schemas.microsoft.com/office/drawing/2014/main" id="{0F4220C0-A1E1-427D-B41F-22AEA52A42F1}"/>
              </a:ext>
            </a:extLst>
          </p:cNvPr>
          <p:cNvSpPr/>
          <p:nvPr/>
        </p:nvSpPr>
        <p:spPr>
          <a:xfrm>
            <a:off x="1041400" y="745067"/>
            <a:ext cx="76200" cy="2381802"/>
          </a:xfrm>
          <a:custGeom>
            <a:avLst/>
            <a:gdLst/>
            <a:ahLst/>
            <a:cxnLst/>
            <a:rect l="l" t="t" r="r" b="b"/>
            <a:pathLst>
              <a:path h="9753600">
                <a:moveTo>
                  <a:pt x="0" y="9753600"/>
                </a:moveTo>
                <a:lnTo>
                  <a:pt x="0" y="0"/>
                </a:lnTo>
              </a:path>
            </a:pathLst>
          </a:custGeom>
          <a:ln w="50800">
            <a:solidFill>
              <a:srgbClr val="1A63A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30">
            <a:extLst>
              <a:ext uri="{FF2B5EF4-FFF2-40B4-BE49-F238E27FC236}">
                <a16:creationId xmlns:a16="http://schemas.microsoft.com/office/drawing/2014/main" id="{A76CE530-0DC5-4B63-8CFF-475B31F5CF43}"/>
              </a:ext>
            </a:extLst>
          </p:cNvPr>
          <p:cNvSpPr txBox="1"/>
          <p:nvPr/>
        </p:nvSpPr>
        <p:spPr>
          <a:xfrm>
            <a:off x="1270001" y="1389855"/>
            <a:ext cx="14935199" cy="173701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just">
              <a:spcBef>
                <a:spcPts val="105"/>
              </a:spcBef>
            </a:pPr>
            <a:r>
              <a:rPr lang="it-IT" sz="2800" dirty="0">
                <a:latin typeface="Calibri"/>
                <a:cs typeface="Calibri"/>
              </a:rPr>
              <a:t>Lo script </a:t>
            </a:r>
            <a:r>
              <a:rPr lang="it-IT" sz="2800" i="1" dirty="0" err="1">
                <a:solidFill>
                  <a:srgbClr val="1A63A2"/>
                </a:solidFill>
                <a:latin typeface="Calibri"/>
                <a:cs typeface="Calibri"/>
              </a:rPr>
              <a:t>Energy.m</a:t>
            </a:r>
            <a:r>
              <a:rPr lang="it-IT" sz="2800" dirty="0">
                <a:latin typeface="Calibri"/>
                <a:cs typeface="Calibri"/>
              </a:rPr>
              <a:t> calcola la potenza richiesta alla batteria istante per istante, considerando i dati di accelerazione e velocità campionate e i dati di targa di Autobus </a:t>
            </a:r>
            <a:r>
              <a:rPr lang="it-IT" sz="2800" dirty="0" err="1">
                <a:latin typeface="Calibri"/>
                <a:cs typeface="Calibri"/>
              </a:rPr>
              <a:t>Solaris</a:t>
            </a:r>
            <a:r>
              <a:rPr lang="it-IT" sz="2800" dirty="0">
                <a:latin typeface="Calibri"/>
                <a:cs typeface="Calibri"/>
              </a:rPr>
              <a:t> Urbino trovati in letteratura. È stato considerata inoltre una potenza necessaria per i servizi ausiliari di 5kW e un numero di passeggeri medio di 40 in base alla nostra esperienza durante la campagna di raccolta dati.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226FF86D-2199-472D-9FC7-06BDEA7BD650}"/>
                  </a:ext>
                </a:extLst>
              </p:cNvPr>
              <p:cNvSpPr txBox="1"/>
              <p:nvPr/>
            </p:nvSpPr>
            <p:spPr>
              <a:xfrm>
                <a:off x="1651000" y="3842837"/>
                <a:ext cx="5334000" cy="9577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sz="2800" dirty="0">
                    <a:solidFill>
                      <a:schemeClr val="tx1"/>
                    </a:solidFill>
                  </a:rPr>
                  <a:t>P</a:t>
                </a:r>
                <a14:m>
                  <m:oMath xmlns:m="http://schemas.openxmlformats.org/officeDocument/2006/math">
                    <m:r>
                      <a:rPr lang="it-IT" sz="2800" i="1" baseline="-2500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𝑡𝑜𝑡</m:t>
                    </m:r>
                  </m:oMath>
                </a14:m>
                <a:r>
                  <a:rPr lang="it-IT" sz="2800" dirty="0">
                    <a:solidFill>
                      <a:schemeClr val="tx1"/>
                    </a:solidFill>
                  </a:rPr>
                  <a:t>= (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3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it-IT" sz="36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a:rPr lang="it-IT" sz="3600" b="0" i="1" baseline="-250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𝑟𝑢𝑜𝑡𝑒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l-GR" sz="3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η</m:t>
                        </m:r>
                      </m:den>
                    </m:f>
                  </m:oMath>
                </a14:m>
                <a:r>
                  <a:rPr lang="it-IT" sz="28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800" dirty="0">
                    <a:solidFill>
                      <a:schemeClr val="tx1"/>
                    </a:solidFill>
                  </a:rPr>
                  <a:t>+ P</a:t>
                </a:r>
                <a:r>
                  <a:rPr lang="it-IT" sz="2800" i="1" baseline="-25000" dirty="0">
                    <a:solidFill>
                      <a:schemeClr val="tx1"/>
                    </a:solidFill>
                  </a:rPr>
                  <a:t>reg</a:t>
                </a:r>
                <a:r>
                  <a:rPr lang="it-IT" sz="28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∙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η</m:t>
                    </m:r>
                    <m:r>
                      <a:rPr lang="it-IT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sz="28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∙ </a:t>
                </a:r>
                <a:r>
                  <a:rPr lang="it-IT" sz="2800" dirty="0">
                    <a:solidFill>
                      <a:schemeClr val="tx1"/>
                    </a:solidFill>
                  </a:rPr>
                  <a:t>S ) + </a:t>
                </a:r>
                <a:r>
                  <a:rPr lang="it-IT" sz="2800" dirty="0" err="1">
                    <a:solidFill>
                      <a:schemeClr val="tx1"/>
                    </a:solidFill>
                  </a:rPr>
                  <a:t>P</a:t>
                </a:r>
                <a:r>
                  <a:rPr lang="it-IT" i="1" dirty="0" err="1">
                    <a:solidFill>
                      <a:schemeClr val="tx1"/>
                    </a:solidFill>
                  </a:rPr>
                  <a:t>aux</a:t>
                </a:r>
                <a:endParaRPr lang="it-IT" sz="28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226FF86D-2199-472D-9FC7-06BDEA7BD6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1000" y="3842837"/>
                <a:ext cx="5334000" cy="957763"/>
              </a:xfrm>
              <a:prstGeom prst="rect">
                <a:avLst/>
              </a:prstGeom>
              <a:blipFill>
                <a:blip r:embed="rId2"/>
                <a:stretch>
                  <a:fillRect l="-240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ttangolo con angoli arrotondati 9">
            <a:extLst>
              <a:ext uri="{FF2B5EF4-FFF2-40B4-BE49-F238E27FC236}">
                <a16:creationId xmlns:a16="http://schemas.microsoft.com/office/drawing/2014/main" id="{3DCA2E38-7006-4B71-8F86-566F9DB1C2AD}"/>
              </a:ext>
            </a:extLst>
          </p:cNvPr>
          <p:cNvSpPr/>
          <p:nvPr/>
        </p:nvSpPr>
        <p:spPr>
          <a:xfrm>
            <a:off x="1574800" y="3657600"/>
            <a:ext cx="5486400" cy="12954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C227CE50-50C0-4074-BD31-71D6F60821E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9829"/>
          <a:stretch/>
        </p:blipFill>
        <p:spPr>
          <a:xfrm>
            <a:off x="8152742" y="3842837"/>
            <a:ext cx="8297057" cy="5382613"/>
          </a:xfrm>
          <a:prstGeom prst="rect">
            <a:avLst/>
          </a:prstGeom>
          <a:effectLst>
            <a:softEdge rad="127000"/>
          </a:effectLst>
        </p:spPr>
      </p:pic>
      <p:sp>
        <p:nvSpPr>
          <p:cNvPr id="25" name="object 30">
            <a:extLst>
              <a:ext uri="{FF2B5EF4-FFF2-40B4-BE49-F238E27FC236}">
                <a16:creationId xmlns:a16="http://schemas.microsoft.com/office/drawing/2014/main" id="{5295C424-E76A-44AB-81E8-43F93EA56DE9}"/>
              </a:ext>
            </a:extLst>
          </p:cNvPr>
          <p:cNvSpPr txBox="1"/>
          <p:nvPr/>
        </p:nvSpPr>
        <p:spPr>
          <a:xfrm>
            <a:off x="1270001" y="5334000"/>
            <a:ext cx="6096000" cy="38914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just">
              <a:spcBef>
                <a:spcPts val="105"/>
              </a:spcBef>
            </a:pPr>
            <a:r>
              <a:rPr lang="it-IT" sz="2800" dirty="0">
                <a:latin typeface="Calibri"/>
                <a:cs typeface="Calibri"/>
              </a:rPr>
              <a:t>La potenza richiesta alle ruote tiene conto di </a:t>
            </a:r>
            <a:r>
              <a:rPr lang="it-IT" sz="2800" dirty="0">
                <a:solidFill>
                  <a:srgbClr val="1A63A2"/>
                </a:solidFill>
                <a:latin typeface="Calibri"/>
                <a:cs typeface="Calibri"/>
              </a:rPr>
              <a:t>inerzia</a:t>
            </a:r>
            <a:r>
              <a:rPr lang="it-IT" sz="2800" dirty="0">
                <a:latin typeface="Calibri"/>
                <a:cs typeface="Calibri"/>
              </a:rPr>
              <a:t> (</a:t>
            </a:r>
            <a:r>
              <a:rPr lang="it-IT" sz="2800" i="1" dirty="0">
                <a:latin typeface="Calibri"/>
                <a:cs typeface="Calibri"/>
              </a:rPr>
              <a:t>accelerazione</a:t>
            </a:r>
            <a:r>
              <a:rPr lang="it-IT" sz="2800" dirty="0">
                <a:latin typeface="Calibri"/>
                <a:cs typeface="Calibri"/>
              </a:rPr>
              <a:t>), resistenza al </a:t>
            </a:r>
            <a:r>
              <a:rPr lang="it-IT" sz="2800" dirty="0">
                <a:solidFill>
                  <a:srgbClr val="1A63A2"/>
                </a:solidFill>
                <a:latin typeface="Calibri"/>
                <a:cs typeface="Calibri"/>
              </a:rPr>
              <a:t>rotolamento</a:t>
            </a:r>
            <a:r>
              <a:rPr lang="it-IT" sz="2800" dirty="0">
                <a:latin typeface="Calibri"/>
                <a:cs typeface="Calibri"/>
              </a:rPr>
              <a:t> e resistenza </a:t>
            </a:r>
            <a:r>
              <a:rPr lang="it-IT" sz="2800" dirty="0">
                <a:solidFill>
                  <a:srgbClr val="1A63A2"/>
                </a:solidFill>
                <a:latin typeface="Calibri"/>
                <a:cs typeface="Calibri"/>
              </a:rPr>
              <a:t>aerodinamica</a:t>
            </a:r>
            <a:r>
              <a:rPr lang="it-IT" sz="2800" dirty="0">
                <a:latin typeface="Calibri"/>
                <a:cs typeface="Calibri"/>
              </a:rPr>
              <a:t>. È stato considerato un </a:t>
            </a:r>
            <a:r>
              <a:rPr lang="it-IT" sz="2800" dirty="0">
                <a:solidFill>
                  <a:srgbClr val="1A63A2"/>
                </a:solidFill>
                <a:latin typeface="Calibri"/>
                <a:cs typeface="Calibri"/>
              </a:rPr>
              <a:t>fattore di split</a:t>
            </a:r>
            <a:r>
              <a:rPr lang="it-IT" sz="2800" dirty="0">
                <a:latin typeface="Calibri"/>
                <a:cs typeface="Calibri"/>
              </a:rPr>
              <a:t> S=0,4 e un ugual rendimento (</a:t>
            </a:r>
            <a:r>
              <a:rPr lang="el-GR" sz="2800" dirty="0">
                <a:latin typeface="Calibri"/>
                <a:cs typeface="Calibri"/>
              </a:rPr>
              <a:t>η</a:t>
            </a:r>
            <a:r>
              <a:rPr lang="it-IT" sz="2800" dirty="0">
                <a:latin typeface="Calibri"/>
                <a:cs typeface="Calibri"/>
              </a:rPr>
              <a:t>) della </a:t>
            </a:r>
            <a:r>
              <a:rPr lang="it-IT" sz="2800" dirty="0">
                <a:solidFill>
                  <a:srgbClr val="1A63A2"/>
                </a:solidFill>
                <a:latin typeface="Calibri"/>
                <a:cs typeface="Calibri"/>
              </a:rPr>
              <a:t>trasmissione batteria-ruote </a:t>
            </a:r>
            <a:r>
              <a:rPr lang="it-IT" sz="2800" dirty="0">
                <a:latin typeface="Calibri"/>
                <a:cs typeface="Calibri"/>
              </a:rPr>
              <a:t>sia in senso diretto che in </a:t>
            </a:r>
            <a:r>
              <a:rPr lang="it-IT" sz="2800" dirty="0">
                <a:solidFill>
                  <a:srgbClr val="1A63A2"/>
                </a:solidFill>
                <a:latin typeface="Calibri"/>
                <a:cs typeface="Calibri"/>
              </a:rPr>
              <a:t>frenata rigenerativa</a:t>
            </a:r>
            <a:r>
              <a:rPr lang="it-IT" sz="2800" dirty="0">
                <a:latin typeface="Calibri"/>
                <a:cs typeface="Calibri"/>
              </a:rPr>
              <a:t>. Per il calcolo della potenza rigenerata in frenata (P</a:t>
            </a:r>
            <a:r>
              <a:rPr lang="it-IT" sz="2800" baseline="-25000" dirty="0">
                <a:latin typeface="Calibri"/>
                <a:cs typeface="Calibri"/>
              </a:rPr>
              <a:t>reg</a:t>
            </a:r>
            <a:r>
              <a:rPr lang="it-IT" sz="2800" dirty="0">
                <a:latin typeface="Calibri"/>
                <a:cs typeface="Calibri"/>
              </a:rPr>
              <a:t>) si rimanda allo script.</a:t>
            </a:r>
          </a:p>
        </p:txBody>
      </p:sp>
    </p:spTree>
    <p:extLst>
      <p:ext uri="{BB962C8B-B14F-4D97-AF65-F5344CB8AC3E}">
        <p14:creationId xmlns:p14="http://schemas.microsoft.com/office/powerpoint/2010/main" val="2825876698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bject 10">
            <a:extLst>
              <a:ext uri="{FF2B5EF4-FFF2-40B4-BE49-F238E27FC236}">
                <a16:creationId xmlns:a16="http://schemas.microsoft.com/office/drawing/2014/main" id="{20EDE264-25AA-412E-BEF6-322B16F3E6A6}"/>
              </a:ext>
            </a:extLst>
          </p:cNvPr>
          <p:cNvSpPr txBox="1">
            <a:spLocks/>
          </p:cNvSpPr>
          <p:nvPr/>
        </p:nvSpPr>
        <p:spPr>
          <a:xfrm>
            <a:off x="1270001" y="381000"/>
            <a:ext cx="14399274" cy="690288"/>
          </a:xfrm>
          <a:prstGeom prst="rect">
            <a:avLst/>
          </a:prstGeom>
        </p:spPr>
        <p:txBody>
          <a:bodyPr vert="horz" wrap="square" lIns="0" tIns="96872" rIns="0" bIns="0" rtlCol="0">
            <a:spAutoFit/>
          </a:bodyPr>
          <a:lstStyle>
            <a:lvl1pPr>
              <a:defRPr sz="4150" b="0" i="0">
                <a:solidFill>
                  <a:srgbClr val="08486E"/>
                </a:solidFill>
                <a:latin typeface="Arial MT"/>
                <a:ea typeface="+mj-ea"/>
                <a:cs typeface="Arial MT"/>
              </a:defRPr>
            </a:lvl1pPr>
          </a:lstStyle>
          <a:p>
            <a:pPr>
              <a:spcBef>
                <a:spcPts val="135"/>
              </a:spcBef>
            </a:pPr>
            <a:r>
              <a:rPr lang="it-IT" sz="3850" b="1" spc="50" dirty="0">
                <a:solidFill>
                  <a:srgbClr val="1A63A2"/>
                </a:solidFill>
              </a:rPr>
              <a:t>Consumi medi e </a:t>
            </a:r>
            <a:r>
              <a:rPr lang="it-IT" sz="3850" b="1" spc="50" dirty="0" err="1">
                <a:solidFill>
                  <a:srgbClr val="1A63A2"/>
                </a:solidFill>
              </a:rPr>
              <a:t>SoC</a:t>
            </a:r>
            <a:r>
              <a:rPr lang="it-IT" sz="3850" b="1" spc="50" dirty="0">
                <a:solidFill>
                  <a:srgbClr val="1A63A2"/>
                </a:solidFill>
              </a:rPr>
              <a:t> della batteria</a:t>
            </a:r>
            <a:endParaRPr lang="it-IT" sz="3850" dirty="0"/>
          </a:p>
        </p:txBody>
      </p:sp>
      <p:sp>
        <p:nvSpPr>
          <p:cNvPr id="33" name="object 4">
            <a:extLst>
              <a:ext uri="{FF2B5EF4-FFF2-40B4-BE49-F238E27FC236}">
                <a16:creationId xmlns:a16="http://schemas.microsoft.com/office/drawing/2014/main" id="{0F4220C0-A1E1-427D-B41F-22AEA52A42F1}"/>
              </a:ext>
            </a:extLst>
          </p:cNvPr>
          <p:cNvSpPr/>
          <p:nvPr/>
        </p:nvSpPr>
        <p:spPr>
          <a:xfrm>
            <a:off x="1041400" y="516467"/>
            <a:ext cx="76200" cy="1883043"/>
          </a:xfrm>
          <a:custGeom>
            <a:avLst/>
            <a:gdLst/>
            <a:ahLst/>
            <a:cxnLst/>
            <a:rect l="l" t="t" r="r" b="b"/>
            <a:pathLst>
              <a:path h="9753600">
                <a:moveTo>
                  <a:pt x="0" y="9753600"/>
                </a:moveTo>
                <a:lnTo>
                  <a:pt x="0" y="0"/>
                </a:lnTo>
              </a:path>
            </a:pathLst>
          </a:custGeom>
          <a:ln w="50800">
            <a:solidFill>
              <a:srgbClr val="1A63A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30">
            <a:extLst>
              <a:ext uri="{FF2B5EF4-FFF2-40B4-BE49-F238E27FC236}">
                <a16:creationId xmlns:a16="http://schemas.microsoft.com/office/drawing/2014/main" id="{F8E8087B-917B-49E3-8759-DBED26DAD54A}"/>
              </a:ext>
            </a:extLst>
          </p:cNvPr>
          <p:cNvSpPr txBox="1"/>
          <p:nvPr/>
        </p:nvSpPr>
        <p:spPr>
          <a:xfrm>
            <a:off x="1803400" y="8364831"/>
            <a:ext cx="14858999" cy="87524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just">
              <a:spcBef>
                <a:spcPts val="105"/>
              </a:spcBef>
            </a:pPr>
            <a:r>
              <a:rPr lang="it-IT" sz="2800" dirty="0">
                <a:latin typeface="Calibri"/>
                <a:cs typeface="Calibri"/>
              </a:rPr>
              <a:t>Qualora si volesse considerare un diverso tipo di autobus, di batteria, un numero diverso di passeggeri o un consumo dei servizi ausiliari diverso (estate/inverno) è sufficiente modificare il dato nello script.</a:t>
            </a:r>
          </a:p>
        </p:txBody>
      </p:sp>
      <p:sp>
        <p:nvSpPr>
          <p:cNvPr id="12" name="object 30">
            <a:extLst>
              <a:ext uri="{FF2B5EF4-FFF2-40B4-BE49-F238E27FC236}">
                <a16:creationId xmlns:a16="http://schemas.microsoft.com/office/drawing/2014/main" id="{93BC25A4-6BAF-4B38-9085-D2DDE2BD1322}"/>
              </a:ext>
            </a:extLst>
          </p:cNvPr>
          <p:cNvSpPr txBox="1"/>
          <p:nvPr/>
        </p:nvSpPr>
        <p:spPr>
          <a:xfrm>
            <a:off x="1269998" y="1093383"/>
            <a:ext cx="15392401" cy="130612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just">
              <a:spcBef>
                <a:spcPts val="105"/>
              </a:spcBef>
            </a:pPr>
            <a:r>
              <a:rPr lang="it-IT" sz="2800" dirty="0">
                <a:latin typeface="Calibri"/>
                <a:cs typeface="Calibri"/>
              </a:rPr>
              <a:t>Considerando una capacità della batteria del bus di </a:t>
            </a:r>
            <a:r>
              <a:rPr lang="it-IT" sz="2800" dirty="0">
                <a:solidFill>
                  <a:srgbClr val="1A63A2"/>
                </a:solidFill>
                <a:latin typeface="Calibri"/>
                <a:cs typeface="Calibri"/>
              </a:rPr>
              <a:t>300 kWh</a:t>
            </a:r>
            <a:r>
              <a:rPr lang="it-IT" sz="2800" dirty="0">
                <a:latin typeface="Calibri"/>
                <a:cs typeface="Calibri"/>
              </a:rPr>
              <a:t>, il consumo di energia ad ogni corsa andata + ritorno, senza ricariche intermedie, porta la batteria a scaricarsi poco meno del </a:t>
            </a:r>
            <a:r>
              <a:rPr lang="it-IT" sz="2800" dirty="0">
                <a:solidFill>
                  <a:srgbClr val="1A63A2"/>
                </a:solidFill>
                <a:latin typeface="Calibri"/>
                <a:cs typeface="Calibri"/>
              </a:rPr>
              <a:t>15%</a:t>
            </a:r>
            <a:r>
              <a:rPr lang="it-IT" sz="2800" dirty="0">
                <a:latin typeface="Calibri"/>
                <a:cs typeface="Calibri"/>
              </a:rPr>
              <a:t>. In particolare, mediamente si consumano 18.3 kWh durante il tragitto di andata e 19.7 kWh durante il ritorno.</a:t>
            </a:r>
          </a:p>
        </p:txBody>
      </p:sp>
      <p:pic>
        <p:nvPicPr>
          <p:cNvPr id="14" name="Elemento grafico 13" descr="Punto esclamativo">
            <a:extLst>
              <a:ext uri="{FF2B5EF4-FFF2-40B4-BE49-F238E27FC236}">
                <a16:creationId xmlns:a16="http://schemas.microsoft.com/office/drawing/2014/main" id="{3C79469C-C16C-423C-951F-751D9AA008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5200" y="8339878"/>
            <a:ext cx="914400" cy="914400"/>
          </a:xfrm>
          <a:prstGeom prst="rect">
            <a:avLst/>
          </a:prstGeom>
        </p:spPr>
      </p:pic>
      <p:grpSp>
        <p:nvGrpSpPr>
          <p:cNvPr id="24" name="Gruppo 23">
            <a:extLst>
              <a:ext uri="{FF2B5EF4-FFF2-40B4-BE49-F238E27FC236}">
                <a16:creationId xmlns:a16="http://schemas.microsoft.com/office/drawing/2014/main" id="{A150FB62-A71B-463D-AAAC-88450AC45BE3}"/>
              </a:ext>
            </a:extLst>
          </p:cNvPr>
          <p:cNvGrpSpPr/>
          <p:nvPr/>
        </p:nvGrpSpPr>
        <p:grpSpPr>
          <a:xfrm>
            <a:off x="12176376" y="6328566"/>
            <a:ext cx="3505200" cy="1672434"/>
            <a:chOff x="12776200" y="5791201"/>
            <a:chExt cx="3505200" cy="1672434"/>
          </a:xfrm>
        </p:grpSpPr>
        <p:sp>
          <p:nvSpPr>
            <p:cNvPr id="18" name="Rettangolo con angoli arrotondati 17">
              <a:extLst>
                <a:ext uri="{FF2B5EF4-FFF2-40B4-BE49-F238E27FC236}">
                  <a16:creationId xmlns:a16="http://schemas.microsoft.com/office/drawing/2014/main" id="{F0613082-6866-4C23-9FAE-72F379522571}"/>
                </a:ext>
              </a:extLst>
            </p:cNvPr>
            <p:cNvSpPr/>
            <p:nvPr/>
          </p:nvSpPr>
          <p:spPr>
            <a:xfrm>
              <a:off x="12776200" y="5791201"/>
              <a:ext cx="3505200" cy="1496915"/>
            </a:xfrm>
            <a:prstGeom prst="roundRect">
              <a:avLst/>
            </a:prstGeom>
            <a:noFill/>
            <a:ln w="762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1" name="CasellaDiTesto 20">
              <a:extLst>
                <a:ext uri="{FF2B5EF4-FFF2-40B4-BE49-F238E27FC236}">
                  <a16:creationId xmlns:a16="http://schemas.microsoft.com/office/drawing/2014/main" id="{3056B354-588E-46D1-B0C4-4F03747E3681}"/>
                </a:ext>
              </a:extLst>
            </p:cNvPr>
            <p:cNvSpPr txBox="1"/>
            <p:nvPr/>
          </p:nvSpPr>
          <p:spPr>
            <a:xfrm>
              <a:off x="12852400" y="6019800"/>
              <a:ext cx="3352800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2000" b="1" dirty="0">
                  <a:solidFill>
                    <a:schemeClr val="accent6">
                      <a:lumMod val="75000"/>
                    </a:schemeClr>
                  </a:solidFill>
                </a:rPr>
                <a:t>Consumo totale ciclo A/R</a:t>
              </a:r>
              <a:endParaRPr lang="it-IT" sz="2000" dirty="0"/>
            </a:p>
            <a:p>
              <a:pPr algn="ctr"/>
              <a:endParaRPr lang="it-IT" dirty="0"/>
            </a:p>
          </p:txBody>
        </p:sp>
        <p:sp>
          <p:nvSpPr>
            <p:cNvPr id="27" name="CasellaDiTesto 26">
              <a:extLst>
                <a:ext uri="{FF2B5EF4-FFF2-40B4-BE49-F238E27FC236}">
                  <a16:creationId xmlns:a16="http://schemas.microsoft.com/office/drawing/2014/main" id="{FC78B6D0-7B8A-44B9-BFC3-1F61B47F8BFF}"/>
                </a:ext>
              </a:extLst>
            </p:cNvPr>
            <p:cNvSpPr txBox="1"/>
            <p:nvPr/>
          </p:nvSpPr>
          <p:spPr>
            <a:xfrm>
              <a:off x="12840447" y="6355639"/>
              <a:ext cx="3352800" cy="1107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4800" b="1" dirty="0">
                  <a:solidFill>
                    <a:schemeClr val="accent6">
                      <a:lumMod val="75000"/>
                    </a:schemeClr>
                  </a:solidFill>
                </a:rPr>
                <a:t>~38 kWh</a:t>
              </a:r>
              <a:endParaRPr lang="it-IT" sz="4800" b="1" dirty="0"/>
            </a:p>
            <a:p>
              <a:pPr algn="ctr"/>
              <a:endParaRPr lang="it-IT" dirty="0"/>
            </a:p>
          </p:txBody>
        </p:sp>
      </p:grpSp>
      <p:grpSp>
        <p:nvGrpSpPr>
          <p:cNvPr id="29" name="Gruppo 28">
            <a:extLst>
              <a:ext uri="{FF2B5EF4-FFF2-40B4-BE49-F238E27FC236}">
                <a16:creationId xmlns:a16="http://schemas.microsoft.com/office/drawing/2014/main" id="{59647552-2DD5-420C-9DDC-9F6EFCC80AF3}"/>
              </a:ext>
            </a:extLst>
          </p:cNvPr>
          <p:cNvGrpSpPr/>
          <p:nvPr/>
        </p:nvGrpSpPr>
        <p:grpSpPr>
          <a:xfrm>
            <a:off x="11328400" y="3414119"/>
            <a:ext cx="2448177" cy="1767481"/>
            <a:chOff x="12852401" y="5814710"/>
            <a:chExt cx="3399392" cy="1207891"/>
          </a:xfrm>
        </p:grpSpPr>
        <p:sp>
          <p:nvSpPr>
            <p:cNvPr id="30" name="Rettangolo con angoli arrotondati 29">
              <a:extLst>
                <a:ext uri="{FF2B5EF4-FFF2-40B4-BE49-F238E27FC236}">
                  <a16:creationId xmlns:a16="http://schemas.microsoft.com/office/drawing/2014/main" id="{EB2ED1A5-D546-4A30-8094-EEEAA870FCE9}"/>
                </a:ext>
              </a:extLst>
            </p:cNvPr>
            <p:cNvSpPr/>
            <p:nvPr/>
          </p:nvSpPr>
          <p:spPr>
            <a:xfrm>
              <a:off x="12898992" y="5814710"/>
              <a:ext cx="3352801" cy="1207891"/>
            </a:xfrm>
            <a:prstGeom prst="roundRect">
              <a:avLst/>
            </a:prstGeom>
            <a:noFill/>
            <a:ln w="76200">
              <a:solidFill>
                <a:srgbClr val="1A63A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31" name="CasellaDiTesto 30">
              <a:extLst>
                <a:ext uri="{FF2B5EF4-FFF2-40B4-BE49-F238E27FC236}">
                  <a16:creationId xmlns:a16="http://schemas.microsoft.com/office/drawing/2014/main" id="{7D409123-BCA7-46FF-BD95-DBAABA75CA1E}"/>
                </a:ext>
              </a:extLst>
            </p:cNvPr>
            <p:cNvSpPr txBox="1"/>
            <p:nvPr/>
          </p:nvSpPr>
          <p:spPr>
            <a:xfrm>
              <a:off x="12852401" y="5866787"/>
              <a:ext cx="3352800" cy="6310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b="1" dirty="0">
                  <a:solidFill>
                    <a:srgbClr val="1A63A2"/>
                  </a:solidFill>
                </a:rPr>
                <a:t>Consumo medio andata</a:t>
              </a:r>
              <a:endParaRPr lang="it-IT" dirty="0">
                <a:solidFill>
                  <a:srgbClr val="1A63A2"/>
                </a:solidFill>
              </a:endParaRPr>
            </a:p>
            <a:p>
              <a:pPr algn="ctr"/>
              <a:endParaRPr lang="it-IT" dirty="0"/>
            </a:p>
          </p:txBody>
        </p:sp>
        <p:sp>
          <p:nvSpPr>
            <p:cNvPr id="34" name="CasellaDiTesto 33">
              <a:extLst>
                <a:ext uri="{FF2B5EF4-FFF2-40B4-BE49-F238E27FC236}">
                  <a16:creationId xmlns:a16="http://schemas.microsoft.com/office/drawing/2014/main" id="{1F21C2C9-F5BA-4B77-B97D-41D674B4CBE2}"/>
                </a:ext>
              </a:extLst>
            </p:cNvPr>
            <p:cNvSpPr txBox="1"/>
            <p:nvPr/>
          </p:nvSpPr>
          <p:spPr>
            <a:xfrm>
              <a:off x="12853767" y="6283386"/>
              <a:ext cx="3352800" cy="6310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3600" b="1" dirty="0">
                  <a:solidFill>
                    <a:srgbClr val="1A63A2"/>
                  </a:solidFill>
                </a:rPr>
                <a:t>18.3 kWh</a:t>
              </a:r>
            </a:p>
            <a:p>
              <a:pPr algn="ctr"/>
              <a:r>
                <a:rPr lang="it-IT" dirty="0"/>
                <a:t>(6.1% della batteria)</a:t>
              </a:r>
            </a:p>
          </p:txBody>
        </p:sp>
      </p:grpSp>
      <p:grpSp>
        <p:nvGrpSpPr>
          <p:cNvPr id="39" name="Gruppo 38">
            <a:extLst>
              <a:ext uri="{FF2B5EF4-FFF2-40B4-BE49-F238E27FC236}">
                <a16:creationId xmlns:a16="http://schemas.microsoft.com/office/drawing/2014/main" id="{34754FB3-F704-4F63-9F96-E1B8CBEA12BC}"/>
              </a:ext>
            </a:extLst>
          </p:cNvPr>
          <p:cNvGrpSpPr/>
          <p:nvPr/>
        </p:nvGrpSpPr>
        <p:grpSpPr>
          <a:xfrm>
            <a:off x="13995399" y="3414117"/>
            <a:ext cx="2448177" cy="1767481"/>
            <a:chOff x="12852401" y="5814710"/>
            <a:chExt cx="3399392" cy="1207891"/>
          </a:xfrm>
        </p:grpSpPr>
        <p:sp>
          <p:nvSpPr>
            <p:cNvPr id="40" name="Rettangolo con angoli arrotondati 39">
              <a:extLst>
                <a:ext uri="{FF2B5EF4-FFF2-40B4-BE49-F238E27FC236}">
                  <a16:creationId xmlns:a16="http://schemas.microsoft.com/office/drawing/2014/main" id="{6C216E42-94A0-43D7-8B15-F09E4A77E073}"/>
                </a:ext>
              </a:extLst>
            </p:cNvPr>
            <p:cNvSpPr/>
            <p:nvPr/>
          </p:nvSpPr>
          <p:spPr>
            <a:xfrm>
              <a:off x="12898992" y="5814710"/>
              <a:ext cx="3352801" cy="1207891"/>
            </a:xfrm>
            <a:prstGeom prst="roundRect">
              <a:avLst/>
            </a:prstGeom>
            <a:noFill/>
            <a:ln w="76200">
              <a:solidFill>
                <a:srgbClr val="1A63A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41" name="CasellaDiTesto 40">
              <a:extLst>
                <a:ext uri="{FF2B5EF4-FFF2-40B4-BE49-F238E27FC236}">
                  <a16:creationId xmlns:a16="http://schemas.microsoft.com/office/drawing/2014/main" id="{A8A38B74-6145-4073-9CB1-6B94C77F6B73}"/>
                </a:ext>
              </a:extLst>
            </p:cNvPr>
            <p:cNvSpPr txBox="1"/>
            <p:nvPr/>
          </p:nvSpPr>
          <p:spPr>
            <a:xfrm>
              <a:off x="12852401" y="5866787"/>
              <a:ext cx="3352800" cy="6310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b="1" dirty="0">
                  <a:solidFill>
                    <a:srgbClr val="1A63A2"/>
                  </a:solidFill>
                </a:rPr>
                <a:t>Consumo medio ritorno</a:t>
              </a:r>
              <a:endParaRPr lang="it-IT" dirty="0">
                <a:solidFill>
                  <a:srgbClr val="1A63A2"/>
                </a:solidFill>
              </a:endParaRPr>
            </a:p>
            <a:p>
              <a:pPr algn="ctr"/>
              <a:endParaRPr lang="it-IT" dirty="0"/>
            </a:p>
          </p:txBody>
        </p:sp>
        <p:sp>
          <p:nvSpPr>
            <p:cNvPr id="42" name="CasellaDiTesto 41">
              <a:extLst>
                <a:ext uri="{FF2B5EF4-FFF2-40B4-BE49-F238E27FC236}">
                  <a16:creationId xmlns:a16="http://schemas.microsoft.com/office/drawing/2014/main" id="{346226EA-20B4-4445-952B-F55589949738}"/>
                </a:ext>
              </a:extLst>
            </p:cNvPr>
            <p:cNvSpPr txBox="1"/>
            <p:nvPr/>
          </p:nvSpPr>
          <p:spPr>
            <a:xfrm>
              <a:off x="12853767" y="6283386"/>
              <a:ext cx="3352800" cy="6310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3600" b="1" dirty="0">
                  <a:solidFill>
                    <a:srgbClr val="1A63A2"/>
                  </a:solidFill>
                </a:rPr>
                <a:t>19.7 kWh</a:t>
              </a:r>
            </a:p>
            <a:p>
              <a:pPr algn="ctr"/>
              <a:r>
                <a:rPr lang="it-IT" dirty="0"/>
                <a:t>(6.6% della batteria)</a:t>
              </a:r>
            </a:p>
          </p:txBody>
        </p:sp>
      </p:grpSp>
      <p:pic>
        <p:nvPicPr>
          <p:cNvPr id="28" name="Elemento grafico 27" descr="Freccia, curva oraria">
            <a:extLst>
              <a:ext uri="{FF2B5EF4-FFF2-40B4-BE49-F238E27FC236}">
                <a16:creationId xmlns:a16="http://schemas.microsoft.com/office/drawing/2014/main" id="{00CAC509-20DF-43D4-BA12-7D282F527F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3669828">
            <a:off x="14422366" y="5293990"/>
            <a:ext cx="914400" cy="914400"/>
          </a:xfrm>
          <a:prstGeom prst="rect">
            <a:avLst/>
          </a:prstGeom>
        </p:spPr>
      </p:pic>
      <p:pic>
        <p:nvPicPr>
          <p:cNvPr id="43" name="Elemento grafico 42" descr="Freccia, curva oraria">
            <a:extLst>
              <a:ext uri="{FF2B5EF4-FFF2-40B4-BE49-F238E27FC236}">
                <a16:creationId xmlns:a16="http://schemas.microsoft.com/office/drawing/2014/main" id="{2B863148-735B-451A-8F0E-753022F0F5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7930172" flipH="1">
            <a:off x="12593566" y="5293990"/>
            <a:ext cx="914400" cy="914400"/>
          </a:xfrm>
          <a:prstGeom prst="rect">
            <a:avLst/>
          </a:prstGeom>
        </p:spPr>
      </p:pic>
      <p:pic>
        <p:nvPicPr>
          <p:cNvPr id="2" name="Immagine 1">
            <a:extLst>
              <a:ext uri="{FF2B5EF4-FFF2-40B4-BE49-F238E27FC236}">
                <a16:creationId xmlns:a16="http://schemas.microsoft.com/office/drawing/2014/main" id="{027CABAA-B685-45C2-A137-D9BBC637D43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6317" y="3389863"/>
            <a:ext cx="9554883" cy="4732528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C3B24C48-AB04-45B0-9411-05189185991C}"/>
              </a:ext>
            </a:extLst>
          </p:cNvPr>
          <p:cNvSpPr txBox="1"/>
          <p:nvPr/>
        </p:nvSpPr>
        <p:spPr>
          <a:xfrm>
            <a:off x="1346201" y="2876490"/>
            <a:ext cx="95249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b="1" dirty="0">
                <a:solidFill>
                  <a:srgbClr val="1A63A2"/>
                </a:solidFill>
              </a:rPr>
              <a:t>Andamenti dello State of </a:t>
            </a:r>
            <a:r>
              <a:rPr lang="it-IT" sz="2000" b="1" dirty="0" err="1">
                <a:solidFill>
                  <a:srgbClr val="1A63A2"/>
                </a:solidFill>
              </a:rPr>
              <a:t>Charge</a:t>
            </a:r>
            <a:r>
              <a:rPr lang="it-IT" sz="2000" b="1" dirty="0">
                <a:solidFill>
                  <a:srgbClr val="1A63A2"/>
                </a:solidFill>
              </a:rPr>
              <a:t> (</a:t>
            </a:r>
            <a:r>
              <a:rPr lang="it-IT" sz="2000" b="1" dirty="0" err="1">
                <a:solidFill>
                  <a:srgbClr val="1A63A2"/>
                </a:solidFill>
              </a:rPr>
              <a:t>SoC</a:t>
            </a:r>
            <a:r>
              <a:rPr lang="it-IT" sz="2000" b="1" dirty="0">
                <a:solidFill>
                  <a:srgbClr val="1A63A2"/>
                </a:solidFill>
              </a:rPr>
              <a:t>) di ogni log – ciclo A/R</a:t>
            </a:r>
          </a:p>
        </p:txBody>
      </p:sp>
    </p:spTree>
    <p:extLst>
      <p:ext uri="{BB962C8B-B14F-4D97-AF65-F5344CB8AC3E}">
        <p14:creationId xmlns:p14="http://schemas.microsoft.com/office/powerpoint/2010/main" val="2590099166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bject 10">
            <a:extLst>
              <a:ext uri="{FF2B5EF4-FFF2-40B4-BE49-F238E27FC236}">
                <a16:creationId xmlns:a16="http://schemas.microsoft.com/office/drawing/2014/main" id="{20EDE264-25AA-412E-BEF6-322B16F3E6A6}"/>
              </a:ext>
            </a:extLst>
          </p:cNvPr>
          <p:cNvSpPr txBox="1">
            <a:spLocks/>
          </p:cNvSpPr>
          <p:nvPr/>
        </p:nvSpPr>
        <p:spPr>
          <a:xfrm>
            <a:off x="1270001" y="872594"/>
            <a:ext cx="14399274" cy="690288"/>
          </a:xfrm>
          <a:prstGeom prst="rect">
            <a:avLst/>
          </a:prstGeom>
        </p:spPr>
        <p:txBody>
          <a:bodyPr vert="horz" wrap="square" lIns="0" tIns="96872" rIns="0" bIns="0" rtlCol="0">
            <a:spAutoFit/>
          </a:bodyPr>
          <a:lstStyle>
            <a:lvl1pPr>
              <a:defRPr sz="4150" b="0" i="0">
                <a:solidFill>
                  <a:srgbClr val="08486E"/>
                </a:solidFill>
                <a:latin typeface="Arial MT"/>
                <a:ea typeface="+mj-ea"/>
                <a:cs typeface="Arial MT"/>
              </a:defRPr>
            </a:lvl1pPr>
          </a:lstStyle>
          <a:p>
            <a:pPr>
              <a:spcBef>
                <a:spcPts val="135"/>
              </a:spcBef>
            </a:pPr>
            <a:r>
              <a:rPr lang="it-IT" sz="3850" b="1" spc="50" dirty="0">
                <a:solidFill>
                  <a:srgbClr val="1A63A2"/>
                </a:solidFill>
              </a:rPr>
              <a:t>Scenario con ricarica WPT ad ogni fermata</a:t>
            </a:r>
            <a:endParaRPr lang="it-IT" sz="3850" dirty="0"/>
          </a:p>
        </p:txBody>
      </p:sp>
      <p:sp>
        <p:nvSpPr>
          <p:cNvPr id="33" name="object 4">
            <a:extLst>
              <a:ext uri="{FF2B5EF4-FFF2-40B4-BE49-F238E27FC236}">
                <a16:creationId xmlns:a16="http://schemas.microsoft.com/office/drawing/2014/main" id="{0F4220C0-A1E1-427D-B41F-22AEA52A42F1}"/>
              </a:ext>
            </a:extLst>
          </p:cNvPr>
          <p:cNvSpPr/>
          <p:nvPr/>
        </p:nvSpPr>
        <p:spPr>
          <a:xfrm flipH="1">
            <a:off x="889001" y="1008060"/>
            <a:ext cx="142622" cy="5697540"/>
          </a:xfrm>
          <a:custGeom>
            <a:avLst/>
            <a:gdLst/>
            <a:ahLst/>
            <a:cxnLst/>
            <a:rect l="l" t="t" r="r" b="b"/>
            <a:pathLst>
              <a:path h="9753600">
                <a:moveTo>
                  <a:pt x="0" y="9753600"/>
                </a:moveTo>
                <a:lnTo>
                  <a:pt x="0" y="0"/>
                </a:lnTo>
              </a:path>
            </a:pathLst>
          </a:custGeom>
          <a:ln w="50800">
            <a:solidFill>
              <a:srgbClr val="1A63A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30">
            <a:extLst>
              <a:ext uri="{FF2B5EF4-FFF2-40B4-BE49-F238E27FC236}">
                <a16:creationId xmlns:a16="http://schemas.microsoft.com/office/drawing/2014/main" id="{93BC25A4-6BAF-4B38-9085-D2DDE2BD1322}"/>
              </a:ext>
            </a:extLst>
          </p:cNvPr>
          <p:cNvSpPr txBox="1"/>
          <p:nvPr/>
        </p:nvSpPr>
        <p:spPr>
          <a:xfrm>
            <a:off x="1269998" y="1746874"/>
            <a:ext cx="15163802" cy="155234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4130" marR="5080" indent="-12065" algn="just">
              <a:lnSpc>
                <a:spcPts val="3000"/>
              </a:lnSpc>
              <a:spcBef>
                <a:spcPts val="615"/>
              </a:spcBef>
            </a:pPr>
            <a:r>
              <a:rPr lang="it-IT" sz="2800" dirty="0">
                <a:solidFill>
                  <a:srgbClr val="0F0F0F"/>
                </a:solidFill>
                <a:latin typeface="Calibri"/>
                <a:cs typeface="Calibri"/>
              </a:rPr>
              <a:t>Il</a:t>
            </a:r>
            <a:r>
              <a:rPr lang="it-IT" sz="2800" spc="-190" dirty="0">
                <a:solidFill>
                  <a:srgbClr val="0F0F0F"/>
                </a:solidFill>
                <a:latin typeface="Calibri"/>
                <a:cs typeface="Calibri"/>
              </a:rPr>
              <a:t> </a:t>
            </a:r>
            <a:r>
              <a:rPr lang="it-IT" sz="2800" spc="-150" dirty="0">
                <a:latin typeface="Calibri"/>
                <a:cs typeface="Calibri"/>
              </a:rPr>
              <a:t>primo</a:t>
            </a:r>
            <a:r>
              <a:rPr lang="it-IT" sz="2800" spc="-30" dirty="0">
                <a:latin typeface="Calibri"/>
                <a:cs typeface="Calibri"/>
              </a:rPr>
              <a:t> </a:t>
            </a:r>
            <a:r>
              <a:rPr lang="it-IT" sz="2800" spc="-110" dirty="0">
                <a:latin typeface="Calibri"/>
                <a:cs typeface="Calibri"/>
              </a:rPr>
              <a:t>scenario</a:t>
            </a:r>
            <a:r>
              <a:rPr lang="it-IT" sz="2800" spc="-55" dirty="0">
                <a:latin typeface="Calibri"/>
                <a:cs typeface="Calibri"/>
              </a:rPr>
              <a:t> </a:t>
            </a:r>
            <a:r>
              <a:rPr lang="it-IT" sz="2800" spc="-90" dirty="0">
                <a:latin typeface="Calibri"/>
                <a:cs typeface="Calibri"/>
              </a:rPr>
              <a:t>analizzato</a:t>
            </a:r>
            <a:r>
              <a:rPr lang="it-IT" sz="2800" spc="-70" dirty="0">
                <a:latin typeface="Calibri"/>
                <a:cs typeface="Calibri"/>
              </a:rPr>
              <a:t> </a:t>
            </a:r>
            <a:r>
              <a:rPr lang="it-IT" sz="2800" dirty="0">
                <a:latin typeface="Calibri"/>
                <a:cs typeface="Calibri"/>
              </a:rPr>
              <a:t>è</a:t>
            </a:r>
            <a:r>
              <a:rPr lang="it-IT" sz="2800" spc="-165" dirty="0">
                <a:latin typeface="Calibri"/>
                <a:cs typeface="Calibri"/>
              </a:rPr>
              <a:t> </a:t>
            </a:r>
            <a:r>
              <a:rPr lang="it-IT" sz="2800" spc="-120" dirty="0">
                <a:latin typeface="Calibri"/>
                <a:cs typeface="Calibri"/>
              </a:rPr>
              <a:t>stato</a:t>
            </a:r>
            <a:r>
              <a:rPr lang="it-IT" sz="2800" spc="-65" dirty="0">
                <a:latin typeface="Calibri"/>
                <a:cs typeface="Calibri"/>
              </a:rPr>
              <a:t> </a:t>
            </a:r>
            <a:r>
              <a:rPr lang="it-IT" sz="2800" spc="-100" dirty="0">
                <a:latin typeface="Calibri"/>
                <a:cs typeface="Calibri"/>
              </a:rPr>
              <a:t>quello di installare</a:t>
            </a:r>
            <a:r>
              <a:rPr lang="it-IT" sz="2800" spc="-210" dirty="0">
                <a:latin typeface="Calibri"/>
                <a:cs typeface="Calibri"/>
              </a:rPr>
              <a:t> </a:t>
            </a:r>
            <a:r>
              <a:rPr lang="it-IT" sz="2800" spc="-65" dirty="0">
                <a:latin typeface="Calibri"/>
                <a:cs typeface="Calibri"/>
              </a:rPr>
              <a:t>un</a:t>
            </a:r>
            <a:r>
              <a:rPr lang="it-IT" sz="2800" spc="-105" dirty="0">
                <a:latin typeface="Calibri"/>
                <a:cs typeface="Calibri"/>
              </a:rPr>
              <a:t> </a:t>
            </a:r>
            <a:r>
              <a:rPr lang="it-IT" sz="2800" spc="-130" dirty="0" err="1">
                <a:latin typeface="Calibri"/>
                <a:cs typeface="Calibri"/>
              </a:rPr>
              <a:t>pad</a:t>
            </a:r>
            <a:r>
              <a:rPr lang="it-IT" sz="2800" spc="-80" dirty="0">
                <a:latin typeface="Calibri"/>
                <a:cs typeface="Calibri"/>
              </a:rPr>
              <a:t> </a:t>
            </a:r>
            <a:r>
              <a:rPr lang="it-IT" sz="2800" spc="-70" dirty="0">
                <a:latin typeface="Calibri"/>
                <a:cs typeface="Calibri"/>
              </a:rPr>
              <a:t>di</a:t>
            </a:r>
            <a:r>
              <a:rPr lang="it-IT" sz="2800" spc="-110" dirty="0">
                <a:latin typeface="Calibri"/>
                <a:cs typeface="Calibri"/>
              </a:rPr>
              <a:t> </a:t>
            </a:r>
            <a:r>
              <a:rPr lang="it-IT" sz="2800" spc="-85" dirty="0">
                <a:latin typeface="Calibri"/>
                <a:cs typeface="Calibri"/>
              </a:rPr>
              <a:t>ricarica</a:t>
            </a:r>
            <a:r>
              <a:rPr lang="it-IT" sz="2800" spc="-40" dirty="0">
                <a:latin typeface="Calibri"/>
                <a:cs typeface="Calibri"/>
              </a:rPr>
              <a:t> </a:t>
            </a:r>
            <a:r>
              <a:rPr lang="it-IT" sz="2800" spc="-35" dirty="0">
                <a:solidFill>
                  <a:srgbClr val="0C0C0C"/>
                </a:solidFill>
                <a:latin typeface="Calibri"/>
                <a:cs typeface="Calibri"/>
              </a:rPr>
              <a:t>da</a:t>
            </a:r>
            <a:r>
              <a:rPr lang="it-IT" sz="2800" spc="-65" dirty="0">
                <a:solidFill>
                  <a:srgbClr val="0C0C0C"/>
                </a:solidFill>
                <a:latin typeface="Calibri"/>
                <a:cs typeface="Calibri"/>
              </a:rPr>
              <a:t> </a:t>
            </a:r>
            <a:r>
              <a:rPr lang="it-IT" sz="2800" spc="-30" dirty="0">
                <a:solidFill>
                  <a:srgbClr val="1A63A2"/>
                </a:solidFill>
                <a:latin typeface="Calibri"/>
                <a:cs typeface="Calibri"/>
              </a:rPr>
              <a:t>50</a:t>
            </a:r>
            <a:r>
              <a:rPr lang="it-IT" sz="2800" spc="-135" dirty="0">
                <a:solidFill>
                  <a:srgbClr val="1A63A2"/>
                </a:solidFill>
                <a:latin typeface="Calibri"/>
                <a:cs typeface="Calibri"/>
              </a:rPr>
              <a:t> </a:t>
            </a:r>
            <a:r>
              <a:rPr lang="it-IT" sz="2800" dirty="0">
                <a:solidFill>
                  <a:srgbClr val="1A63A2"/>
                </a:solidFill>
                <a:latin typeface="Calibri"/>
                <a:cs typeface="Calibri"/>
              </a:rPr>
              <a:t>kW</a:t>
            </a:r>
            <a:r>
              <a:rPr lang="it-IT" sz="2800" spc="-65" dirty="0">
                <a:solidFill>
                  <a:srgbClr val="1A63A2"/>
                </a:solidFill>
                <a:latin typeface="Calibri"/>
                <a:cs typeface="Calibri"/>
              </a:rPr>
              <a:t> </a:t>
            </a:r>
            <a:r>
              <a:rPr lang="it-IT" sz="2800" spc="-60" dirty="0">
                <a:latin typeface="Calibri"/>
                <a:cs typeface="Calibri"/>
              </a:rPr>
              <a:t>in</a:t>
            </a:r>
            <a:r>
              <a:rPr lang="it-IT" sz="2800" spc="-55" dirty="0">
                <a:latin typeface="Calibri"/>
                <a:cs typeface="Calibri"/>
              </a:rPr>
              <a:t> </a:t>
            </a:r>
            <a:r>
              <a:rPr lang="it-IT" sz="2800" spc="-125" dirty="0">
                <a:latin typeface="Calibri"/>
                <a:cs typeface="Calibri"/>
              </a:rPr>
              <a:t>tutte</a:t>
            </a:r>
            <a:r>
              <a:rPr lang="it-IT" sz="2800" spc="-5" dirty="0">
                <a:latin typeface="Calibri"/>
                <a:cs typeface="Calibri"/>
              </a:rPr>
              <a:t> </a:t>
            </a:r>
            <a:r>
              <a:rPr lang="it-IT" sz="2800" spc="-50" dirty="0">
                <a:latin typeface="Calibri"/>
                <a:cs typeface="Calibri"/>
              </a:rPr>
              <a:t>le</a:t>
            </a:r>
            <a:r>
              <a:rPr lang="it-IT" sz="2800" spc="-90" dirty="0">
                <a:latin typeface="Calibri"/>
                <a:cs typeface="Calibri"/>
              </a:rPr>
              <a:t> </a:t>
            </a:r>
            <a:r>
              <a:rPr lang="it-IT" sz="2800" spc="-25" dirty="0">
                <a:solidFill>
                  <a:srgbClr val="1A63A2"/>
                </a:solidFill>
                <a:latin typeface="Calibri"/>
                <a:cs typeface="Calibri"/>
              </a:rPr>
              <a:t>51 </a:t>
            </a:r>
            <a:r>
              <a:rPr lang="it-IT" sz="2800" spc="-125" dirty="0">
                <a:solidFill>
                  <a:srgbClr val="1A63A2"/>
                </a:solidFill>
                <a:latin typeface="Calibri"/>
                <a:cs typeface="Calibri"/>
              </a:rPr>
              <a:t>fermate</a:t>
            </a:r>
            <a:r>
              <a:rPr lang="it-IT" sz="2800" spc="-40" dirty="0">
                <a:solidFill>
                  <a:srgbClr val="1A63A2"/>
                </a:solidFill>
                <a:latin typeface="Calibri"/>
                <a:cs typeface="Calibri"/>
              </a:rPr>
              <a:t> </a:t>
            </a:r>
            <a:r>
              <a:rPr lang="it-IT" sz="2800" spc="-75" dirty="0">
                <a:latin typeface="Calibri"/>
                <a:cs typeface="Calibri"/>
              </a:rPr>
              <a:t>della</a:t>
            </a:r>
            <a:r>
              <a:rPr lang="it-IT" sz="2800" spc="-85" dirty="0">
                <a:latin typeface="Calibri"/>
                <a:cs typeface="Calibri"/>
              </a:rPr>
              <a:t> </a:t>
            </a:r>
            <a:r>
              <a:rPr lang="it-IT" sz="2800" spc="-105" dirty="0">
                <a:latin typeface="Calibri"/>
                <a:cs typeface="Calibri"/>
              </a:rPr>
              <a:t>linea.</a:t>
            </a:r>
            <a:r>
              <a:rPr lang="it-IT" sz="2800" spc="-60" dirty="0">
                <a:latin typeface="Calibri"/>
                <a:cs typeface="Calibri"/>
              </a:rPr>
              <a:t> </a:t>
            </a:r>
            <a:r>
              <a:rPr lang="it-IT" sz="2800" dirty="0">
                <a:solidFill>
                  <a:srgbClr val="0F0F0F"/>
                </a:solidFill>
                <a:latin typeface="Calibri"/>
                <a:cs typeface="Calibri"/>
              </a:rPr>
              <a:t>In</a:t>
            </a:r>
            <a:r>
              <a:rPr lang="it-IT" sz="2800" spc="-160" dirty="0">
                <a:solidFill>
                  <a:srgbClr val="0F0F0F"/>
                </a:solidFill>
                <a:latin typeface="Calibri"/>
                <a:cs typeface="Calibri"/>
              </a:rPr>
              <a:t> </a:t>
            </a:r>
            <a:r>
              <a:rPr lang="it-IT" sz="2800" spc="-120" dirty="0">
                <a:latin typeface="Calibri"/>
                <a:cs typeface="Calibri"/>
              </a:rPr>
              <a:t>teoria,</a:t>
            </a:r>
            <a:r>
              <a:rPr lang="it-IT" sz="2800" spc="-45" dirty="0">
                <a:latin typeface="Calibri"/>
                <a:cs typeface="Calibri"/>
              </a:rPr>
              <a:t> </a:t>
            </a:r>
            <a:r>
              <a:rPr lang="it-IT" sz="2800" spc="-100" dirty="0">
                <a:latin typeface="Calibri"/>
                <a:cs typeface="Calibri"/>
              </a:rPr>
              <a:t>questo</a:t>
            </a:r>
            <a:r>
              <a:rPr lang="it-IT" sz="2800" spc="-60" dirty="0">
                <a:latin typeface="Calibri"/>
                <a:cs typeface="Calibri"/>
              </a:rPr>
              <a:t> </a:t>
            </a:r>
            <a:r>
              <a:rPr lang="it-IT" sz="2800" spc="-85" dirty="0">
                <a:latin typeface="Calibri"/>
                <a:cs typeface="Calibri"/>
              </a:rPr>
              <a:t>approccio</a:t>
            </a:r>
            <a:r>
              <a:rPr lang="it-IT" sz="2800" spc="-80" dirty="0">
                <a:latin typeface="Calibri"/>
                <a:cs typeface="Calibri"/>
              </a:rPr>
              <a:t> </a:t>
            </a:r>
            <a:r>
              <a:rPr lang="it-IT" sz="2800" spc="-90" dirty="0">
                <a:latin typeface="Calibri"/>
                <a:cs typeface="Calibri"/>
              </a:rPr>
              <a:t>dovrebbe</a:t>
            </a:r>
            <a:r>
              <a:rPr lang="it-IT" sz="2800" spc="60" dirty="0">
                <a:latin typeface="Calibri"/>
                <a:cs typeface="Calibri"/>
              </a:rPr>
              <a:t> </a:t>
            </a:r>
            <a:r>
              <a:rPr lang="it-IT" sz="2800" spc="-114" dirty="0">
                <a:latin typeface="Calibri"/>
                <a:cs typeface="Calibri"/>
              </a:rPr>
              <a:t>garantire</a:t>
            </a:r>
            <a:r>
              <a:rPr lang="it-IT" sz="2800" dirty="0">
                <a:latin typeface="Calibri"/>
                <a:cs typeface="Calibri"/>
              </a:rPr>
              <a:t> </a:t>
            </a:r>
            <a:r>
              <a:rPr lang="it-IT" sz="2800" spc="-90" dirty="0">
                <a:latin typeface="Calibri"/>
                <a:cs typeface="Calibri"/>
              </a:rPr>
              <a:t>una</a:t>
            </a:r>
            <a:r>
              <a:rPr lang="it-IT" sz="2800" spc="-35" dirty="0">
                <a:latin typeface="Calibri"/>
                <a:cs typeface="Calibri"/>
              </a:rPr>
              <a:t> </a:t>
            </a:r>
            <a:r>
              <a:rPr lang="it-IT" sz="2800" spc="-70" dirty="0">
                <a:latin typeface="Calibri"/>
                <a:cs typeface="Calibri"/>
              </a:rPr>
              <a:t>ricarica</a:t>
            </a:r>
            <a:r>
              <a:rPr lang="it-IT" sz="2800" spc="15" dirty="0">
                <a:latin typeface="Calibri"/>
                <a:cs typeface="Calibri"/>
              </a:rPr>
              <a:t> </a:t>
            </a:r>
            <a:r>
              <a:rPr lang="it-IT" sz="2800" spc="-100" dirty="0">
                <a:latin typeface="Calibri"/>
                <a:cs typeface="Calibri"/>
              </a:rPr>
              <a:t>costante</a:t>
            </a:r>
            <a:r>
              <a:rPr lang="it-IT" sz="2800" spc="65" dirty="0">
                <a:latin typeface="Calibri"/>
                <a:cs typeface="Calibri"/>
              </a:rPr>
              <a:t> </a:t>
            </a:r>
            <a:r>
              <a:rPr lang="it-IT" sz="2800" spc="-75" dirty="0">
                <a:latin typeface="Calibri"/>
                <a:cs typeface="Calibri"/>
              </a:rPr>
              <a:t>lungo</a:t>
            </a:r>
            <a:r>
              <a:rPr lang="it-IT" sz="2800" spc="-35" dirty="0">
                <a:latin typeface="Calibri"/>
                <a:cs typeface="Calibri"/>
              </a:rPr>
              <a:t> </a:t>
            </a:r>
            <a:r>
              <a:rPr lang="it-IT" sz="2800" spc="-114" dirty="0">
                <a:solidFill>
                  <a:srgbClr val="0C0C0C"/>
                </a:solidFill>
                <a:latin typeface="Calibri"/>
                <a:cs typeface="Calibri"/>
              </a:rPr>
              <a:t>tutto</a:t>
            </a:r>
            <a:r>
              <a:rPr lang="it-IT" sz="2800" spc="-60" dirty="0">
                <a:solidFill>
                  <a:srgbClr val="0C0C0C"/>
                </a:solidFill>
                <a:latin typeface="Calibri"/>
                <a:cs typeface="Calibri"/>
              </a:rPr>
              <a:t> </a:t>
            </a:r>
            <a:r>
              <a:rPr lang="it-IT" sz="2800" dirty="0">
                <a:solidFill>
                  <a:srgbClr val="161616"/>
                </a:solidFill>
                <a:latin typeface="Calibri"/>
                <a:cs typeface="Calibri"/>
              </a:rPr>
              <a:t>il</a:t>
            </a:r>
            <a:r>
              <a:rPr lang="it-IT" sz="2800" spc="-190" dirty="0">
                <a:solidFill>
                  <a:srgbClr val="161616"/>
                </a:solidFill>
                <a:latin typeface="Calibri"/>
                <a:cs typeface="Calibri"/>
              </a:rPr>
              <a:t> </a:t>
            </a:r>
            <a:r>
              <a:rPr lang="it-IT" sz="2800" spc="-10" dirty="0">
                <a:latin typeface="Calibri"/>
                <a:cs typeface="Calibri"/>
              </a:rPr>
              <a:t>percorso. </a:t>
            </a:r>
            <a:r>
              <a:rPr lang="it-IT" sz="2800" dirty="0">
                <a:latin typeface="Calibri"/>
                <a:cs typeface="Calibri"/>
              </a:rPr>
              <a:t>Sulla base dei tempi medi di fermata precedentemente esposti però, il risultato è inefficiente, come dimostrano i calcoli in </a:t>
            </a:r>
            <a:r>
              <a:rPr lang="it-IT" sz="2800" i="1" dirty="0" err="1">
                <a:solidFill>
                  <a:srgbClr val="1A63A2"/>
                </a:solidFill>
                <a:latin typeface="Calibri"/>
                <a:cs typeface="Calibri"/>
              </a:rPr>
              <a:t>WPT.m</a:t>
            </a:r>
            <a:r>
              <a:rPr lang="it-IT" sz="2800" dirty="0">
                <a:latin typeface="Calibri"/>
                <a:cs typeface="Calibri"/>
              </a:rPr>
              <a:t>: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0EDB15F9-850C-4631-8CE2-B93D51DB8A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400" y="3438037"/>
            <a:ext cx="8793483" cy="3496163"/>
          </a:xfrm>
          <a:prstGeom prst="rect">
            <a:avLst/>
          </a:prstGeom>
          <a:effectLst>
            <a:softEdge rad="228600"/>
          </a:effectLst>
        </p:spPr>
      </p:pic>
      <p:grpSp>
        <p:nvGrpSpPr>
          <p:cNvPr id="6" name="Gruppo 5">
            <a:extLst>
              <a:ext uri="{FF2B5EF4-FFF2-40B4-BE49-F238E27FC236}">
                <a16:creationId xmlns:a16="http://schemas.microsoft.com/office/drawing/2014/main" id="{11A7C30F-41C9-49BC-92C2-0B69953C0917}"/>
              </a:ext>
            </a:extLst>
          </p:cNvPr>
          <p:cNvGrpSpPr/>
          <p:nvPr/>
        </p:nvGrpSpPr>
        <p:grpSpPr>
          <a:xfrm>
            <a:off x="10185400" y="4165994"/>
            <a:ext cx="2448177" cy="1767481"/>
            <a:chOff x="12852401" y="5814710"/>
            <a:chExt cx="3399392" cy="1207891"/>
          </a:xfrm>
        </p:grpSpPr>
        <p:sp>
          <p:nvSpPr>
            <p:cNvPr id="7" name="Rettangolo con angoli arrotondati 6">
              <a:extLst>
                <a:ext uri="{FF2B5EF4-FFF2-40B4-BE49-F238E27FC236}">
                  <a16:creationId xmlns:a16="http://schemas.microsoft.com/office/drawing/2014/main" id="{33FFA535-22A2-4822-961F-10911F4C1156}"/>
                </a:ext>
              </a:extLst>
            </p:cNvPr>
            <p:cNvSpPr/>
            <p:nvPr/>
          </p:nvSpPr>
          <p:spPr>
            <a:xfrm>
              <a:off x="12898992" y="5814710"/>
              <a:ext cx="3352801" cy="1207891"/>
            </a:xfrm>
            <a:prstGeom prst="roundRect">
              <a:avLst/>
            </a:prstGeom>
            <a:noFill/>
            <a:ln w="762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8" name="CasellaDiTesto 7">
              <a:extLst>
                <a:ext uri="{FF2B5EF4-FFF2-40B4-BE49-F238E27FC236}">
                  <a16:creationId xmlns:a16="http://schemas.microsoft.com/office/drawing/2014/main" id="{6D9774B9-4518-4F3B-B7AD-026647A71C2B}"/>
                </a:ext>
              </a:extLst>
            </p:cNvPr>
            <p:cNvSpPr txBox="1"/>
            <p:nvPr/>
          </p:nvSpPr>
          <p:spPr>
            <a:xfrm>
              <a:off x="12852401" y="5866787"/>
              <a:ext cx="3352800" cy="6310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b="1" dirty="0">
                  <a:solidFill>
                    <a:srgbClr val="00B050"/>
                  </a:solidFill>
                </a:rPr>
                <a:t>Energia totale ricaricata A/R</a:t>
              </a:r>
              <a:endParaRPr lang="it-IT" dirty="0">
                <a:solidFill>
                  <a:srgbClr val="00B050"/>
                </a:solidFill>
              </a:endParaRPr>
            </a:p>
            <a:p>
              <a:pPr algn="ctr"/>
              <a:endParaRPr lang="it-IT" dirty="0"/>
            </a:p>
          </p:txBody>
        </p:sp>
        <p:sp>
          <p:nvSpPr>
            <p:cNvPr id="9" name="CasellaDiTesto 8">
              <a:extLst>
                <a:ext uri="{FF2B5EF4-FFF2-40B4-BE49-F238E27FC236}">
                  <a16:creationId xmlns:a16="http://schemas.microsoft.com/office/drawing/2014/main" id="{9CB9ACCC-55B4-4DFC-8406-39EA668E32B9}"/>
                </a:ext>
              </a:extLst>
            </p:cNvPr>
            <p:cNvSpPr txBox="1"/>
            <p:nvPr/>
          </p:nvSpPr>
          <p:spPr>
            <a:xfrm>
              <a:off x="12885418" y="6283386"/>
              <a:ext cx="3352800" cy="6310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3600" b="1" dirty="0">
                  <a:solidFill>
                    <a:srgbClr val="00B050"/>
                  </a:solidFill>
                </a:rPr>
                <a:t>12.8 kWh</a:t>
              </a:r>
            </a:p>
            <a:p>
              <a:pPr algn="ctr"/>
              <a:r>
                <a:rPr lang="it-IT" dirty="0"/>
                <a:t>(4.3% della batteria)</a:t>
              </a:r>
            </a:p>
          </p:txBody>
        </p:sp>
      </p:grpSp>
      <p:grpSp>
        <p:nvGrpSpPr>
          <p:cNvPr id="10" name="Gruppo 9">
            <a:extLst>
              <a:ext uri="{FF2B5EF4-FFF2-40B4-BE49-F238E27FC236}">
                <a16:creationId xmlns:a16="http://schemas.microsoft.com/office/drawing/2014/main" id="{F27068E8-2505-4C42-9B7D-C4CA89B17FF6}"/>
              </a:ext>
            </a:extLst>
          </p:cNvPr>
          <p:cNvGrpSpPr/>
          <p:nvPr/>
        </p:nvGrpSpPr>
        <p:grpSpPr>
          <a:xfrm>
            <a:off x="10185400" y="6528194"/>
            <a:ext cx="2448177" cy="1767481"/>
            <a:chOff x="12852401" y="5814710"/>
            <a:chExt cx="3399392" cy="1207891"/>
          </a:xfrm>
        </p:grpSpPr>
        <p:sp>
          <p:nvSpPr>
            <p:cNvPr id="11" name="Rettangolo con angoli arrotondati 10">
              <a:extLst>
                <a:ext uri="{FF2B5EF4-FFF2-40B4-BE49-F238E27FC236}">
                  <a16:creationId xmlns:a16="http://schemas.microsoft.com/office/drawing/2014/main" id="{18BCBC74-813B-4B29-8A04-08536F0182A7}"/>
                </a:ext>
              </a:extLst>
            </p:cNvPr>
            <p:cNvSpPr/>
            <p:nvPr/>
          </p:nvSpPr>
          <p:spPr>
            <a:xfrm>
              <a:off x="12898992" y="5814710"/>
              <a:ext cx="3352801" cy="1207891"/>
            </a:xfrm>
            <a:prstGeom prst="roundRect">
              <a:avLst/>
            </a:prstGeom>
            <a:noFill/>
            <a:ln w="762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3" name="CasellaDiTesto 12">
              <a:extLst>
                <a:ext uri="{FF2B5EF4-FFF2-40B4-BE49-F238E27FC236}">
                  <a16:creationId xmlns:a16="http://schemas.microsoft.com/office/drawing/2014/main" id="{6CB3D754-756C-4EB1-A4FE-A267593B3CB3}"/>
                </a:ext>
              </a:extLst>
            </p:cNvPr>
            <p:cNvSpPr txBox="1"/>
            <p:nvPr/>
          </p:nvSpPr>
          <p:spPr>
            <a:xfrm>
              <a:off x="12852401" y="5866787"/>
              <a:ext cx="3352800" cy="6310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b="1" dirty="0">
                  <a:solidFill>
                    <a:schemeClr val="accent6">
                      <a:lumMod val="75000"/>
                    </a:schemeClr>
                  </a:solidFill>
                </a:rPr>
                <a:t>Energia totale consumata A/R</a:t>
              </a:r>
              <a:endParaRPr lang="it-IT" dirty="0">
                <a:solidFill>
                  <a:schemeClr val="accent6">
                    <a:lumMod val="75000"/>
                  </a:schemeClr>
                </a:solidFill>
              </a:endParaRPr>
            </a:p>
            <a:p>
              <a:pPr algn="ctr"/>
              <a:endParaRPr lang="it-IT" dirty="0"/>
            </a:p>
          </p:txBody>
        </p:sp>
        <p:sp>
          <p:nvSpPr>
            <p:cNvPr id="14" name="CasellaDiTesto 13">
              <a:extLst>
                <a:ext uri="{FF2B5EF4-FFF2-40B4-BE49-F238E27FC236}">
                  <a16:creationId xmlns:a16="http://schemas.microsoft.com/office/drawing/2014/main" id="{7D8E0E6A-B05C-4132-8594-2F997CF455B4}"/>
                </a:ext>
              </a:extLst>
            </p:cNvPr>
            <p:cNvSpPr txBox="1"/>
            <p:nvPr/>
          </p:nvSpPr>
          <p:spPr>
            <a:xfrm>
              <a:off x="12885418" y="6283386"/>
              <a:ext cx="3352800" cy="6310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3600" b="1" dirty="0">
                  <a:solidFill>
                    <a:schemeClr val="accent6">
                      <a:lumMod val="75000"/>
                    </a:schemeClr>
                  </a:solidFill>
                </a:rPr>
                <a:t>~38 kWh</a:t>
              </a:r>
            </a:p>
            <a:p>
              <a:pPr algn="ctr"/>
              <a:r>
                <a:rPr lang="it-IT" dirty="0"/>
                <a:t>(12.6% della batteria)</a:t>
              </a:r>
            </a:p>
          </p:txBody>
        </p:sp>
      </p:grpSp>
      <p:sp>
        <p:nvSpPr>
          <p:cNvPr id="4" name="Cerchio vuoto 3">
            <a:extLst>
              <a:ext uri="{FF2B5EF4-FFF2-40B4-BE49-F238E27FC236}">
                <a16:creationId xmlns:a16="http://schemas.microsoft.com/office/drawing/2014/main" id="{7832003F-2B8D-4B33-AA45-E3BB5426783D}"/>
              </a:ext>
            </a:extLst>
          </p:cNvPr>
          <p:cNvSpPr/>
          <p:nvPr/>
        </p:nvSpPr>
        <p:spPr>
          <a:xfrm>
            <a:off x="13201110" y="4361764"/>
            <a:ext cx="3651787" cy="3695363"/>
          </a:xfrm>
          <a:prstGeom prst="donut">
            <a:avLst>
              <a:gd name="adj" fmla="val 10209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chemeClr val="tx1"/>
              </a:solidFill>
            </a:endParaRPr>
          </a:p>
        </p:txBody>
      </p:sp>
      <p:sp>
        <p:nvSpPr>
          <p:cNvPr id="5" name="Arco a tutto sesto 4">
            <a:extLst>
              <a:ext uri="{FF2B5EF4-FFF2-40B4-BE49-F238E27FC236}">
                <a16:creationId xmlns:a16="http://schemas.microsoft.com/office/drawing/2014/main" id="{F0680AE1-0D1A-4C94-B414-86CBB5350BFD}"/>
              </a:ext>
            </a:extLst>
          </p:cNvPr>
          <p:cNvSpPr/>
          <p:nvPr/>
        </p:nvSpPr>
        <p:spPr>
          <a:xfrm rot="2829946">
            <a:off x="13214783" y="4406045"/>
            <a:ext cx="3613690" cy="3602133"/>
          </a:xfrm>
          <a:prstGeom prst="blockArc">
            <a:avLst>
              <a:gd name="adj1" fmla="val 13336200"/>
              <a:gd name="adj2" fmla="val 20362711"/>
              <a:gd name="adj3" fmla="val 8471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rgbClr val="FF0000"/>
              </a:solidFill>
            </a:endParaRP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BBA99CF-E481-4855-8219-21086FE2EED5}"/>
              </a:ext>
            </a:extLst>
          </p:cNvPr>
          <p:cNvSpPr txBox="1"/>
          <p:nvPr/>
        </p:nvSpPr>
        <p:spPr>
          <a:xfrm>
            <a:off x="13618365" y="5240234"/>
            <a:ext cx="281543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 dirty="0"/>
              <a:t>Energia</a:t>
            </a:r>
            <a:r>
              <a:rPr lang="it-IT" sz="2000" b="1" dirty="0"/>
              <a:t> </a:t>
            </a:r>
          </a:p>
          <a:p>
            <a:pPr algn="ctr"/>
            <a:r>
              <a:rPr lang="it-IT" b="1" dirty="0">
                <a:solidFill>
                  <a:schemeClr val="tx1"/>
                </a:solidFill>
              </a:rPr>
              <a:t>ricaricata </a:t>
            </a:r>
            <a:r>
              <a:rPr lang="it-IT" sz="2400" b="1" dirty="0">
                <a:solidFill>
                  <a:schemeClr val="tx1"/>
                </a:solidFill>
              </a:rPr>
              <a:t>/ </a:t>
            </a:r>
            <a:r>
              <a:rPr lang="it-IT" b="1" dirty="0">
                <a:solidFill>
                  <a:schemeClr val="tx1"/>
                </a:solidFill>
              </a:rPr>
              <a:t>consumata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D4516637-3413-4537-B35D-B4716B233C56}"/>
              </a:ext>
            </a:extLst>
          </p:cNvPr>
          <p:cNvSpPr txBox="1"/>
          <p:nvPr/>
        </p:nvSpPr>
        <p:spPr>
          <a:xfrm>
            <a:off x="13919200" y="6009674"/>
            <a:ext cx="220980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6000" b="1" dirty="0">
                <a:solidFill>
                  <a:srgbClr val="C00000"/>
                </a:solidFill>
              </a:rPr>
              <a:t>~34%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E9711A1A-DA4C-40BE-8078-C729A18B2EDF}"/>
              </a:ext>
            </a:extLst>
          </p:cNvPr>
          <p:cNvSpPr txBox="1"/>
          <p:nvPr/>
        </p:nvSpPr>
        <p:spPr>
          <a:xfrm>
            <a:off x="2183821" y="7650777"/>
            <a:ext cx="7457824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4130" marR="5080" lvl="0" indent="-12065" algn="just" defTabSz="914400" eaLnBrk="1" fontAlgn="auto" latinLnBrk="0" hangingPunct="1">
              <a:lnSpc>
                <a:spcPts val="3000"/>
              </a:lnSpc>
              <a:spcBef>
                <a:spcPts val="6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2800" dirty="0">
                <a:latin typeface="Calibri"/>
                <a:cs typeface="Calibri"/>
              </a:rPr>
              <a:t>Installare 51 postazioni di ricarica WPT per coprire solamente un terzo del consumo non appare sensato dal punto di vista dell’investimento economico e della complessità di installazione.</a:t>
            </a:r>
          </a:p>
          <a:p>
            <a:pPr algn="just"/>
            <a:endParaRPr lang="it-IT" dirty="0"/>
          </a:p>
        </p:txBody>
      </p:sp>
      <p:pic>
        <p:nvPicPr>
          <p:cNvPr id="18" name="Elemento grafico 17" descr="Freccia, curva antioraria">
            <a:extLst>
              <a:ext uri="{FF2B5EF4-FFF2-40B4-BE49-F238E27FC236}">
                <a16:creationId xmlns:a16="http://schemas.microsoft.com/office/drawing/2014/main" id="{C68983BB-1E76-43AF-9F4D-510B7368A3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0800000">
            <a:off x="1168864" y="6894222"/>
            <a:ext cx="914400" cy="914400"/>
          </a:xfrm>
          <a:prstGeom prst="rect">
            <a:avLst/>
          </a:prstGeom>
        </p:spPr>
      </p:pic>
      <p:sp>
        <p:nvSpPr>
          <p:cNvPr id="21" name="object 4">
            <a:extLst>
              <a:ext uri="{FF2B5EF4-FFF2-40B4-BE49-F238E27FC236}">
                <a16:creationId xmlns:a16="http://schemas.microsoft.com/office/drawing/2014/main" id="{C408B5AD-4E09-4760-BFC3-3000B66A37B0}"/>
              </a:ext>
            </a:extLst>
          </p:cNvPr>
          <p:cNvSpPr/>
          <p:nvPr/>
        </p:nvSpPr>
        <p:spPr>
          <a:xfrm flipH="1">
            <a:off x="1955800" y="7650777"/>
            <a:ext cx="127464" cy="1493223"/>
          </a:xfrm>
          <a:custGeom>
            <a:avLst/>
            <a:gdLst/>
            <a:ahLst/>
            <a:cxnLst/>
            <a:rect l="l" t="t" r="r" b="b"/>
            <a:pathLst>
              <a:path h="9753600">
                <a:moveTo>
                  <a:pt x="0" y="9753600"/>
                </a:moveTo>
                <a:lnTo>
                  <a:pt x="0" y="0"/>
                </a:lnTo>
              </a:path>
            </a:pathLst>
          </a:custGeom>
          <a:ln w="50800">
            <a:solidFill>
              <a:srgbClr val="1A63A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85915593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bject 10">
            <a:extLst>
              <a:ext uri="{FF2B5EF4-FFF2-40B4-BE49-F238E27FC236}">
                <a16:creationId xmlns:a16="http://schemas.microsoft.com/office/drawing/2014/main" id="{20EDE264-25AA-412E-BEF6-322B16F3E6A6}"/>
              </a:ext>
            </a:extLst>
          </p:cNvPr>
          <p:cNvSpPr txBox="1">
            <a:spLocks/>
          </p:cNvSpPr>
          <p:nvPr/>
        </p:nvSpPr>
        <p:spPr>
          <a:xfrm>
            <a:off x="1270001" y="762000"/>
            <a:ext cx="14399274" cy="690288"/>
          </a:xfrm>
          <a:prstGeom prst="rect">
            <a:avLst/>
          </a:prstGeom>
        </p:spPr>
        <p:txBody>
          <a:bodyPr vert="horz" wrap="square" lIns="0" tIns="96872" rIns="0" bIns="0" rtlCol="0">
            <a:spAutoFit/>
          </a:bodyPr>
          <a:lstStyle>
            <a:lvl1pPr>
              <a:defRPr sz="4150" b="0" i="0">
                <a:solidFill>
                  <a:srgbClr val="08486E"/>
                </a:solidFill>
                <a:latin typeface="Arial MT"/>
                <a:ea typeface="+mj-ea"/>
                <a:cs typeface="Arial MT"/>
              </a:defRPr>
            </a:lvl1pPr>
          </a:lstStyle>
          <a:p>
            <a:pPr>
              <a:spcBef>
                <a:spcPts val="135"/>
              </a:spcBef>
            </a:pPr>
            <a:r>
              <a:rPr lang="it-IT" sz="3850" b="1" spc="50" dirty="0">
                <a:solidFill>
                  <a:srgbClr val="1A63A2"/>
                </a:solidFill>
              </a:rPr>
              <a:t>Scenario con ricariche WPT strategiche</a:t>
            </a:r>
            <a:endParaRPr lang="it-IT" sz="3850" dirty="0"/>
          </a:p>
        </p:txBody>
      </p:sp>
      <p:sp>
        <p:nvSpPr>
          <p:cNvPr id="33" name="object 4">
            <a:extLst>
              <a:ext uri="{FF2B5EF4-FFF2-40B4-BE49-F238E27FC236}">
                <a16:creationId xmlns:a16="http://schemas.microsoft.com/office/drawing/2014/main" id="{0F4220C0-A1E1-427D-B41F-22AEA52A42F1}"/>
              </a:ext>
            </a:extLst>
          </p:cNvPr>
          <p:cNvSpPr/>
          <p:nvPr/>
        </p:nvSpPr>
        <p:spPr>
          <a:xfrm>
            <a:off x="1041400" y="897466"/>
            <a:ext cx="76200" cy="1932081"/>
          </a:xfrm>
          <a:custGeom>
            <a:avLst/>
            <a:gdLst/>
            <a:ahLst/>
            <a:cxnLst/>
            <a:rect l="l" t="t" r="r" b="b"/>
            <a:pathLst>
              <a:path h="9753600">
                <a:moveTo>
                  <a:pt x="0" y="9753600"/>
                </a:moveTo>
                <a:lnTo>
                  <a:pt x="0" y="0"/>
                </a:lnTo>
              </a:path>
            </a:pathLst>
          </a:custGeom>
          <a:ln w="50800">
            <a:solidFill>
              <a:srgbClr val="1A63A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30">
            <a:extLst>
              <a:ext uri="{FF2B5EF4-FFF2-40B4-BE49-F238E27FC236}">
                <a16:creationId xmlns:a16="http://schemas.microsoft.com/office/drawing/2014/main" id="{93BC25A4-6BAF-4B38-9085-D2DDE2BD1322}"/>
              </a:ext>
            </a:extLst>
          </p:cNvPr>
          <p:cNvSpPr txBox="1"/>
          <p:nvPr/>
        </p:nvSpPr>
        <p:spPr>
          <a:xfrm>
            <a:off x="1269998" y="1584977"/>
            <a:ext cx="15087603" cy="124457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5875" marR="5080" indent="-3810" algn="just">
              <a:lnSpc>
                <a:spcPts val="3200"/>
              </a:lnSpc>
              <a:spcBef>
                <a:spcPts val="455"/>
              </a:spcBef>
            </a:pPr>
            <a:r>
              <a:rPr lang="it-IT" sz="2800" spc="-35" dirty="0"/>
              <a:t>L'analisi</a:t>
            </a:r>
            <a:r>
              <a:rPr lang="it-IT" sz="2800" spc="-130" dirty="0"/>
              <a:t> </a:t>
            </a:r>
            <a:r>
              <a:rPr lang="it-IT" sz="2800" spc="-30" dirty="0"/>
              <a:t>ha</a:t>
            </a:r>
            <a:r>
              <a:rPr lang="it-IT" sz="2800" spc="-130" dirty="0"/>
              <a:t> </a:t>
            </a:r>
            <a:r>
              <a:rPr lang="it-IT" sz="2800" spc="-10" dirty="0"/>
              <a:t>rivelato</a:t>
            </a:r>
            <a:r>
              <a:rPr lang="it-IT" sz="2800" spc="-155" dirty="0"/>
              <a:t> </a:t>
            </a:r>
            <a:r>
              <a:rPr lang="it-IT" sz="2800" spc="-10" dirty="0"/>
              <a:t>che</a:t>
            </a:r>
            <a:r>
              <a:rPr lang="it-IT" sz="2800" spc="-150" dirty="0"/>
              <a:t> </a:t>
            </a:r>
            <a:r>
              <a:rPr lang="it-IT" sz="2800" dirty="0"/>
              <a:t>la</a:t>
            </a:r>
            <a:r>
              <a:rPr lang="it-IT" sz="2800" spc="-175" dirty="0"/>
              <a:t> </a:t>
            </a:r>
            <a:r>
              <a:rPr lang="it-IT" sz="2800" spc="-25" dirty="0"/>
              <a:t>chiave</a:t>
            </a:r>
            <a:r>
              <a:rPr lang="it-IT" sz="2800" spc="-140" dirty="0"/>
              <a:t> </a:t>
            </a:r>
            <a:r>
              <a:rPr lang="it-IT" sz="2800" spc="-155" dirty="0"/>
              <a:t>non</a:t>
            </a:r>
            <a:r>
              <a:rPr lang="it-IT" sz="2800" spc="-90" dirty="0"/>
              <a:t> </a:t>
            </a:r>
            <a:r>
              <a:rPr lang="it-IT" sz="2800" dirty="0"/>
              <a:t>è</a:t>
            </a:r>
            <a:r>
              <a:rPr lang="it-IT" sz="2800" spc="-195" dirty="0"/>
              <a:t> </a:t>
            </a:r>
            <a:r>
              <a:rPr lang="it-IT" sz="2800" dirty="0"/>
              <a:t>la</a:t>
            </a:r>
            <a:r>
              <a:rPr lang="it-IT" sz="2800" spc="-200" dirty="0"/>
              <a:t> </a:t>
            </a:r>
            <a:r>
              <a:rPr lang="it-IT" sz="2800" spc="-20" dirty="0"/>
              <a:t>frequenza</a:t>
            </a:r>
            <a:r>
              <a:rPr lang="it-IT" sz="2800" spc="5" dirty="0"/>
              <a:t> </a:t>
            </a:r>
            <a:r>
              <a:rPr lang="it-IT" sz="2800" spc="-20" dirty="0"/>
              <a:t>della</a:t>
            </a:r>
            <a:r>
              <a:rPr lang="it-IT" sz="2800" spc="-200" dirty="0"/>
              <a:t> </a:t>
            </a:r>
            <a:r>
              <a:rPr lang="it-IT" sz="2800" dirty="0"/>
              <a:t>ricarica,</a:t>
            </a:r>
            <a:r>
              <a:rPr lang="it-IT" sz="2800" spc="-145" dirty="0"/>
              <a:t> </a:t>
            </a:r>
            <a:r>
              <a:rPr lang="it-IT" sz="2800" spc="-100" dirty="0"/>
              <a:t>ma </a:t>
            </a:r>
            <a:r>
              <a:rPr lang="it-IT" sz="2800" spc="-50" dirty="0"/>
              <a:t>la</a:t>
            </a:r>
            <a:r>
              <a:rPr lang="it-IT" sz="2800" spc="-140" dirty="0"/>
              <a:t> </a:t>
            </a:r>
            <a:r>
              <a:rPr lang="it-IT" sz="2800" dirty="0"/>
              <a:t>sua</a:t>
            </a:r>
            <a:r>
              <a:rPr lang="it-IT" sz="2800" spc="-160" dirty="0"/>
              <a:t> </a:t>
            </a:r>
            <a:r>
              <a:rPr lang="it-IT" sz="2800" spc="-50" dirty="0"/>
              <a:t>durata.</a:t>
            </a:r>
            <a:r>
              <a:rPr lang="it-IT" sz="2800" spc="-35" dirty="0"/>
              <a:t> </a:t>
            </a:r>
            <a:r>
              <a:rPr lang="it-IT" sz="2800" dirty="0"/>
              <a:t>Concentrando</a:t>
            </a:r>
            <a:r>
              <a:rPr lang="it-IT" sz="2800" spc="-20" dirty="0"/>
              <a:t> </a:t>
            </a:r>
            <a:r>
              <a:rPr lang="it-IT" sz="2800" dirty="0"/>
              <a:t>l'infrastruttura</a:t>
            </a:r>
            <a:r>
              <a:rPr lang="it-IT" sz="2800" spc="-245" dirty="0"/>
              <a:t> </a:t>
            </a:r>
            <a:r>
              <a:rPr lang="it-IT" sz="2800" spc="-35" dirty="0"/>
              <a:t>nei</a:t>
            </a:r>
            <a:r>
              <a:rPr lang="it-IT" sz="2800" spc="-130" dirty="0"/>
              <a:t> </a:t>
            </a:r>
            <a:r>
              <a:rPr lang="it-IT" sz="2800" spc="-10" dirty="0"/>
              <a:t>punti</a:t>
            </a:r>
            <a:r>
              <a:rPr lang="it-IT" sz="2800" spc="-25" dirty="0"/>
              <a:t> </a:t>
            </a:r>
            <a:r>
              <a:rPr lang="it-IT" sz="2800" spc="-30" dirty="0"/>
              <a:t>in</a:t>
            </a:r>
            <a:r>
              <a:rPr lang="it-IT" sz="2800" spc="-155" dirty="0"/>
              <a:t> </a:t>
            </a:r>
            <a:r>
              <a:rPr lang="it-IT" sz="2800" spc="-10" dirty="0"/>
              <a:t>cui</a:t>
            </a:r>
            <a:r>
              <a:rPr lang="it-IT" sz="2800" spc="-120" dirty="0"/>
              <a:t> </a:t>
            </a:r>
            <a:r>
              <a:rPr lang="it-IT" sz="2800" dirty="0"/>
              <a:t>il</a:t>
            </a:r>
            <a:r>
              <a:rPr lang="it-IT" sz="2800" spc="-190" dirty="0"/>
              <a:t> </a:t>
            </a:r>
            <a:r>
              <a:rPr lang="it-IT" sz="2800" spc="-10" dirty="0"/>
              <a:t>bus</a:t>
            </a:r>
            <a:r>
              <a:rPr lang="it-IT" sz="2800" spc="-30" dirty="0"/>
              <a:t> </a:t>
            </a:r>
            <a:r>
              <a:rPr lang="it-IT" sz="2800" spc="-10" dirty="0"/>
              <a:t>sosta </a:t>
            </a:r>
            <a:r>
              <a:rPr lang="it-IT" sz="2800" spc="-45" dirty="0"/>
              <a:t>naturalmente </a:t>
            </a:r>
            <a:r>
              <a:rPr lang="it-IT" sz="2800" spc="-50" dirty="0"/>
              <a:t>per</a:t>
            </a:r>
            <a:r>
              <a:rPr lang="it-IT" sz="2800" spc="-135" dirty="0"/>
              <a:t> </a:t>
            </a:r>
            <a:r>
              <a:rPr lang="it-IT" sz="2800" spc="-10" dirty="0"/>
              <a:t>periodi</a:t>
            </a:r>
            <a:r>
              <a:rPr lang="it-IT" sz="2800" spc="-65" dirty="0"/>
              <a:t> </a:t>
            </a:r>
            <a:r>
              <a:rPr lang="it-IT" sz="2800" spc="-20" dirty="0"/>
              <a:t>più</a:t>
            </a:r>
            <a:r>
              <a:rPr lang="it-IT" sz="2800" spc="-145" dirty="0"/>
              <a:t> </a:t>
            </a:r>
            <a:r>
              <a:rPr lang="it-IT" sz="2800" spc="-10" dirty="0"/>
              <a:t>lunghi è possibile arrivare a coprire il 100% del consumo. Un plausibile scenario può essere il seguente:</a:t>
            </a:r>
          </a:p>
        </p:txBody>
      </p:sp>
      <p:pic>
        <p:nvPicPr>
          <p:cNvPr id="25" name="Immagine 24">
            <a:extLst>
              <a:ext uri="{FF2B5EF4-FFF2-40B4-BE49-F238E27FC236}">
                <a16:creationId xmlns:a16="http://schemas.microsoft.com/office/drawing/2014/main" id="{B37D2F7D-DE0C-49C1-AA79-3663093D46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801" y="4143732"/>
            <a:ext cx="2276793" cy="1562318"/>
          </a:xfrm>
          <a:prstGeom prst="rect">
            <a:avLst/>
          </a:prstGeom>
        </p:spPr>
      </p:pic>
      <p:grpSp>
        <p:nvGrpSpPr>
          <p:cNvPr id="27" name="Gruppo 26">
            <a:extLst>
              <a:ext uri="{FF2B5EF4-FFF2-40B4-BE49-F238E27FC236}">
                <a16:creationId xmlns:a16="http://schemas.microsoft.com/office/drawing/2014/main" id="{A22F68A3-1480-4D97-9864-2E0AB6F95CA7}"/>
              </a:ext>
            </a:extLst>
          </p:cNvPr>
          <p:cNvGrpSpPr/>
          <p:nvPr/>
        </p:nvGrpSpPr>
        <p:grpSpPr>
          <a:xfrm>
            <a:off x="3681307" y="4394866"/>
            <a:ext cx="968573" cy="1322486"/>
            <a:chOff x="2108199" y="4468714"/>
            <a:chExt cx="968573" cy="1322486"/>
          </a:xfrm>
        </p:grpSpPr>
        <p:pic>
          <p:nvPicPr>
            <p:cNvPr id="24" name="Elemento grafico 23" descr="Pennarello">
              <a:extLst>
                <a:ext uri="{FF2B5EF4-FFF2-40B4-BE49-F238E27FC236}">
                  <a16:creationId xmlns:a16="http://schemas.microsoft.com/office/drawing/2014/main" id="{A17A595C-F3F1-4363-830F-5913D49ED1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157314" y="4468714"/>
              <a:ext cx="865286" cy="865286"/>
            </a:xfrm>
            <a:prstGeom prst="rect">
              <a:avLst/>
            </a:prstGeom>
          </p:spPr>
        </p:pic>
        <p:pic>
          <p:nvPicPr>
            <p:cNvPr id="26" name="Immagine 25">
              <a:extLst>
                <a:ext uri="{FF2B5EF4-FFF2-40B4-BE49-F238E27FC236}">
                  <a16:creationId xmlns:a16="http://schemas.microsoft.com/office/drawing/2014/main" id="{AF8FD592-EF50-4D60-BBF9-8A7B0C5FE64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108199" y="5267948"/>
              <a:ext cx="968573" cy="523252"/>
            </a:xfrm>
            <a:prstGeom prst="rect">
              <a:avLst/>
            </a:prstGeom>
          </p:spPr>
        </p:pic>
      </p:grp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4649B620-3088-4628-AA14-E0216F00B891}"/>
              </a:ext>
            </a:extLst>
          </p:cNvPr>
          <p:cNvGrpSpPr/>
          <p:nvPr/>
        </p:nvGrpSpPr>
        <p:grpSpPr>
          <a:xfrm>
            <a:off x="13233400" y="4492248"/>
            <a:ext cx="968573" cy="1322486"/>
            <a:chOff x="2108199" y="4468714"/>
            <a:chExt cx="968573" cy="1322486"/>
          </a:xfrm>
        </p:grpSpPr>
        <p:pic>
          <p:nvPicPr>
            <p:cNvPr id="31" name="Elemento grafico 30" descr="Pennarello">
              <a:extLst>
                <a:ext uri="{FF2B5EF4-FFF2-40B4-BE49-F238E27FC236}">
                  <a16:creationId xmlns:a16="http://schemas.microsoft.com/office/drawing/2014/main" id="{AF702433-7CD6-46DA-B49D-080E1C3D91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157314" y="4468714"/>
              <a:ext cx="865286" cy="865286"/>
            </a:xfrm>
            <a:prstGeom prst="rect">
              <a:avLst/>
            </a:prstGeom>
          </p:spPr>
        </p:pic>
        <p:pic>
          <p:nvPicPr>
            <p:cNvPr id="34" name="Immagine 33">
              <a:extLst>
                <a:ext uri="{FF2B5EF4-FFF2-40B4-BE49-F238E27FC236}">
                  <a16:creationId xmlns:a16="http://schemas.microsoft.com/office/drawing/2014/main" id="{03051C38-57A5-4CE0-A9D0-7A18EFBC4EC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108199" y="5267948"/>
              <a:ext cx="968573" cy="523252"/>
            </a:xfrm>
            <a:prstGeom prst="rect">
              <a:avLst/>
            </a:prstGeom>
          </p:spPr>
        </p:pic>
      </p:grp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137D339B-22EF-4ABB-8340-ADEBBB8B1688}"/>
              </a:ext>
            </a:extLst>
          </p:cNvPr>
          <p:cNvSpPr txBox="1"/>
          <p:nvPr/>
        </p:nvSpPr>
        <p:spPr>
          <a:xfrm>
            <a:off x="2562865" y="5790731"/>
            <a:ext cx="3200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b="1" dirty="0">
                <a:solidFill>
                  <a:srgbClr val="074773"/>
                </a:solidFill>
              </a:rPr>
              <a:t>Capolinea Milano</a:t>
            </a:r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331C207C-DF7E-4D8C-970F-D06856F6129F}"/>
              </a:ext>
            </a:extLst>
          </p:cNvPr>
          <p:cNvSpPr txBox="1"/>
          <p:nvPr/>
        </p:nvSpPr>
        <p:spPr>
          <a:xfrm>
            <a:off x="7365997" y="5840075"/>
            <a:ext cx="3200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b="1" dirty="0">
                <a:solidFill>
                  <a:srgbClr val="074773"/>
                </a:solidFill>
              </a:rPr>
              <a:t>Fermata Linate</a:t>
            </a:r>
          </a:p>
        </p:txBody>
      </p: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8BC9EA24-27E7-4E89-BCFD-49145ABAEDE8}"/>
              </a:ext>
            </a:extLst>
          </p:cNvPr>
          <p:cNvSpPr txBox="1"/>
          <p:nvPr/>
        </p:nvSpPr>
        <p:spPr>
          <a:xfrm>
            <a:off x="11631937" y="5785628"/>
            <a:ext cx="41664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b="1" dirty="0">
                <a:solidFill>
                  <a:srgbClr val="074773"/>
                </a:solidFill>
              </a:rPr>
              <a:t>Capolinea San Felicino</a:t>
            </a:r>
          </a:p>
        </p:txBody>
      </p:sp>
      <p:sp>
        <p:nvSpPr>
          <p:cNvPr id="29" name="Arco 28">
            <a:extLst>
              <a:ext uri="{FF2B5EF4-FFF2-40B4-BE49-F238E27FC236}">
                <a16:creationId xmlns:a16="http://schemas.microsoft.com/office/drawing/2014/main" id="{3F705ED1-4FF3-484A-863D-89391A8EB1BF}"/>
              </a:ext>
            </a:extLst>
          </p:cNvPr>
          <p:cNvSpPr/>
          <p:nvPr/>
        </p:nvSpPr>
        <p:spPr>
          <a:xfrm rot="19080704">
            <a:off x="3882217" y="3681476"/>
            <a:ext cx="4619584" cy="4494193"/>
          </a:xfrm>
          <a:prstGeom prst="arc">
            <a:avLst/>
          </a:prstGeom>
          <a:ln w="38100">
            <a:solidFill>
              <a:srgbClr val="074773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7" name="Arco 36">
            <a:extLst>
              <a:ext uri="{FF2B5EF4-FFF2-40B4-BE49-F238E27FC236}">
                <a16:creationId xmlns:a16="http://schemas.microsoft.com/office/drawing/2014/main" id="{6532EEF9-DF27-45EC-8C25-7208B54CEAE3}"/>
              </a:ext>
            </a:extLst>
          </p:cNvPr>
          <p:cNvSpPr/>
          <p:nvPr/>
        </p:nvSpPr>
        <p:spPr>
          <a:xfrm rot="19080704">
            <a:off x="8998922" y="3658865"/>
            <a:ext cx="4619584" cy="4494193"/>
          </a:xfrm>
          <a:prstGeom prst="arc">
            <a:avLst/>
          </a:prstGeom>
          <a:ln w="38100">
            <a:solidFill>
              <a:srgbClr val="074773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8" name="object 7">
            <a:extLst>
              <a:ext uri="{FF2B5EF4-FFF2-40B4-BE49-F238E27FC236}">
                <a16:creationId xmlns:a16="http://schemas.microsoft.com/office/drawing/2014/main" id="{DCF7B1B0-AA44-4555-A696-6BD8DA52C30A}"/>
              </a:ext>
            </a:extLst>
          </p:cNvPr>
          <p:cNvSpPr txBox="1"/>
          <p:nvPr/>
        </p:nvSpPr>
        <p:spPr>
          <a:xfrm>
            <a:off x="2182817" y="6400800"/>
            <a:ext cx="3960495" cy="46990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2900" spc="-145" dirty="0">
                <a:latin typeface="Calibri"/>
                <a:cs typeface="Calibri"/>
              </a:rPr>
              <a:t>Tempo</a:t>
            </a:r>
            <a:r>
              <a:rPr sz="2900" spc="-60" dirty="0">
                <a:latin typeface="Calibri"/>
                <a:cs typeface="Calibri"/>
              </a:rPr>
              <a:t> </a:t>
            </a:r>
            <a:r>
              <a:rPr sz="2900" spc="-10" dirty="0">
                <a:solidFill>
                  <a:srgbClr val="111111"/>
                </a:solidFill>
                <a:latin typeface="Calibri"/>
                <a:cs typeface="Calibri"/>
              </a:rPr>
              <a:t>di</a:t>
            </a:r>
            <a:r>
              <a:rPr sz="2900" spc="-125" dirty="0">
                <a:solidFill>
                  <a:srgbClr val="111111"/>
                </a:solidFill>
                <a:latin typeface="Calibri"/>
                <a:cs typeface="Calibri"/>
              </a:rPr>
              <a:t> </a:t>
            </a:r>
            <a:r>
              <a:rPr sz="2900" spc="-30" dirty="0">
                <a:latin typeface="Calibri"/>
                <a:cs typeface="Calibri"/>
              </a:rPr>
              <a:t>Ricarica:</a:t>
            </a:r>
            <a:r>
              <a:rPr sz="2900" spc="-105" dirty="0">
                <a:latin typeface="Calibri"/>
                <a:cs typeface="Calibri"/>
              </a:rPr>
              <a:t> </a:t>
            </a:r>
            <a:r>
              <a:rPr sz="2900" spc="145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5</a:t>
            </a:r>
            <a:r>
              <a:rPr sz="2900" spc="-245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 </a:t>
            </a:r>
            <a:r>
              <a:rPr sz="2900" spc="-10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minuti</a:t>
            </a:r>
            <a:endParaRPr sz="2900" dirty="0">
              <a:solidFill>
                <a:schemeClr val="accent6">
                  <a:lumMod val="75000"/>
                </a:schemeClr>
              </a:solidFill>
              <a:latin typeface="Calibri"/>
              <a:cs typeface="Calibri"/>
            </a:endParaRPr>
          </a:p>
        </p:txBody>
      </p:sp>
      <p:sp>
        <p:nvSpPr>
          <p:cNvPr id="39" name="object 7">
            <a:extLst>
              <a:ext uri="{FF2B5EF4-FFF2-40B4-BE49-F238E27FC236}">
                <a16:creationId xmlns:a16="http://schemas.microsoft.com/office/drawing/2014/main" id="{C28D5514-E16D-4B53-BEEB-6505687A103E}"/>
              </a:ext>
            </a:extLst>
          </p:cNvPr>
          <p:cNvSpPr txBox="1"/>
          <p:nvPr/>
        </p:nvSpPr>
        <p:spPr>
          <a:xfrm>
            <a:off x="6985949" y="6441475"/>
            <a:ext cx="3960495" cy="46990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2900" spc="-145" dirty="0">
                <a:latin typeface="Calibri"/>
                <a:cs typeface="Calibri"/>
              </a:rPr>
              <a:t>Tempo</a:t>
            </a:r>
            <a:r>
              <a:rPr sz="2900" spc="-60" dirty="0">
                <a:latin typeface="Calibri"/>
                <a:cs typeface="Calibri"/>
              </a:rPr>
              <a:t> </a:t>
            </a:r>
            <a:r>
              <a:rPr sz="2900" spc="-10" dirty="0">
                <a:solidFill>
                  <a:srgbClr val="111111"/>
                </a:solidFill>
                <a:latin typeface="Calibri"/>
                <a:cs typeface="Calibri"/>
              </a:rPr>
              <a:t>di</a:t>
            </a:r>
            <a:r>
              <a:rPr sz="2900" spc="-125" dirty="0">
                <a:solidFill>
                  <a:srgbClr val="111111"/>
                </a:solidFill>
                <a:latin typeface="Calibri"/>
                <a:cs typeface="Calibri"/>
              </a:rPr>
              <a:t> </a:t>
            </a:r>
            <a:r>
              <a:rPr sz="2900" spc="-30" dirty="0">
                <a:latin typeface="Calibri"/>
                <a:cs typeface="Calibri"/>
              </a:rPr>
              <a:t>Ricarica:</a:t>
            </a:r>
            <a:r>
              <a:rPr sz="2900" spc="-105" dirty="0">
                <a:latin typeface="Calibri"/>
                <a:cs typeface="Calibri"/>
              </a:rPr>
              <a:t> </a:t>
            </a:r>
            <a:r>
              <a:rPr lang="it-IT" sz="2900" spc="-105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3 </a:t>
            </a:r>
            <a:r>
              <a:rPr sz="2900" spc="-10" dirty="0" err="1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minuti</a:t>
            </a:r>
            <a:endParaRPr sz="2900" dirty="0">
              <a:solidFill>
                <a:schemeClr val="accent6">
                  <a:lumMod val="75000"/>
                </a:schemeClr>
              </a:solidFill>
              <a:latin typeface="Calibri"/>
              <a:cs typeface="Calibri"/>
            </a:endParaRPr>
          </a:p>
        </p:txBody>
      </p:sp>
      <p:sp>
        <p:nvSpPr>
          <p:cNvPr id="40" name="object 7">
            <a:extLst>
              <a:ext uri="{FF2B5EF4-FFF2-40B4-BE49-F238E27FC236}">
                <a16:creationId xmlns:a16="http://schemas.microsoft.com/office/drawing/2014/main" id="{4768FCB3-18F8-4EA4-A8B5-F89256E13445}"/>
              </a:ext>
            </a:extLst>
          </p:cNvPr>
          <p:cNvSpPr txBox="1"/>
          <p:nvPr/>
        </p:nvSpPr>
        <p:spPr>
          <a:xfrm>
            <a:off x="11737458" y="6431641"/>
            <a:ext cx="3960495" cy="46990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2900" spc="-145" dirty="0">
                <a:latin typeface="Calibri"/>
                <a:cs typeface="Calibri"/>
              </a:rPr>
              <a:t>Tempo</a:t>
            </a:r>
            <a:r>
              <a:rPr sz="2900" spc="-60" dirty="0">
                <a:latin typeface="Calibri"/>
                <a:cs typeface="Calibri"/>
              </a:rPr>
              <a:t> </a:t>
            </a:r>
            <a:r>
              <a:rPr sz="2900" spc="-10" dirty="0">
                <a:solidFill>
                  <a:srgbClr val="111111"/>
                </a:solidFill>
                <a:latin typeface="Calibri"/>
                <a:cs typeface="Calibri"/>
              </a:rPr>
              <a:t>di</a:t>
            </a:r>
            <a:r>
              <a:rPr sz="2900" spc="-125" dirty="0">
                <a:solidFill>
                  <a:srgbClr val="111111"/>
                </a:solidFill>
                <a:latin typeface="Calibri"/>
                <a:cs typeface="Calibri"/>
              </a:rPr>
              <a:t> </a:t>
            </a:r>
            <a:r>
              <a:rPr sz="2900" spc="-30" dirty="0">
                <a:latin typeface="Calibri"/>
                <a:cs typeface="Calibri"/>
              </a:rPr>
              <a:t>Ricarica:</a:t>
            </a:r>
            <a:r>
              <a:rPr sz="2900" spc="-105" dirty="0">
                <a:latin typeface="Calibri"/>
                <a:cs typeface="Calibri"/>
              </a:rPr>
              <a:t> </a:t>
            </a:r>
            <a:r>
              <a:rPr sz="2900" spc="145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5</a:t>
            </a:r>
            <a:r>
              <a:rPr sz="2900" spc="-245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 </a:t>
            </a:r>
            <a:r>
              <a:rPr sz="2900" spc="-10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minuti</a:t>
            </a:r>
            <a:endParaRPr sz="2900" dirty="0">
              <a:solidFill>
                <a:schemeClr val="accent6">
                  <a:lumMod val="75000"/>
                </a:schemeClr>
              </a:solidFill>
              <a:latin typeface="Calibri"/>
              <a:cs typeface="Calibri"/>
            </a:endParaRPr>
          </a:p>
        </p:txBody>
      </p:sp>
      <p:sp>
        <p:nvSpPr>
          <p:cNvPr id="42" name="CasellaDiTesto 41">
            <a:extLst>
              <a:ext uri="{FF2B5EF4-FFF2-40B4-BE49-F238E27FC236}">
                <a16:creationId xmlns:a16="http://schemas.microsoft.com/office/drawing/2014/main" id="{BBE70931-B1FD-4322-8608-21FCA89EF194}"/>
              </a:ext>
            </a:extLst>
          </p:cNvPr>
          <p:cNvSpPr txBox="1"/>
          <p:nvPr/>
        </p:nvSpPr>
        <p:spPr>
          <a:xfrm>
            <a:off x="5347664" y="7691735"/>
            <a:ext cx="70639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400" b="1" dirty="0">
                <a:solidFill>
                  <a:srgbClr val="074773"/>
                </a:solidFill>
              </a:rPr>
              <a:t>Potenza di ogni infrastruttura di ricarica:</a:t>
            </a:r>
          </a:p>
        </p:txBody>
      </p:sp>
      <p:grpSp>
        <p:nvGrpSpPr>
          <p:cNvPr id="47" name="Gruppo 46">
            <a:extLst>
              <a:ext uri="{FF2B5EF4-FFF2-40B4-BE49-F238E27FC236}">
                <a16:creationId xmlns:a16="http://schemas.microsoft.com/office/drawing/2014/main" id="{363A5639-7A53-4515-ACE4-2322A902C0D1}"/>
              </a:ext>
            </a:extLst>
          </p:cNvPr>
          <p:cNvGrpSpPr/>
          <p:nvPr/>
        </p:nvGrpSpPr>
        <p:grpSpPr>
          <a:xfrm>
            <a:off x="5827974" y="8251288"/>
            <a:ext cx="6276444" cy="1363953"/>
            <a:chOff x="5611187" y="8161047"/>
            <a:chExt cx="6276444" cy="1363953"/>
          </a:xfrm>
        </p:grpSpPr>
        <p:pic>
          <p:nvPicPr>
            <p:cNvPr id="43" name="Immagine 42">
              <a:extLst>
                <a:ext uri="{FF2B5EF4-FFF2-40B4-BE49-F238E27FC236}">
                  <a16:creationId xmlns:a16="http://schemas.microsoft.com/office/drawing/2014/main" id="{E5EA79A4-E395-42E5-AB88-DE5326B6941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19243" t="4109" r="12956" b="12907"/>
            <a:stretch/>
          </p:blipFill>
          <p:spPr>
            <a:xfrm>
              <a:off x="10389153" y="8161047"/>
              <a:ext cx="1498478" cy="1343891"/>
            </a:xfrm>
            <a:prstGeom prst="rect">
              <a:avLst/>
            </a:prstGeom>
          </p:spPr>
        </p:pic>
        <p:sp>
          <p:nvSpPr>
            <p:cNvPr id="44" name="CasellaDiTesto 43">
              <a:extLst>
                <a:ext uri="{FF2B5EF4-FFF2-40B4-BE49-F238E27FC236}">
                  <a16:creationId xmlns:a16="http://schemas.microsoft.com/office/drawing/2014/main" id="{ACCEE035-2E3A-407B-91CE-170D7EA3E586}"/>
                </a:ext>
              </a:extLst>
            </p:cNvPr>
            <p:cNvSpPr txBox="1"/>
            <p:nvPr/>
          </p:nvSpPr>
          <p:spPr>
            <a:xfrm>
              <a:off x="7163211" y="8436114"/>
              <a:ext cx="3148777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4000" b="1" dirty="0">
                  <a:solidFill>
                    <a:srgbClr val="074773"/>
                  </a:solidFill>
                </a:rPr>
                <a:t>200 kW</a:t>
              </a:r>
            </a:p>
          </p:txBody>
        </p:sp>
        <p:pic>
          <p:nvPicPr>
            <p:cNvPr id="45" name="Immagine 44">
              <a:extLst>
                <a:ext uri="{FF2B5EF4-FFF2-40B4-BE49-F238E27FC236}">
                  <a16:creationId xmlns:a16="http://schemas.microsoft.com/office/drawing/2014/main" id="{00FF0C4F-1634-4C95-8761-0EFC7B549EC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19243" t="4109" r="12956" b="12907"/>
            <a:stretch/>
          </p:blipFill>
          <p:spPr>
            <a:xfrm>
              <a:off x="5611187" y="8181109"/>
              <a:ext cx="1498478" cy="1343891"/>
            </a:xfrm>
            <a:prstGeom prst="rect">
              <a:avLst/>
            </a:prstGeom>
          </p:spPr>
        </p:pic>
        <p:sp>
          <p:nvSpPr>
            <p:cNvPr id="46" name="Ovale 45">
              <a:extLst>
                <a:ext uri="{FF2B5EF4-FFF2-40B4-BE49-F238E27FC236}">
                  <a16:creationId xmlns:a16="http://schemas.microsoft.com/office/drawing/2014/main" id="{8B712EFA-997C-411E-9345-7CFEBD967D99}"/>
                </a:ext>
              </a:extLst>
            </p:cNvPr>
            <p:cNvSpPr/>
            <p:nvPr/>
          </p:nvSpPr>
          <p:spPr>
            <a:xfrm>
              <a:off x="7442200" y="8289560"/>
              <a:ext cx="2530401" cy="100684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</p:spTree>
    <p:extLst>
      <p:ext uri="{BB962C8B-B14F-4D97-AF65-F5344CB8AC3E}">
        <p14:creationId xmlns:p14="http://schemas.microsoft.com/office/powerpoint/2010/main" val="3865086815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bject 10">
            <a:extLst>
              <a:ext uri="{FF2B5EF4-FFF2-40B4-BE49-F238E27FC236}">
                <a16:creationId xmlns:a16="http://schemas.microsoft.com/office/drawing/2014/main" id="{20EDE264-25AA-412E-BEF6-322B16F3E6A6}"/>
              </a:ext>
            </a:extLst>
          </p:cNvPr>
          <p:cNvSpPr txBox="1">
            <a:spLocks/>
          </p:cNvSpPr>
          <p:nvPr/>
        </p:nvSpPr>
        <p:spPr>
          <a:xfrm>
            <a:off x="1270001" y="899519"/>
            <a:ext cx="14399274" cy="690288"/>
          </a:xfrm>
          <a:prstGeom prst="rect">
            <a:avLst/>
          </a:prstGeom>
        </p:spPr>
        <p:txBody>
          <a:bodyPr vert="horz" wrap="square" lIns="0" tIns="96872" rIns="0" bIns="0" rtlCol="0">
            <a:spAutoFit/>
          </a:bodyPr>
          <a:lstStyle>
            <a:lvl1pPr>
              <a:defRPr sz="4150" b="0" i="0">
                <a:solidFill>
                  <a:srgbClr val="08486E"/>
                </a:solidFill>
                <a:latin typeface="Arial MT"/>
                <a:ea typeface="+mj-ea"/>
                <a:cs typeface="Arial MT"/>
              </a:defRPr>
            </a:lvl1pPr>
          </a:lstStyle>
          <a:p>
            <a:pPr>
              <a:spcBef>
                <a:spcPts val="135"/>
              </a:spcBef>
            </a:pPr>
            <a:r>
              <a:rPr lang="it-IT" sz="3850" b="1" spc="50" dirty="0">
                <a:solidFill>
                  <a:srgbClr val="1A63A2"/>
                </a:solidFill>
              </a:rPr>
              <a:t>Risultati</a:t>
            </a:r>
            <a:endParaRPr lang="it-IT" sz="3850" dirty="0"/>
          </a:p>
        </p:txBody>
      </p:sp>
      <p:sp>
        <p:nvSpPr>
          <p:cNvPr id="33" name="object 4">
            <a:extLst>
              <a:ext uri="{FF2B5EF4-FFF2-40B4-BE49-F238E27FC236}">
                <a16:creationId xmlns:a16="http://schemas.microsoft.com/office/drawing/2014/main" id="{0F4220C0-A1E1-427D-B41F-22AEA52A42F1}"/>
              </a:ext>
            </a:extLst>
          </p:cNvPr>
          <p:cNvSpPr/>
          <p:nvPr/>
        </p:nvSpPr>
        <p:spPr>
          <a:xfrm flipH="1">
            <a:off x="889000" y="1034985"/>
            <a:ext cx="152399" cy="4647567"/>
          </a:xfrm>
          <a:custGeom>
            <a:avLst/>
            <a:gdLst/>
            <a:ahLst/>
            <a:cxnLst/>
            <a:rect l="l" t="t" r="r" b="b"/>
            <a:pathLst>
              <a:path h="9753600">
                <a:moveTo>
                  <a:pt x="0" y="9753600"/>
                </a:moveTo>
                <a:lnTo>
                  <a:pt x="0" y="0"/>
                </a:lnTo>
              </a:path>
            </a:pathLst>
          </a:custGeom>
          <a:ln w="50800">
            <a:solidFill>
              <a:srgbClr val="1A63A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30">
            <a:extLst>
              <a:ext uri="{FF2B5EF4-FFF2-40B4-BE49-F238E27FC236}">
                <a16:creationId xmlns:a16="http://schemas.microsoft.com/office/drawing/2014/main" id="{93BC25A4-6BAF-4B38-9085-D2DDE2BD1322}"/>
              </a:ext>
            </a:extLst>
          </p:cNvPr>
          <p:cNvSpPr txBox="1"/>
          <p:nvPr/>
        </p:nvSpPr>
        <p:spPr>
          <a:xfrm>
            <a:off x="1269998" y="1773799"/>
            <a:ext cx="15163802" cy="398186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4130" marR="5080" indent="-12065" algn="just">
              <a:lnSpc>
                <a:spcPts val="3000"/>
              </a:lnSpc>
              <a:spcBef>
                <a:spcPts val="615"/>
              </a:spcBef>
            </a:pPr>
            <a:r>
              <a:rPr lang="it-IT" sz="2800" dirty="0">
                <a:solidFill>
                  <a:srgbClr val="0F0F0F"/>
                </a:solidFill>
                <a:latin typeface="Calibri"/>
                <a:cs typeface="Calibri"/>
              </a:rPr>
              <a:t>In questo scenario si ottengono i seguenti risultati:</a:t>
            </a:r>
            <a:endParaRPr lang="it-IT" sz="2800" dirty="0">
              <a:latin typeface="Calibri"/>
              <a:cs typeface="Calibri"/>
            </a:endParaRPr>
          </a:p>
        </p:txBody>
      </p:sp>
      <p:grpSp>
        <p:nvGrpSpPr>
          <p:cNvPr id="6" name="Gruppo 5">
            <a:extLst>
              <a:ext uri="{FF2B5EF4-FFF2-40B4-BE49-F238E27FC236}">
                <a16:creationId xmlns:a16="http://schemas.microsoft.com/office/drawing/2014/main" id="{11A7C30F-41C9-49BC-92C2-0B69953C0917}"/>
              </a:ext>
            </a:extLst>
          </p:cNvPr>
          <p:cNvGrpSpPr/>
          <p:nvPr/>
        </p:nvGrpSpPr>
        <p:grpSpPr>
          <a:xfrm>
            <a:off x="10299703" y="1737719"/>
            <a:ext cx="2448177" cy="1767481"/>
            <a:chOff x="12852401" y="5814710"/>
            <a:chExt cx="3399392" cy="1207891"/>
          </a:xfrm>
        </p:grpSpPr>
        <p:sp>
          <p:nvSpPr>
            <p:cNvPr id="7" name="Rettangolo con angoli arrotondati 6">
              <a:extLst>
                <a:ext uri="{FF2B5EF4-FFF2-40B4-BE49-F238E27FC236}">
                  <a16:creationId xmlns:a16="http://schemas.microsoft.com/office/drawing/2014/main" id="{33FFA535-22A2-4822-961F-10911F4C1156}"/>
                </a:ext>
              </a:extLst>
            </p:cNvPr>
            <p:cNvSpPr/>
            <p:nvPr/>
          </p:nvSpPr>
          <p:spPr>
            <a:xfrm>
              <a:off x="12898992" y="5814710"/>
              <a:ext cx="3352801" cy="1207891"/>
            </a:xfrm>
            <a:prstGeom prst="roundRect">
              <a:avLst/>
            </a:prstGeom>
            <a:noFill/>
            <a:ln w="762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8" name="CasellaDiTesto 7">
              <a:extLst>
                <a:ext uri="{FF2B5EF4-FFF2-40B4-BE49-F238E27FC236}">
                  <a16:creationId xmlns:a16="http://schemas.microsoft.com/office/drawing/2014/main" id="{6D9774B9-4518-4F3B-B7AD-026647A71C2B}"/>
                </a:ext>
              </a:extLst>
            </p:cNvPr>
            <p:cNvSpPr txBox="1"/>
            <p:nvPr/>
          </p:nvSpPr>
          <p:spPr>
            <a:xfrm>
              <a:off x="12852401" y="5866787"/>
              <a:ext cx="3352800" cy="6310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b="1" dirty="0">
                  <a:solidFill>
                    <a:srgbClr val="00B050"/>
                  </a:solidFill>
                </a:rPr>
                <a:t>Energia totale ricaricata A/R</a:t>
              </a:r>
              <a:endParaRPr lang="it-IT" dirty="0">
                <a:solidFill>
                  <a:srgbClr val="00B050"/>
                </a:solidFill>
              </a:endParaRPr>
            </a:p>
            <a:p>
              <a:pPr algn="ctr"/>
              <a:endParaRPr lang="it-IT" dirty="0"/>
            </a:p>
          </p:txBody>
        </p:sp>
        <p:sp>
          <p:nvSpPr>
            <p:cNvPr id="9" name="CasellaDiTesto 8">
              <a:extLst>
                <a:ext uri="{FF2B5EF4-FFF2-40B4-BE49-F238E27FC236}">
                  <a16:creationId xmlns:a16="http://schemas.microsoft.com/office/drawing/2014/main" id="{9CB9ACCC-55B4-4DFC-8406-39EA668E32B9}"/>
                </a:ext>
              </a:extLst>
            </p:cNvPr>
            <p:cNvSpPr txBox="1"/>
            <p:nvPr/>
          </p:nvSpPr>
          <p:spPr>
            <a:xfrm>
              <a:off x="12885418" y="6283386"/>
              <a:ext cx="3352800" cy="6310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3600" b="1" dirty="0">
                  <a:solidFill>
                    <a:srgbClr val="00B050"/>
                  </a:solidFill>
                </a:rPr>
                <a:t>39.7 kWh</a:t>
              </a:r>
            </a:p>
            <a:p>
              <a:pPr algn="ctr"/>
              <a:r>
                <a:rPr lang="it-IT" dirty="0"/>
                <a:t>(13.2% della batteria)</a:t>
              </a:r>
            </a:p>
          </p:txBody>
        </p:sp>
      </p:grpSp>
      <p:grpSp>
        <p:nvGrpSpPr>
          <p:cNvPr id="10" name="Gruppo 9">
            <a:extLst>
              <a:ext uri="{FF2B5EF4-FFF2-40B4-BE49-F238E27FC236}">
                <a16:creationId xmlns:a16="http://schemas.microsoft.com/office/drawing/2014/main" id="{F27068E8-2505-4C42-9B7D-C4CA89B17FF6}"/>
              </a:ext>
            </a:extLst>
          </p:cNvPr>
          <p:cNvGrpSpPr/>
          <p:nvPr/>
        </p:nvGrpSpPr>
        <p:grpSpPr>
          <a:xfrm>
            <a:off x="10299703" y="4099919"/>
            <a:ext cx="2448177" cy="1767481"/>
            <a:chOff x="12852401" y="5814710"/>
            <a:chExt cx="3399392" cy="1207891"/>
          </a:xfrm>
        </p:grpSpPr>
        <p:sp>
          <p:nvSpPr>
            <p:cNvPr id="11" name="Rettangolo con angoli arrotondati 10">
              <a:extLst>
                <a:ext uri="{FF2B5EF4-FFF2-40B4-BE49-F238E27FC236}">
                  <a16:creationId xmlns:a16="http://schemas.microsoft.com/office/drawing/2014/main" id="{18BCBC74-813B-4B29-8A04-08536F0182A7}"/>
                </a:ext>
              </a:extLst>
            </p:cNvPr>
            <p:cNvSpPr/>
            <p:nvPr/>
          </p:nvSpPr>
          <p:spPr>
            <a:xfrm>
              <a:off x="12898992" y="5814710"/>
              <a:ext cx="3352801" cy="1207891"/>
            </a:xfrm>
            <a:prstGeom prst="roundRect">
              <a:avLst/>
            </a:prstGeom>
            <a:noFill/>
            <a:ln w="762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3" name="CasellaDiTesto 12">
              <a:extLst>
                <a:ext uri="{FF2B5EF4-FFF2-40B4-BE49-F238E27FC236}">
                  <a16:creationId xmlns:a16="http://schemas.microsoft.com/office/drawing/2014/main" id="{6CB3D754-756C-4EB1-A4FE-A267593B3CB3}"/>
                </a:ext>
              </a:extLst>
            </p:cNvPr>
            <p:cNvSpPr txBox="1"/>
            <p:nvPr/>
          </p:nvSpPr>
          <p:spPr>
            <a:xfrm>
              <a:off x="12852401" y="5866787"/>
              <a:ext cx="3352800" cy="6310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b="1" dirty="0">
                  <a:solidFill>
                    <a:schemeClr val="accent6">
                      <a:lumMod val="75000"/>
                    </a:schemeClr>
                  </a:solidFill>
                </a:rPr>
                <a:t>Energia totale consumata A/R</a:t>
              </a:r>
              <a:endParaRPr lang="it-IT" dirty="0">
                <a:solidFill>
                  <a:schemeClr val="accent6">
                    <a:lumMod val="75000"/>
                  </a:schemeClr>
                </a:solidFill>
              </a:endParaRPr>
            </a:p>
            <a:p>
              <a:pPr algn="ctr"/>
              <a:endParaRPr lang="it-IT" dirty="0"/>
            </a:p>
          </p:txBody>
        </p:sp>
        <p:sp>
          <p:nvSpPr>
            <p:cNvPr id="14" name="CasellaDiTesto 13">
              <a:extLst>
                <a:ext uri="{FF2B5EF4-FFF2-40B4-BE49-F238E27FC236}">
                  <a16:creationId xmlns:a16="http://schemas.microsoft.com/office/drawing/2014/main" id="{7D8E0E6A-B05C-4132-8594-2F997CF455B4}"/>
                </a:ext>
              </a:extLst>
            </p:cNvPr>
            <p:cNvSpPr txBox="1"/>
            <p:nvPr/>
          </p:nvSpPr>
          <p:spPr>
            <a:xfrm>
              <a:off x="12885418" y="6283386"/>
              <a:ext cx="3352800" cy="6310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3600" b="1" dirty="0">
                  <a:solidFill>
                    <a:schemeClr val="accent6">
                      <a:lumMod val="75000"/>
                    </a:schemeClr>
                  </a:solidFill>
                </a:rPr>
                <a:t>~38 kWh</a:t>
              </a:r>
            </a:p>
            <a:p>
              <a:pPr algn="ctr"/>
              <a:r>
                <a:rPr lang="it-IT" dirty="0"/>
                <a:t>(12.6% della batteria)</a:t>
              </a:r>
            </a:p>
          </p:txBody>
        </p:sp>
      </p:grpSp>
      <p:sp>
        <p:nvSpPr>
          <p:cNvPr id="4" name="Cerchio vuoto 3">
            <a:extLst>
              <a:ext uri="{FF2B5EF4-FFF2-40B4-BE49-F238E27FC236}">
                <a16:creationId xmlns:a16="http://schemas.microsoft.com/office/drawing/2014/main" id="{7832003F-2B8D-4B33-AA45-E3BB5426783D}"/>
              </a:ext>
            </a:extLst>
          </p:cNvPr>
          <p:cNvSpPr/>
          <p:nvPr/>
        </p:nvSpPr>
        <p:spPr>
          <a:xfrm>
            <a:off x="13315413" y="1933489"/>
            <a:ext cx="3651787" cy="3695363"/>
          </a:xfrm>
          <a:prstGeom prst="donut">
            <a:avLst>
              <a:gd name="adj" fmla="val 10209"/>
            </a:avLst>
          </a:prstGeom>
          <a:solidFill>
            <a:srgbClr val="00B050"/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chemeClr val="tx1"/>
              </a:solidFill>
            </a:endParaRP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BBA99CF-E481-4855-8219-21086FE2EED5}"/>
              </a:ext>
            </a:extLst>
          </p:cNvPr>
          <p:cNvSpPr txBox="1"/>
          <p:nvPr/>
        </p:nvSpPr>
        <p:spPr>
          <a:xfrm>
            <a:off x="13732668" y="2811959"/>
            <a:ext cx="281543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 dirty="0"/>
              <a:t>Energia</a:t>
            </a:r>
            <a:r>
              <a:rPr lang="it-IT" sz="2000" b="1" dirty="0"/>
              <a:t> </a:t>
            </a:r>
          </a:p>
          <a:p>
            <a:pPr algn="ctr"/>
            <a:r>
              <a:rPr lang="it-IT" b="1" dirty="0">
                <a:solidFill>
                  <a:schemeClr val="tx1"/>
                </a:solidFill>
              </a:rPr>
              <a:t>ricaricata </a:t>
            </a:r>
            <a:r>
              <a:rPr lang="it-IT" sz="2400" b="1" dirty="0">
                <a:solidFill>
                  <a:schemeClr val="tx1"/>
                </a:solidFill>
              </a:rPr>
              <a:t>/ </a:t>
            </a:r>
            <a:r>
              <a:rPr lang="it-IT" b="1" dirty="0">
                <a:solidFill>
                  <a:schemeClr val="tx1"/>
                </a:solidFill>
              </a:rPr>
              <a:t>consumata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D4516637-3413-4537-B35D-B4716B233C56}"/>
              </a:ext>
            </a:extLst>
          </p:cNvPr>
          <p:cNvSpPr txBox="1"/>
          <p:nvPr/>
        </p:nvSpPr>
        <p:spPr>
          <a:xfrm>
            <a:off x="13804903" y="3642662"/>
            <a:ext cx="281543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6000" b="1" dirty="0">
                <a:solidFill>
                  <a:srgbClr val="00B050"/>
                </a:solidFill>
              </a:rPr>
              <a:t>~105%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E9711A1A-DA4C-40BE-8078-C729A18B2EDF}"/>
              </a:ext>
            </a:extLst>
          </p:cNvPr>
          <p:cNvSpPr txBox="1"/>
          <p:nvPr/>
        </p:nvSpPr>
        <p:spPr>
          <a:xfrm>
            <a:off x="2336509" y="7041177"/>
            <a:ext cx="13030779" cy="1246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4130" marR="5080" lvl="0" indent="-12065" algn="just" defTabSz="914400" eaLnBrk="1" fontAlgn="auto" latinLnBrk="0" hangingPunct="1">
              <a:lnSpc>
                <a:spcPts val="3000"/>
              </a:lnSpc>
              <a:spcBef>
                <a:spcPts val="6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2800" dirty="0">
                <a:latin typeface="Calibri"/>
                <a:cs typeface="Calibri"/>
              </a:rPr>
              <a:t>I risultati ottenuti indicano dunque che l’energia recuperata con le 3 basi di ricarica WPT copre oltre il 100% del consumo energetico della tratta complessiva di andata e ritorno. Ciò conferma la fattibilità del sistema permettendo di mantenere il </a:t>
            </a:r>
            <a:r>
              <a:rPr lang="it-IT" sz="2800" dirty="0" err="1">
                <a:latin typeface="Calibri"/>
                <a:cs typeface="Calibri"/>
              </a:rPr>
              <a:t>SoC</a:t>
            </a:r>
            <a:r>
              <a:rPr lang="it-IT" sz="2800" dirty="0">
                <a:latin typeface="Calibri"/>
                <a:cs typeface="Calibri"/>
              </a:rPr>
              <a:t> costante.</a:t>
            </a:r>
          </a:p>
        </p:txBody>
      </p:sp>
      <p:pic>
        <p:nvPicPr>
          <p:cNvPr id="18" name="Elemento grafico 17" descr="Freccia, curva antioraria">
            <a:extLst>
              <a:ext uri="{FF2B5EF4-FFF2-40B4-BE49-F238E27FC236}">
                <a16:creationId xmlns:a16="http://schemas.microsoft.com/office/drawing/2014/main" id="{C68983BB-1E76-43AF-9F4D-510B7368A3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1168865" y="6096000"/>
            <a:ext cx="914400" cy="914400"/>
          </a:xfrm>
          <a:prstGeom prst="rect">
            <a:avLst/>
          </a:prstGeom>
        </p:spPr>
      </p:pic>
      <p:sp>
        <p:nvSpPr>
          <p:cNvPr id="21" name="object 4">
            <a:extLst>
              <a:ext uri="{FF2B5EF4-FFF2-40B4-BE49-F238E27FC236}">
                <a16:creationId xmlns:a16="http://schemas.microsoft.com/office/drawing/2014/main" id="{C408B5AD-4E09-4760-BFC3-3000B66A37B0}"/>
              </a:ext>
            </a:extLst>
          </p:cNvPr>
          <p:cNvSpPr/>
          <p:nvPr/>
        </p:nvSpPr>
        <p:spPr>
          <a:xfrm flipH="1">
            <a:off x="2108200" y="7041177"/>
            <a:ext cx="127465" cy="1246495"/>
          </a:xfrm>
          <a:custGeom>
            <a:avLst/>
            <a:gdLst/>
            <a:ahLst/>
            <a:cxnLst/>
            <a:rect l="l" t="t" r="r" b="b"/>
            <a:pathLst>
              <a:path h="9753600">
                <a:moveTo>
                  <a:pt x="0" y="9753600"/>
                </a:moveTo>
                <a:lnTo>
                  <a:pt x="0" y="0"/>
                </a:lnTo>
              </a:path>
            </a:pathLst>
          </a:custGeom>
          <a:ln w="50800">
            <a:solidFill>
              <a:srgbClr val="1A63A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9DCBAF1E-4B80-4994-AC4A-4EDA3EDD39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9998" y="2514600"/>
            <a:ext cx="8588056" cy="3278236"/>
          </a:xfrm>
          <a:prstGeom prst="rect">
            <a:avLst/>
          </a:prstGeom>
          <a:effectLst>
            <a:softEdge rad="101600"/>
          </a:effectLst>
        </p:spPr>
      </p:pic>
      <p:sp>
        <p:nvSpPr>
          <p:cNvPr id="24" name="object 4">
            <a:extLst>
              <a:ext uri="{FF2B5EF4-FFF2-40B4-BE49-F238E27FC236}">
                <a16:creationId xmlns:a16="http://schemas.microsoft.com/office/drawing/2014/main" id="{0FCB0ACA-915B-4733-BE7E-DBD07D4C97EC}"/>
              </a:ext>
            </a:extLst>
          </p:cNvPr>
          <p:cNvSpPr/>
          <p:nvPr/>
        </p:nvSpPr>
        <p:spPr>
          <a:xfrm>
            <a:off x="8469638" y="8854081"/>
            <a:ext cx="76200" cy="1932081"/>
          </a:xfrm>
          <a:custGeom>
            <a:avLst/>
            <a:gdLst/>
            <a:ahLst/>
            <a:cxnLst/>
            <a:rect l="l" t="t" r="r" b="b"/>
            <a:pathLst>
              <a:path h="9753600">
                <a:moveTo>
                  <a:pt x="0" y="9753600"/>
                </a:moveTo>
                <a:lnTo>
                  <a:pt x="0" y="0"/>
                </a:lnTo>
              </a:path>
            </a:pathLst>
          </a:custGeom>
          <a:ln w="50800">
            <a:solidFill>
              <a:srgbClr val="1A63A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4877621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bject 10">
            <a:extLst>
              <a:ext uri="{FF2B5EF4-FFF2-40B4-BE49-F238E27FC236}">
                <a16:creationId xmlns:a16="http://schemas.microsoft.com/office/drawing/2014/main" id="{20EDE264-25AA-412E-BEF6-322B16F3E6A6}"/>
              </a:ext>
            </a:extLst>
          </p:cNvPr>
          <p:cNvSpPr txBox="1">
            <a:spLocks/>
          </p:cNvSpPr>
          <p:nvPr/>
        </p:nvSpPr>
        <p:spPr>
          <a:xfrm>
            <a:off x="1270001" y="1306547"/>
            <a:ext cx="14399274" cy="690288"/>
          </a:xfrm>
          <a:prstGeom prst="rect">
            <a:avLst/>
          </a:prstGeom>
        </p:spPr>
        <p:txBody>
          <a:bodyPr vert="horz" wrap="square" lIns="0" tIns="96872" rIns="0" bIns="0" rtlCol="0">
            <a:spAutoFit/>
          </a:bodyPr>
          <a:lstStyle>
            <a:lvl1pPr>
              <a:defRPr sz="4150" b="0" i="0">
                <a:solidFill>
                  <a:srgbClr val="08486E"/>
                </a:solidFill>
                <a:latin typeface="Arial MT"/>
                <a:ea typeface="+mj-ea"/>
                <a:cs typeface="Arial MT"/>
              </a:defRPr>
            </a:lvl1pPr>
          </a:lstStyle>
          <a:p>
            <a:pPr algn="ctr">
              <a:spcBef>
                <a:spcPts val="135"/>
              </a:spcBef>
            </a:pPr>
            <a:r>
              <a:rPr lang="it-IT" sz="3850" b="1" spc="50" dirty="0">
                <a:solidFill>
                  <a:schemeClr val="accent6">
                    <a:lumMod val="75000"/>
                  </a:schemeClr>
                </a:solidFill>
              </a:rPr>
              <a:t>VANTAGGI</a:t>
            </a:r>
            <a:endParaRPr lang="it-IT" sz="385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33" name="object 4">
            <a:extLst>
              <a:ext uri="{FF2B5EF4-FFF2-40B4-BE49-F238E27FC236}">
                <a16:creationId xmlns:a16="http://schemas.microsoft.com/office/drawing/2014/main" id="{0F4220C0-A1E1-427D-B41F-22AEA52A42F1}"/>
              </a:ext>
            </a:extLst>
          </p:cNvPr>
          <p:cNvSpPr/>
          <p:nvPr/>
        </p:nvSpPr>
        <p:spPr>
          <a:xfrm>
            <a:off x="8469638" y="-163830"/>
            <a:ext cx="45719" cy="1367112"/>
          </a:xfrm>
          <a:custGeom>
            <a:avLst/>
            <a:gdLst/>
            <a:ahLst/>
            <a:cxnLst/>
            <a:rect l="l" t="t" r="r" b="b"/>
            <a:pathLst>
              <a:path h="9753600">
                <a:moveTo>
                  <a:pt x="0" y="9753600"/>
                </a:moveTo>
                <a:lnTo>
                  <a:pt x="0" y="0"/>
                </a:lnTo>
              </a:path>
            </a:pathLst>
          </a:custGeom>
          <a:ln w="50800">
            <a:solidFill>
              <a:srgbClr val="1A63A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7395FEA3-A069-467F-B2C5-C2718B564B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9111" y="2819400"/>
            <a:ext cx="2587748" cy="1996938"/>
          </a:xfrm>
          <a:prstGeom prst="rect">
            <a:avLst/>
          </a:prstGeom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CA896561-44F3-45E4-9011-D8B9FA7FE3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4019" y="2832458"/>
            <a:ext cx="1867161" cy="2063017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B4D85C3A-6C11-42C8-BCAF-41E68CED72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07079" y="2950334"/>
            <a:ext cx="2359921" cy="1926466"/>
          </a:xfrm>
          <a:prstGeom prst="rect">
            <a:avLst/>
          </a:prstGeom>
        </p:spPr>
      </p:pic>
      <p:sp>
        <p:nvSpPr>
          <p:cNvPr id="48" name="CasellaDiTesto 47">
            <a:extLst>
              <a:ext uri="{FF2B5EF4-FFF2-40B4-BE49-F238E27FC236}">
                <a16:creationId xmlns:a16="http://schemas.microsoft.com/office/drawing/2014/main" id="{DF3FB32A-631D-44CE-8948-43CCA50B4024}"/>
              </a:ext>
            </a:extLst>
          </p:cNvPr>
          <p:cNvSpPr txBox="1"/>
          <p:nvPr/>
        </p:nvSpPr>
        <p:spPr>
          <a:xfrm>
            <a:off x="1298056" y="5029200"/>
            <a:ext cx="41698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b="1" dirty="0">
                <a:solidFill>
                  <a:srgbClr val="074773"/>
                </a:solidFill>
              </a:rPr>
              <a:t>Efficienza operativa</a:t>
            </a:r>
          </a:p>
        </p:txBody>
      </p:sp>
      <p:sp>
        <p:nvSpPr>
          <p:cNvPr id="49" name="CasellaDiTesto 48">
            <a:extLst>
              <a:ext uri="{FF2B5EF4-FFF2-40B4-BE49-F238E27FC236}">
                <a16:creationId xmlns:a16="http://schemas.microsoft.com/office/drawing/2014/main" id="{7E46F364-3445-4BB4-844F-1DBD347777D3}"/>
              </a:ext>
            </a:extLst>
          </p:cNvPr>
          <p:cNvSpPr txBox="1"/>
          <p:nvPr/>
        </p:nvSpPr>
        <p:spPr>
          <a:xfrm>
            <a:off x="6774818" y="5047864"/>
            <a:ext cx="39255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b="1" dirty="0" err="1">
                <a:solidFill>
                  <a:srgbClr val="074773"/>
                </a:solidFill>
              </a:rPr>
              <a:t>Downsizing</a:t>
            </a:r>
            <a:r>
              <a:rPr lang="it-IT" sz="2800" b="1" dirty="0">
                <a:solidFill>
                  <a:srgbClr val="074773"/>
                </a:solidFill>
              </a:rPr>
              <a:t> batteria</a:t>
            </a:r>
          </a:p>
        </p:txBody>
      </p:sp>
      <p:sp>
        <p:nvSpPr>
          <p:cNvPr id="50" name="CasellaDiTesto 49">
            <a:extLst>
              <a:ext uri="{FF2B5EF4-FFF2-40B4-BE49-F238E27FC236}">
                <a16:creationId xmlns:a16="http://schemas.microsoft.com/office/drawing/2014/main" id="{99650CFB-BDBF-4732-A824-56F388FBE54E}"/>
              </a:ext>
            </a:extLst>
          </p:cNvPr>
          <p:cNvSpPr txBox="1"/>
          <p:nvPr/>
        </p:nvSpPr>
        <p:spPr>
          <a:xfrm>
            <a:off x="12271903" y="5047864"/>
            <a:ext cx="39255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b="1" dirty="0">
                <a:solidFill>
                  <a:srgbClr val="074773"/>
                </a:solidFill>
              </a:rPr>
              <a:t>Integrazione urbana</a:t>
            </a:r>
          </a:p>
        </p:txBody>
      </p:sp>
      <p:sp>
        <p:nvSpPr>
          <p:cNvPr id="51" name="object 4">
            <a:extLst>
              <a:ext uri="{FF2B5EF4-FFF2-40B4-BE49-F238E27FC236}">
                <a16:creationId xmlns:a16="http://schemas.microsoft.com/office/drawing/2014/main" id="{148818AD-EF1F-4C5C-B8D1-B472337F30F5}"/>
              </a:ext>
            </a:extLst>
          </p:cNvPr>
          <p:cNvSpPr/>
          <p:nvPr/>
        </p:nvSpPr>
        <p:spPr>
          <a:xfrm>
            <a:off x="8463281" y="9067800"/>
            <a:ext cx="45719" cy="1367112"/>
          </a:xfrm>
          <a:custGeom>
            <a:avLst/>
            <a:gdLst/>
            <a:ahLst/>
            <a:cxnLst/>
            <a:rect l="l" t="t" r="r" b="b"/>
            <a:pathLst>
              <a:path h="9753600">
                <a:moveTo>
                  <a:pt x="0" y="9753600"/>
                </a:moveTo>
                <a:lnTo>
                  <a:pt x="0" y="0"/>
                </a:lnTo>
              </a:path>
            </a:pathLst>
          </a:custGeom>
          <a:ln w="50800">
            <a:solidFill>
              <a:srgbClr val="1A63A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1836F6E7-283E-4F09-AC74-53E05980B3B4}"/>
              </a:ext>
            </a:extLst>
          </p:cNvPr>
          <p:cNvSpPr/>
          <p:nvPr/>
        </p:nvSpPr>
        <p:spPr>
          <a:xfrm>
            <a:off x="6869438" y="1203282"/>
            <a:ext cx="3154681" cy="954107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2" name="object 6">
            <a:extLst>
              <a:ext uri="{FF2B5EF4-FFF2-40B4-BE49-F238E27FC236}">
                <a16:creationId xmlns:a16="http://schemas.microsoft.com/office/drawing/2014/main" id="{4FB93615-0EE3-4BA9-BAA9-E6B15C21617F}"/>
              </a:ext>
            </a:extLst>
          </p:cNvPr>
          <p:cNvSpPr txBox="1"/>
          <p:nvPr/>
        </p:nvSpPr>
        <p:spPr>
          <a:xfrm>
            <a:off x="1005296" y="5638800"/>
            <a:ext cx="4718821" cy="3529812"/>
          </a:xfrm>
          <a:prstGeom prst="rect">
            <a:avLst/>
          </a:prstGeom>
        </p:spPr>
        <p:txBody>
          <a:bodyPr vert="horz" wrap="square" lIns="0" tIns="81915" rIns="0" bIns="0" rtlCol="0">
            <a:spAutoFit/>
          </a:bodyPr>
          <a:lstStyle/>
          <a:p>
            <a:pPr marL="457200" marR="0" lvl="0" indent="-457200" algn="just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it-IT" sz="2800" spc="-135" dirty="0">
                <a:latin typeface="Calibri"/>
                <a:cs typeface="Calibri"/>
              </a:rPr>
              <a:t>Operatività continua, annullando potenzialmente la necessità di rientrare in deposito durante tutta la giornata di servizio. </a:t>
            </a:r>
          </a:p>
          <a:p>
            <a:pPr marL="457200" marR="0" lvl="0" indent="-457200" algn="just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it-IT" sz="2800" spc="-135" dirty="0">
                <a:latin typeface="Calibri"/>
                <a:cs typeface="Calibri"/>
              </a:rPr>
              <a:t>Avvio della ricarica più veloce rispetto ai pantografi, talvolta macchinosi nella fase di aggancio.</a:t>
            </a:r>
          </a:p>
        </p:txBody>
      </p:sp>
      <p:sp>
        <p:nvSpPr>
          <p:cNvPr id="53" name="object 7">
            <a:extLst>
              <a:ext uri="{FF2B5EF4-FFF2-40B4-BE49-F238E27FC236}">
                <a16:creationId xmlns:a16="http://schemas.microsoft.com/office/drawing/2014/main" id="{AF1BEADF-AA01-482C-937F-600851560F27}"/>
              </a:ext>
            </a:extLst>
          </p:cNvPr>
          <p:cNvSpPr txBox="1"/>
          <p:nvPr/>
        </p:nvSpPr>
        <p:spPr>
          <a:xfrm>
            <a:off x="6533378" y="5638800"/>
            <a:ext cx="4718822" cy="3098925"/>
          </a:xfrm>
          <a:prstGeom prst="rect">
            <a:avLst/>
          </a:prstGeom>
        </p:spPr>
        <p:txBody>
          <a:bodyPr vert="horz" wrap="square" lIns="0" tIns="81915" rIns="0" bIns="0" rtlCol="0">
            <a:spAutoFit/>
          </a:bodyPr>
          <a:lstStyle/>
          <a:p>
            <a:pPr algn="just"/>
            <a:r>
              <a:rPr lang="it-IT" sz="2800" spc="-135" dirty="0">
                <a:latin typeface="Calibri"/>
                <a:cs typeface="Calibri"/>
              </a:rPr>
              <a:t>Potenziale </a:t>
            </a:r>
            <a:r>
              <a:rPr lang="it-IT" sz="2800" spc="-135" dirty="0" err="1">
                <a:latin typeface="Calibri"/>
                <a:cs typeface="Calibri"/>
              </a:rPr>
              <a:t>downsizing</a:t>
            </a:r>
            <a:r>
              <a:rPr lang="it-IT" sz="2800" spc="-135" dirty="0">
                <a:latin typeface="Calibri"/>
                <a:cs typeface="Calibri"/>
              </a:rPr>
              <a:t> del pacco batterie a bordo, con conseguente riduzione di: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spc="-135" dirty="0">
                <a:latin typeface="Calibri"/>
                <a:cs typeface="Calibri"/>
              </a:rPr>
              <a:t>prezzo del veicolo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spc="-135" dirty="0">
                <a:latin typeface="Calibri"/>
                <a:cs typeface="Calibri"/>
              </a:rPr>
              <a:t>peso del veicolo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spc="-135" dirty="0">
                <a:latin typeface="Calibri"/>
                <a:cs typeface="Calibri"/>
              </a:rPr>
              <a:t>consumo energetico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spc="-135" dirty="0">
                <a:latin typeface="Calibri"/>
                <a:cs typeface="Calibri"/>
              </a:rPr>
              <a:t>costi di sostituzione futuri</a:t>
            </a:r>
          </a:p>
        </p:txBody>
      </p:sp>
      <p:sp>
        <p:nvSpPr>
          <p:cNvPr id="54" name="object 8">
            <a:extLst>
              <a:ext uri="{FF2B5EF4-FFF2-40B4-BE49-F238E27FC236}">
                <a16:creationId xmlns:a16="http://schemas.microsoft.com/office/drawing/2014/main" id="{A8B352B9-E02B-40B1-A95D-174D83F37B9D}"/>
              </a:ext>
            </a:extLst>
          </p:cNvPr>
          <p:cNvSpPr txBox="1"/>
          <p:nvPr/>
        </p:nvSpPr>
        <p:spPr>
          <a:xfrm>
            <a:off x="11913142" y="5638800"/>
            <a:ext cx="4718821" cy="3529812"/>
          </a:xfrm>
          <a:prstGeom prst="rect">
            <a:avLst/>
          </a:prstGeom>
        </p:spPr>
        <p:txBody>
          <a:bodyPr vert="horz" wrap="square" lIns="0" tIns="81915" rIns="0" bIns="0" rtlCol="0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spc="-135" dirty="0">
                <a:latin typeface="Calibri"/>
                <a:cs typeface="Calibri"/>
              </a:rPr>
              <a:t>Impatto visivo quasi o totalmente annullato.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spc="-135" dirty="0">
                <a:latin typeface="Calibri"/>
                <a:cs typeface="Calibri"/>
              </a:rPr>
              <a:t>Codice parametrizzato e applicabile a qualsiasi altra linea o bus.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spc="-135" dirty="0">
                <a:latin typeface="Calibri"/>
                <a:cs typeface="Calibri"/>
              </a:rPr>
              <a:t>Primo passo verso l’automazione di questa tipologia di mezzi di trasporto pubblico.</a:t>
            </a:r>
          </a:p>
        </p:txBody>
      </p:sp>
    </p:spTree>
    <p:extLst>
      <p:ext uri="{BB962C8B-B14F-4D97-AF65-F5344CB8AC3E}">
        <p14:creationId xmlns:p14="http://schemas.microsoft.com/office/powerpoint/2010/main" val="2022747336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bject 10">
            <a:extLst>
              <a:ext uri="{FF2B5EF4-FFF2-40B4-BE49-F238E27FC236}">
                <a16:creationId xmlns:a16="http://schemas.microsoft.com/office/drawing/2014/main" id="{20EDE264-25AA-412E-BEF6-322B16F3E6A6}"/>
              </a:ext>
            </a:extLst>
          </p:cNvPr>
          <p:cNvSpPr txBox="1">
            <a:spLocks/>
          </p:cNvSpPr>
          <p:nvPr/>
        </p:nvSpPr>
        <p:spPr>
          <a:xfrm>
            <a:off x="1270001" y="1341196"/>
            <a:ext cx="14399274" cy="690288"/>
          </a:xfrm>
          <a:prstGeom prst="rect">
            <a:avLst/>
          </a:prstGeom>
        </p:spPr>
        <p:txBody>
          <a:bodyPr vert="horz" wrap="square" lIns="0" tIns="96872" rIns="0" bIns="0" rtlCol="0">
            <a:spAutoFit/>
          </a:bodyPr>
          <a:lstStyle>
            <a:lvl1pPr>
              <a:defRPr sz="4150" b="0" i="0">
                <a:solidFill>
                  <a:srgbClr val="08486E"/>
                </a:solidFill>
                <a:latin typeface="Arial MT"/>
                <a:ea typeface="+mj-ea"/>
                <a:cs typeface="Arial MT"/>
              </a:defRPr>
            </a:lvl1pPr>
          </a:lstStyle>
          <a:p>
            <a:pPr algn="ctr">
              <a:spcBef>
                <a:spcPts val="135"/>
              </a:spcBef>
            </a:pPr>
            <a:r>
              <a:rPr lang="it-IT" sz="3850" b="1" spc="50" dirty="0">
                <a:solidFill>
                  <a:schemeClr val="accent6">
                    <a:lumMod val="75000"/>
                  </a:schemeClr>
                </a:solidFill>
              </a:rPr>
              <a:t>Considerazioni per l’implementazione </a:t>
            </a:r>
            <a:endParaRPr lang="it-IT" sz="385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33" name="object 4">
            <a:extLst>
              <a:ext uri="{FF2B5EF4-FFF2-40B4-BE49-F238E27FC236}">
                <a16:creationId xmlns:a16="http://schemas.microsoft.com/office/drawing/2014/main" id="{0F4220C0-A1E1-427D-B41F-22AEA52A42F1}"/>
              </a:ext>
            </a:extLst>
          </p:cNvPr>
          <p:cNvSpPr/>
          <p:nvPr/>
        </p:nvSpPr>
        <p:spPr>
          <a:xfrm>
            <a:off x="8469638" y="-163830"/>
            <a:ext cx="45719" cy="1367112"/>
          </a:xfrm>
          <a:custGeom>
            <a:avLst/>
            <a:gdLst/>
            <a:ahLst/>
            <a:cxnLst/>
            <a:rect l="l" t="t" r="r" b="b"/>
            <a:pathLst>
              <a:path h="9753600">
                <a:moveTo>
                  <a:pt x="0" y="9753600"/>
                </a:moveTo>
                <a:lnTo>
                  <a:pt x="0" y="0"/>
                </a:lnTo>
              </a:path>
            </a:pathLst>
          </a:custGeom>
          <a:ln w="50800">
            <a:solidFill>
              <a:srgbClr val="1A63A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2E88E127-A19A-4383-9395-AC049815B0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4800" y="3064616"/>
            <a:ext cx="3610061" cy="2390874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2EC7B5A8-A66D-476B-9874-EBC78A8199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413" y="3259927"/>
            <a:ext cx="4255757" cy="2390874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945FC3CB-0EE2-4DBB-BE8E-F3C68BA12A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52948" y="3261064"/>
            <a:ext cx="3971252" cy="2141798"/>
          </a:xfrm>
          <a:prstGeom prst="rect">
            <a:avLst/>
          </a:prstGeom>
        </p:spPr>
      </p:pic>
      <p:sp>
        <p:nvSpPr>
          <p:cNvPr id="16" name="object 6">
            <a:extLst>
              <a:ext uri="{FF2B5EF4-FFF2-40B4-BE49-F238E27FC236}">
                <a16:creationId xmlns:a16="http://schemas.microsoft.com/office/drawing/2014/main" id="{B3300221-FE85-4689-ACD4-8D9781A04916}"/>
              </a:ext>
            </a:extLst>
          </p:cNvPr>
          <p:cNvSpPr txBox="1"/>
          <p:nvPr/>
        </p:nvSpPr>
        <p:spPr>
          <a:xfrm>
            <a:off x="1104605" y="5650801"/>
            <a:ext cx="4556760" cy="3202159"/>
          </a:xfrm>
          <a:prstGeom prst="rect">
            <a:avLst/>
          </a:prstGeom>
        </p:spPr>
        <p:txBody>
          <a:bodyPr vert="horz" wrap="square" lIns="0" tIns="81915" rIns="0" bIns="0" rtlCol="0">
            <a:spAutoFit/>
          </a:bodyPr>
          <a:lstStyle/>
          <a:p>
            <a:pPr marR="73025" algn="ctr">
              <a:lnSpc>
                <a:spcPct val="100000"/>
              </a:lnSpc>
              <a:spcBef>
                <a:spcPts val="645"/>
              </a:spcBef>
            </a:pPr>
            <a:r>
              <a:rPr sz="3050" b="1" spc="-40" dirty="0">
                <a:solidFill>
                  <a:srgbClr val="083A5B"/>
                </a:solidFill>
                <a:latin typeface="Calibri"/>
                <a:cs typeface="Calibri"/>
              </a:rPr>
              <a:t>Allineamento</a:t>
            </a:r>
            <a:r>
              <a:rPr sz="3050" b="1" spc="155" dirty="0">
                <a:solidFill>
                  <a:srgbClr val="083A5B"/>
                </a:solidFill>
                <a:latin typeface="Calibri"/>
                <a:cs typeface="Calibri"/>
              </a:rPr>
              <a:t> </a:t>
            </a:r>
            <a:r>
              <a:rPr sz="3050" b="1" dirty="0">
                <a:solidFill>
                  <a:srgbClr val="0C3D5B"/>
                </a:solidFill>
                <a:latin typeface="Calibri"/>
                <a:cs typeface="Calibri"/>
              </a:rPr>
              <a:t>di</a:t>
            </a:r>
            <a:r>
              <a:rPr sz="3050" b="1" spc="-114" dirty="0">
                <a:solidFill>
                  <a:srgbClr val="0C3D5B"/>
                </a:solidFill>
                <a:latin typeface="Calibri"/>
                <a:cs typeface="Calibri"/>
              </a:rPr>
              <a:t> </a:t>
            </a:r>
            <a:r>
              <a:rPr sz="3050" b="1" spc="-10" dirty="0">
                <a:solidFill>
                  <a:srgbClr val="0A4264"/>
                </a:solidFill>
                <a:latin typeface="Calibri"/>
                <a:cs typeface="Calibri"/>
              </a:rPr>
              <a:t>Precisione</a:t>
            </a:r>
            <a:endParaRPr sz="3050" dirty="0">
              <a:latin typeface="Calibri"/>
              <a:cs typeface="Calibri"/>
            </a:endParaRPr>
          </a:p>
          <a:p>
            <a:pPr marL="12700" marR="5080" indent="-81280" algn="ctr">
              <a:lnSpc>
                <a:spcPct val="82600"/>
              </a:lnSpc>
              <a:spcBef>
                <a:spcPts val="1055"/>
              </a:spcBef>
            </a:pPr>
            <a:r>
              <a:rPr sz="2800" dirty="0">
                <a:latin typeface="Calibri"/>
                <a:cs typeface="Calibri"/>
              </a:rPr>
              <a:t>È</a:t>
            </a:r>
            <a:r>
              <a:rPr sz="2800" spc="-235" dirty="0">
                <a:latin typeface="Calibri"/>
                <a:cs typeface="Calibri"/>
              </a:rPr>
              <a:t> </a:t>
            </a:r>
            <a:r>
              <a:rPr sz="2800" spc="-145" dirty="0">
                <a:latin typeface="Calibri"/>
                <a:cs typeface="Calibri"/>
              </a:rPr>
              <a:t>necessario</a:t>
            </a:r>
            <a:r>
              <a:rPr sz="2800" spc="65" dirty="0">
                <a:latin typeface="Calibri"/>
                <a:cs typeface="Calibri"/>
              </a:rPr>
              <a:t> </a:t>
            </a:r>
            <a:r>
              <a:rPr sz="2800" spc="-180" dirty="0">
                <a:latin typeface="Calibri"/>
                <a:cs typeface="Calibri"/>
              </a:rPr>
              <a:t>un</a:t>
            </a:r>
            <a:r>
              <a:rPr sz="2800" spc="-105" dirty="0">
                <a:latin typeface="Calibri"/>
                <a:cs typeface="Calibri"/>
              </a:rPr>
              <a:t> </a:t>
            </a:r>
            <a:r>
              <a:rPr lang="it-IT" sz="2800" spc="-150" dirty="0">
                <a:latin typeface="Calibri"/>
                <a:cs typeface="Calibri"/>
              </a:rPr>
              <a:t>software</a:t>
            </a:r>
            <a:r>
              <a:rPr sz="2800" spc="-155" dirty="0">
                <a:latin typeface="Calibri"/>
                <a:cs typeface="Calibri"/>
              </a:rPr>
              <a:t> </a:t>
            </a:r>
            <a:r>
              <a:rPr lang="it-IT" sz="2800" spc="-155" dirty="0">
                <a:latin typeface="Calibri"/>
                <a:cs typeface="Calibri"/>
              </a:rPr>
              <a:t>di assistenza </a:t>
            </a:r>
            <a:r>
              <a:rPr lang="it-IT" sz="2800" spc="-110" dirty="0">
                <a:latin typeface="Calibri"/>
                <a:cs typeface="Calibri"/>
              </a:rPr>
              <a:t>autonomo </a:t>
            </a:r>
            <a:r>
              <a:rPr lang="it-IT" sz="2800" spc="-25" dirty="0">
                <a:latin typeface="Calibri"/>
                <a:cs typeface="Calibri"/>
              </a:rPr>
              <a:t>che permetta</a:t>
            </a:r>
            <a:r>
              <a:rPr sz="2800" spc="-25" dirty="0">
                <a:latin typeface="Calibri"/>
                <a:cs typeface="Calibri"/>
              </a:rPr>
              <a:t> </a:t>
            </a:r>
            <a:r>
              <a:rPr lang="it-IT" sz="2800" spc="-25" dirty="0">
                <a:latin typeface="Calibri"/>
                <a:cs typeface="Calibri"/>
              </a:rPr>
              <a:t>a</a:t>
            </a:r>
            <a:r>
              <a:rPr sz="2800" dirty="0">
                <a:latin typeface="Calibri"/>
                <a:cs typeface="Calibri"/>
              </a:rPr>
              <a:t>l</a:t>
            </a:r>
            <a:r>
              <a:rPr sz="2800" spc="-200" dirty="0">
                <a:latin typeface="Calibri"/>
                <a:cs typeface="Calibri"/>
              </a:rPr>
              <a:t> </a:t>
            </a:r>
            <a:r>
              <a:rPr sz="2800" spc="-180" dirty="0" err="1">
                <a:latin typeface="Calibri"/>
                <a:cs typeface="Calibri"/>
              </a:rPr>
              <a:t>conducente</a:t>
            </a:r>
            <a:r>
              <a:rPr sz="2800" spc="35" dirty="0">
                <a:latin typeface="Calibri"/>
                <a:cs typeface="Calibri"/>
              </a:rPr>
              <a:t> </a:t>
            </a:r>
            <a:r>
              <a:rPr lang="it-IT" sz="2800" spc="-160" dirty="0">
                <a:latin typeface="Calibri"/>
                <a:cs typeface="Calibri"/>
              </a:rPr>
              <a:t>di</a:t>
            </a:r>
            <a:r>
              <a:rPr sz="2800" spc="-175" dirty="0">
                <a:latin typeface="Calibri"/>
                <a:cs typeface="Calibri"/>
              </a:rPr>
              <a:t> </a:t>
            </a:r>
            <a:r>
              <a:rPr sz="2800" spc="-140" dirty="0">
                <a:latin typeface="Calibri"/>
                <a:cs typeface="Calibri"/>
              </a:rPr>
              <a:t>assicurare</a:t>
            </a:r>
            <a:r>
              <a:rPr sz="2800" spc="70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un </a:t>
            </a:r>
            <a:r>
              <a:rPr sz="2800" spc="-170" dirty="0">
                <a:latin typeface="Calibri"/>
                <a:cs typeface="Calibri"/>
              </a:rPr>
              <a:t>allineamento</a:t>
            </a:r>
            <a:r>
              <a:rPr sz="2800" spc="135" dirty="0">
                <a:latin typeface="Calibri"/>
                <a:cs typeface="Calibri"/>
              </a:rPr>
              <a:t> </a:t>
            </a:r>
            <a:r>
              <a:rPr sz="2800" spc="-155" dirty="0">
                <a:latin typeface="Calibri"/>
                <a:cs typeface="Calibri"/>
              </a:rPr>
              <a:t>ottimale</a:t>
            </a:r>
            <a:r>
              <a:rPr sz="2800" spc="-80" dirty="0">
                <a:latin typeface="Calibri"/>
                <a:cs typeface="Calibri"/>
              </a:rPr>
              <a:t> </a:t>
            </a:r>
            <a:r>
              <a:rPr sz="2800" spc="-170" dirty="0">
                <a:latin typeface="Calibri"/>
                <a:cs typeface="Calibri"/>
              </a:rPr>
              <a:t>con</a:t>
            </a:r>
            <a:r>
              <a:rPr sz="2800" spc="-80" dirty="0">
                <a:latin typeface="Calibri"/>
                <a:cs typeface="Calibri"/>
              </a:rPr>
              <a:t> il</a:t>
            </a:r>
            <a:r>
              <a:rPr sz="2800" spc="-150" dirty="0">
                <a:latin typeface="Calibri"/>
                <a:cs typeface="Calibri"/>
              </a:rPr>
              <a:t> </a:t>
            </a:r>
            <a:r>
              <a:rPr sz="2800" spc="-204" dirty="0">
                <a:latin typeface="Calibri"/>
                <a:cs typeface="Calibri"/>
              </a:rPr>
              <a:t>pad</a:t>
            </a:r>
            <a:r>
              <a:rPr sz="2800" spc="-95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di </a:t>
            </a:r>
            <a:r>
              <a:rPr sz="2800" spc="-125" dirty="0">
                <a:latin typeface="Calibri"/>
                <a:cs typeface="Calibri"/>
              </a:rPr>
              <a:t>ricarica,</a:t>
            </a:r>
            <a:r>
              <a:rPr sz="2800" spc="-40" dirty="0">
                <a:latin typeface="Calibri"/>
                <a:cs typeface="Calibri"/>
              </a:rPr>
              <a:t> </a:t>
            </a:r>
            <a:r>
              <a:rPr sz="2800" spc="-155" dirty="0">
                <a:latin typeface="Calibri"/>
                <a:cs typeface="Calibri"/>
              </a:rPr>
              <a:t>massimizzando</a:t>
            </a:r>
            <a:r>
              <a:rPr sz="2800" spc="125" dirty="0">
                <a:latin typeface="Calibri"/>
                <a:cs typeface="Calibri"/>
              </a:rPr>
              <a:t> </a:t>
            </a:r>
            <a:r>
              <a:rPr sz="2800" spc="-120" dirty="0">
                <a:latin typeface="Calibri"/>
                <a:cs typeface="Calibri"/>
              </a:rPr>
              <a:t>l'efficienza</a:t>
            </a:r>
            <a:r>
              <a:rPr sz="2800" spc="-60" dirty="0">
                <a:latin typeface="Calibri"/>
                <a:cs typeface="Calibri"/>
              </a:rPr>
              <a:t> </a:t>
            </a:r>
            <a:r>
              <a:rPr sz="2800" spc="-50" dirty="0">
                <a:latin typeface="Calibri"/>
                <a:cs typeface="Calibri"/>
              </a:rPr>
              <a:t>e </a:t>
            </a:r>
            <a:r>
              <a:rPr sz="2800" spc="-105" dirty="0">
                <a:latin typeface="Calibri"/>
                <a:cs typeface="Calibri"/>
              </a:rPr>
              <a:t>la</a:t>
            </a:r>
            <a:r>
              <a:rPr sz="2800" spc="-155" dirty="0">
                <a:latin typeface="Calibri"/>
                <a:cs typeface="Calibri"/>
              </a:rPr>
              <a:t> </a:t>
            </a:r>
            <a:r>
              <a:rPr sz="2800" spc="-135" dirty="0">
                <a:latin typeface="Calibri"/>
                <a:cs typeface="Calibri"/>
              </a:rPr>
              <a:t>velocità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spc="-135" dirty="0">
                <a:latin typeface="Calibri"/>
                <a:cs typeface="Calibri"/>
              </a:rPr>
              <a:t>del</a:t>
            </a:r>
            <a:r>
              <a:rPr sz="2800" spc="-175" dirty="0">
                <a:latin typeface="Calibri"/>
                <a:cs typeface="Calibri"/>
              </a:rPr>
              <a:t> </a:t>
            </a:r>
            <a:r>
              <a:rPr sz="2800" spc="-40" dirty="0">
                <a:latin typeface="Calibri"/>
                <a:cs typeface="Calibri"/>
              </a:rPr>
              <a:t>processo.</a:t>
            </a:r>
            <a:endParaRPr sz="2800" dirty="0">
              <a:latin typeface="Calibri"/>
              <a:cs typeface="Calibri"/>
            </a:endParaRPr>
          </a:p>
        </p:txBody>
      </p:sp>
      <p:sp>
        <p:nvSpPr>
          <p:cNvPr id="17" name="object 7">
            <a:extLst>
              <a:ext uri="{FF2B5EF4-FFF2-40B4-BE49-F238E27FC236}">
                <a16:creationId xmlns:a16="http://schemas.microsoft.com/office/drawing/2014/main" id="{E72184B4-5B68-426C-9BFB-2BB511DC9138}"/>
              </a:ext>
            </a:extLst>
          </p:cNvPr>
          <p:cNvSpPr txBox="1"/>
          <p:nvPr/>
        </p:nvSpPr>
        <p:spPr>
          <a:xfrm>
            <a:off x="6323285" y="5650801"/>
            <a:ext cx="4804410" cy="3091231"/>
          </a:xfrm>
          <a:prstGeom prst="rect">
            <a:avLst/>
          </a:prstGeom>
        </p:spPr>
        <p:txBody>
          <a:bodyPr vert="horz" wrap="square" lIns="0" tIns="8191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645"/>
              </a:spcBef>
              <a:tabLst>
                <a:tab pos="2044064" algn="l"/>
              </a:tabLst>
            </a:pPr>
            <a:r>
              <a:rPr sz="3050" b="1" spc="-10" dirty="0">
                <a:solidFill>
                  <a:srgbClr val="183D57"/>
                </a:solidFill>
                <a:latin typeface="Calibri"/>
                <a:cs typeface="Calibri"/>
              </a:rPr>
              <a:t>Installazione</a:t>
            </a:r>
            <a:r>
              <a:rPr sz="3050" b="1" dirty="0">
                <a:solidFill>
                  <a:srgbClr val="183D57"/>
                </a:solidFill>
                <a:latin typeface="Calibri"/>
                <a:cs typeface="Calibri"/>
              </a:rPr>
              <a:t>	</a:t>
            </a:r>
            <a:r>
              <a:rPr sz="3050" b="1" spc="-60" dirty="0">
                <a:solidFill>
                  <a:srgbClr val="0C3850"/>
                </a:solidFill>
                <a:latin typeface="Calibri"/>
                <a:cs typeface="Calibri"/>
              </a:rPr>
              <a:t>dell'infrastruttura</a:t>
            </a:r>
            <a:endParaRPr sz="3050" dirty="0">
              <a:latin typeface="Calibri"/>
              <a:cs typeface="Calibri"/>
            </a:endParaRPr>
          </a:p>
          <a:p>
            <a:pPr marL="16510" marR="78740" indent="6350" algn="ctr">
              <a:lnSpc>
                <a:spcPts val="2700"/>
              </a:lnSpc>
              <a:spcBef>
                <a:spcPts val="1030"/>
              </a:spcBef>
            </a:pPr>
            <a:r>
              <a:rPr sz="2800" spc="-150" dirty="0">
                <a:latin typeface="Calibri"/>
                <a:cs typeface="Calibri"/>
              </a:rPr>
              <a:t>Valutazione</a:t>
            </a:r>
            <a:r>
              <a:rPr sz="2800" spc="30" dirty="0">
                <a:latin typeface="Calibri"/>
                <a:cs typeface="Calibri"/>
              </a:rPr>
              <a:t> </a:t>
            </a:r>
            <a:r>
              <a:rPr sz="2800" spc="-110" dirty="0">
                <a:latin typeface="Calibri"/>
                <a:cs typeface="Calibri"/>
              </a:rPr>
              <a:t>di</a:t>
            </a:r>
            <a:r>
              <a:rPr sz="2800" spc="-125" dirty="0">
                <a:latin typeface="Calibri"/>
                <a:cs typeface="Calibri"/>
              </a:rPr>
              <a:t> </a:t>
            </a:r>
            <a:r>
              <a:rPr sz="2800" spc="-190" dirty="0">
                <a:latin typeface="Calibri"/>
                <a:cs typeface="Calibri"/>
              </a:rPr>
              <a:t>due</a:t>
            </a:r>
            <a:r>
              <a:rPr sz="2800" spc="-125" dirty="0">
                <a:latin typeface="Calibri"/>
                <a:cs typeface="Calibri"/>
              </a:rPr>
              <a:t> </a:t>
            </a:r>
            <a:r>
              <a:rPr sz="2800" spc="-150" dirty="0">
                <a:latin typeface="Calibri"/>
                <a:cs typeface="Calibri"/>
              </a:rPr>
              <a:t>opzioni:</a:t>
            </a:r>
            <a:r>
              <a:rPr sz="2800" spc="40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pad </a:t>
            </a:r>
            <a:r>
              <a:rPr sz="2800" spc="-105" dirty="0">
                <a:latin typeface="Calibri"/>
                <a:cs typeface="Calibri"/>
              </a:rPr>
              <a:t>installati</a:t>
            </a:r>
            <a:r>
              <a:rPr sz="2800" spc="35" dirty="0">
                <a:latin typeface="Calibri"/>
                <a:cs typeface="Calibri"/>
              </a:rPr>
              <a:t> </a:t>
            </a:r>
            <a:r>
              <a:rPr sz="2800" spc="-165" dirty="0">
                <a:latin typeface="Calibri"/>
                <a:cs typeface="Calibri"/>
              </a:rPr>
              <a:t>sopra</a:t>
            </a:r>
            <a:r>
              <a:rPr sz="2800" spc="-40" dirty="0">
                <a:latin typeface="Calibri"/>
                <a:cs typeface="Calibri"/>
              </a:rPr>
              <a:t> </a:t>
            </a:r>
            <a:r>
              <a:rPr sz="2800" spc="-135" dirty="0">
                <a:latin typeface="Calibri"/>
                <a:cs typeface="Calibri"/>
              </a:rPr>
              <a:t>l'asfalto</a:t>
            </a:r>
            <a:r>
              <a:rPr sz="2800" spc="10" dirty="0">
                <a:latin typeface="Calibri"/>
                <a:cs typeface="Calibri"/>
              </a:rPr>
              <a:t> </a:t>
            </a:r>
            <a:r>
              <a:rPr sz="2800" spc="-135" dirty="0">
                <a:latin typeface="Calibri"/>
                <a:cs typeface="Calibri"/>
              </a:rPr>
              <a:t>(costi</a:t>
            </a:r>
            <a:r>
              <a:rPr sz="2800" dirty="0">
                <a:latin typeface="Calibri"/>
                <a:cs typeface="Calibri"/>
              </a:rPr>
              <a:t> </a:t>
            </a:r>
            <a:r>
              <a:rPr sz="2800" spc="-110" dirty="0">
                <a:latin typeface="Calibri"/>
                <a:cs typeface="Calibri"/>
              </a:rPr>
              <a:t>inferiori, </a:t>
            </a:r>
            <a:r>
              <a:rPr sz="2800" spc="-125" dirty="0" err="1">
                <a:latin typeface="Calibri"/>
                <a:cs typeface="Calibri"/>
              </a:rPr>
              <a:t>distanza</a:t>
            </a:r>
            <a:r>
              <a:rPr sz="2800" spc="-80" dirty="0">
                <a:latin typeface="Calibri"/>
                <a:cs typeface="Calibri"/>
              </a:rPr>
              <a:t> </a:t>
            </a:r>
            <a:r>
              <a:rPr lang="it-IT" sz="2800" spc="-165" dirty="0">
                <a:latin typeface="Calibri"/>
                <a:cs typeface="Calibri"/>
              </a:rPr>
              <a:t>minore</a:t>
            </a:r>
            <a:r>
              <a:rPr sz="2800" spc="-165" dirty="0">
                <a:latin typeface="Calibri"/>
                <a:cs typeface="Calibri"/>
              </a:rPr>
              <a:t>)</a:t>
            </a:r>
            <a:r>
              <a:rPr sz="2800" spc="25" dirty="0">
                <a:latin typeface="Calibri"/>
                <a:cs typeface="Calibri"/>
              </a:rPr>
              <a:t> </a:t>
            </a:r>
            <a:r>
              <a:rPr sz="2800" spc="-150" dirty="0">
                <a:latin typeface="Calibri"/>
                <a:cs typeface="Calibri"/>
              </a:rPr>
              <a:t>o</a:t>
            </a:r>
            <a:r>
              <a:rPr sz="2800" spc="-165" dirty="0">
                <a:latin typeface="Calibri"/>
                <a:cs typeface="Calibri"/>
              </a:rPr>
              <a:t> </a:t>
            </a:r>
            <a:r>
              <a:rPr sz="2800" spc="-160" dirty="0">
                <a:latin typeface="Calibri"/>
                <a:cs typeface="Calibri"/>
              </a:rPr>
              <a:t>sotto</a:t>
            </a:r>
            <a:r>
              <a:rPr sz="2800" spc="-7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l'asfalto </a:t>
            </a:r>
            <a:r>
              <a:rPr sz="2800" spc="-185" dirty="0">
                <a:latin typeface="Calibri"/>
                <a:cs typeface="Calibri"/>
              </a:rPr>
              <a:t>(maggior</a:t>
            </a:r>
            <a:r>
              <a:rPr sz="2800" spc="55" dirty="0">
                <a:latin typeface="Calibri"/>
                <a:cs typeface="Calibri"/>
              </a:rPr>
              <a:t> </a:t>
            </a:r>
            <a:r>
              <a:rPr sz="2800" spc="-140" dirty="0">
                <a:latin typeface="Calibri"/>
                <a:cs typeface="Calibri"/>
              </a:rPr>
              <a:t>costo,</a:t>
            </a:r>
            <a:r>
              <a:rPr sz="2800" spc="-95" dirty="0">
                <a:latin typeface="Calibri"/>
                <a:cs typeface="Calibri"/>
              </a:rPr>
              <a:t> </a:t>
            </a:r>
            <a:r>
              <a:rPr sz="2800" spc="-185" dirty="0">
                <a:latin typeface="Calibri"/>
                <a:cs typeface="Calibri"/>
              </a:rPr>
              <a:t>massima</a:t>
            </a:r>
            <a:r>
              <a:rPr sz="2800" dirty="0">
                <a:latin typeface="Calibri"/>
                <a:cs typeface="Calibri"/>
              </a:rPr>
              <a:t> </a:t>
            </a:r>
            <a:r>
              <a:rPr sz="2800" spc="-50" dirty="0">
                <a:latin typeface="Calibri"/>
                <a:cs typeface="Calibri"/>
              </a:rPr>
              <a:t>durabilità).</a:t>
            </a:r>
            <a:endParaRPr sz="2800" dirty="0">
              <a:latin typeface="Calibri"/>
              <a:cs typeface="Calibri"/>
            </a:endParaRPr>
          </a:p>
          <a:p>
            <a:pPr marR="41910" algn="ctr">
              <a:lnSpc>
                <a:spcPts val="2330"/>
              </a:lnSpc>
            </a:pPr>
            <a:r>
              <a:rPr sz="2800" spc="-125" dirty="0">
                <a:latin typeface="Calibri"/>
                <a:cs typeface="Calibri"/>
              </a:rPr>
              <a:t>Player</a:t>
            </a:r>
            <a:r>
              <a:rPr sz="2800" spc="-135" dirty="0">
                <a:latin typeface="Calibri"/>
                <a:cs typeface="Calibri"/>
              </a:rPr>
              <a:t> </a:t>
            </a:r>
            <a:r>
              <a:rPr sz="2800" spc="-110" dirty="0">
                <a:latin typeface="Calibri"/>
                <a:cs typeface="Calibri"/>
              </a:rPr>
              <a:t>di</a:t>
            </a:r>
            <a:r>
              <a:rPr sz="2800" spc="-100" dirty="0">
                <a:latin typeface="Calibri"/>
                <a:cs typeface="Calibri"/>
              </a:rPr>
              <a:t> </a:t>
            </a:r>
            <a:r>
              <a:rPr sz="2800" spc="-165" dirty="0">
                <a:latin typeface="Calibri"/>
                <a:cs typeface="Calibri"/>
              </a:rPr>
              <a:t>riferimento</a:t>
            </a:r>
            <a:r>
              <a:rPr sz="2800" spc="95" dirty="0">
                <a:latin typeface="Calibri"/>
                <a:cs typeface="Calibri"/>
              </a:rPr>
              <a:t> </a:t>
            </a:r>
            <a:r>
              <a:rPr sz="2800" spc="-210" dirty="0">
                <a:latin typeface="Calibri"/>
                <a:cs typeface="Calibri"/>
              </a:rPr>
              <a:t>come</a:t>
            </a:r>
            <a:r>
              <a:rPr sz="2800" spc="-8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InductEV</a:t>
            </a:r>
            <a:endParaRPr sz="2800" dirty="0">
              <a:latin typeface="Calibri"/>
              <a:cs typeface="Calibri"/>
            </a:endParaRPr>
          </a:p>
          <a:p>
            <a:pPr marR="69850" algn="ctr">
              <a:lnSpc>
                <a:spcPts val="2970"/>
              </a:lnSpc>
            </a:pPr>
            <a:r>
              <a:rPr sz="2800" spc="-165" dirty="0">
                <a:latin typeface="Calibri"/>
                <a:cs typeface="Calibri"/>
              </a:rPr>
              <a:t>offrono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spc="-130" dirty="0">
                <a:latin typeface="Calibri"/>
                <a:cs typeface="Calibri"/>
              </a:rPr>
              <a:t>soluzioni</a:t>
            </a:r>
            <a:r>
              <a:rPr sz="2800" spc="60" dirty="0">
                <a:latin typeface="Calibri"/>
                <a:cs typeface="Calibri"/>
              </a:rPr>
              <a:t> </a:t>
            </a:r>
            <a:r>
              <a:rPr sz="2800" spc="-70" dirty="0">
                <a:latin typeface="Calibri"/>
                <a:cs typeface="Calibri"/>
              </a:rPr>
              <a:t>consolidate.</a:t>
            </a:r>
            <a:endParaRPr sz="2800" dirty="0">
              <a:latin typeface="Calibri"/>
              <a:cs typeface="Calibri"/>
            </a:endParaRPr>
          </a:p>
        </p:txBody>
      </p:sp>
      <p:sp>
        <p:nvSpPr>
          <p:cNvPr id="18" name="object 8">
            <a:extLst>
              <a:ext uri="{FF2B5EF4-FFF2-40B4-BE49-F238E27FC236}">
                <a16:creationId xmlns:a16="http://schemas.microsoft.com/office/drawing/2014/main" id="{CB1B9573-1EA3-40DC-B0FF-A70CEDF5C983}"/>
              </a:ext>
            </a:extLst>
          </p:cNvPr>
          <p:cNvSpPr txBox="1"/>
          <p:nvPr/>
        </p:nvSpPr>
        <p:spPr>
          <a:xfrm>
            <a:off x="11913143" y="5650801"/>
            <a:ext cx="4250055" cy="3559821"/>
          </a:xfrm>
          <a:prstGeom prst="rect">
            <a:avLst/>
          </a:prstGeom>
        </p:spPr>
        <p:txBody>
          <a:bodyPr vert="horz" wrap="square" lIns="0" tIns="81915" rIns="0" bIns="0" rtlCol="0">
            <a:spAutoFit/>
          </a:bodyPr>
          <a:lstStyle/>
          <a:p>
            <a:pPr marL="34925" algn="ctr">
              <a:lnSpc>
                <a:spcPct val="100000"/>
              </a:lnSpc>
              <a:spcBef>
                <a:spcPts val="645"/>
              </a:spcBef>
            </a:pPr>
            <a:r>
              <a:rPr sz="3050" b="1" spc="-10" dirty="0">
                <a:solidFill>
                  <a:srgbClr val="113F59"/>
                </a:solidFill>
                <a:latin typeface="Calibri"/>
                <a:cs typeface="Calibri"/>
              </a:rPr>
              <a:t>Ottimizzazione</a:t>
            </a:r>
            <a:r>
              <a:rPr sz="3050" b="1" spc="-165" dirty="0">
                <a:solidFill>
                  <a:srgbClr val="113F59"/>
                </a:solidFill>
                <a:latin typeface="Calibri"/>
                <a:cs typeface="Calibri"/>
              </a:rPr>
              <a:t> </a:t>
            </a:r>
            <a:r>
              <a:rPr sz="3050" b="1" dirty="0">
                <a:solidFill>
                  <a:srgbClr val="113D59"/>
                </a:solidFill>
                <a:latin typeface="Calibri"/>
                <a:cs typeface="Calibri"/>
              </a:rPr>
              <a:t>delle</a:t>
            </a:r>
            <a:r>
              <a:rPr sz="3050" b="1" spc="-30" dirty="0">
                <a:solidFill>
                  <a:srgbClr val="113D59"/>
                </a:solidFill>
                <a:latin typeface="Calibri"/>
                <a:cs typeface="Calibri"/>
              </a:rPr>
              <a:t> </a:t>
            </a:r>
            <a:r>
              <a:rPr sz="3050" b="1" spc="-10" dirty="0">
                <a:solidFill>
                  <a:srgbClr val="0F3854"/>
                </a:solidFill>
                <a:latin typeface="Calibri"/>
                <a:cs typeface="Calibri"/>
              </a:rPr>
              <a:t>Soste</a:t>
            </a:r>
            <a:endParaRPr sz="3050" dirty="0">
              <a:latin typeface="Calibri"/>
              <a:cs typeface="Calibri"/>
            </a:endParaRPr>
          </a:p>
          <a:p>
            <a:pPr marL="12065" marR="45085" indent="1905" algn="ctr">
              <a:lnSpc>
                <a:spcPct val="82600"/>
              </a:lnSpc>
              <a:spcBef>
                <a:spcPts val="1055"/>
              </a:spcBef>
            </a:pPr>
            <a:r>
              <a:rPr sz="2800" spc="-30" dirty="0">
                <a:latin typeface="Calibri"/>
                <a:cs typeface="Calibri"/>
              </a:rPr>
              <a:t>La</a:t>
            </a:r>
            <a:r>
              <a:rPr sz="2800" spc="-160" dirty="0">
                <a:latin typeface="Calibri"/>
                <a:cs typeface="Calibri"/>
              </a:rPr>
              <a:t> </a:t>
            </a:r>
            <a:r>
              <a:rPr sz="2800" spc="-145" dirty="0">
                <a:latin typeface="Calibri"/>
                <a:cs typeface="Calibri"/>
              </a:rPr>
              <a:t>sosta</a:t>
            </a:r>
            <a:r>
              <a:rPr sz="2800" spc="-65" dirty="0">
                <a:latin typeface="Calibri"/>
                <a:cs typeface="Calibri"/>
              </a:rPr>
              <a:t> </a:t>
            </a:r>
            <a:r>
              <a:rPr sz="2800" spc="-135" dirty="0">
                <a:latin typeface="Calibri"/>
                <a:cs typeface="Calibri"/>
              </a:rPr>
              <a:t>a</a:t>
            </a:r>
            <a:r>
              <a:rPr sz="2800" spc="-165" dirty="0">
                <a:latin typeface="Calibri"/>
                <a:cs typeface="Calibri"/>
              </a:rPr>
              <a:t> </a:t>
            </a:r>
            <a:r>
              <a:rPr sz="2800" spc="-135" dirty="0">
                <a:latin typeface="Calibri"/>
                <a:cs typeface="Calibri"/>
              </a:rPr>
              <a:t>Linate</a:t>
            </a:r>
            <a:r>
              <a:rPr sz="2800" spc="-75" dirty="0">
                <a:latin typeface="Calibri"/>
                <a:cs typeface="Calibri"/>
              </a:rPr>
              <a:t> </a:t>
            </a:r>
            <a:r>
              <a:rPr sz="2800" spc="-50" dirty="0">
                <a:latin typeface="Calibri"/>
                <a:cs typeface="Calibri"/>
              </a:rPr>
              <a:t>di</a:t>
            </a:r>
            <a:r>
              <a:rPr sz="2800" spc="-1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3</a:t>
            </a:r>
            <a:r>
              <a:rPr sz="2800" spc="-350" dirty="0">
                <a:latin typeface="Calibri"/>
                <a:cs typeface="Calibri"/>
              </a:rPr>
              <a:t> </a:t>
            </a:r>
            <a:r>
              <a:rPr sz="2800" spc="-150" dirty="0">
                <a:latin typeface="Calibri"/>
                <a:cs typeface="Calibri"/>
              </a:rPr>
              <a:t>minuti</a:t>
            </a:r>
            <a:r>
              <a:rPr sz="2800" spc="-105" dirty="0">
                <a:latin typeface="Calibri"/>
                <a:cs typeface="Calibri"/>
              </a:rPr>
              <a:t> </a:t>
            </a:r>
            <a:r>
              <a:rPr sz="2800" spc="-50" dirty="0">
                <a:latin typeface="Calibri"/>
                <a:cs typeface="Calibri"/>
              </a:rPr>
              <a:t>è </a:t>
            </a:r>
            <a:r>
              <a:rPr sz="2800" spc="-90" dirty="0">
                <a:latin typeface="Calibri"/>
                <a:cs typeface="Calibri"/>
              </a:rPr>
              <a:t>un</a:t>
            </a:r>
            <a:r>
              <a:rPr lang="it-IT" sz="2800" spc="-90" dirty="0">
                <a:latin typeface="Calibri"/>
                <a:cs typeface="Calibri"/>
              </a:rPr>
              <a:t>'</a:t>
            </a:r>
            <a:r>
              <a:rPr sz="2800" spc="-90" dirty="0" err="1">
                <a:latin typeface="Calibri"/>
                <a:cs typeface="Calibri"/>
              </a:rPr>
              <a:t>ipotesi</a:t>
            </a:r>
            <a:r>
              <a:rPr sz="2800" spc="-75" dirty="0">
                <a:latin typeface="Calibri"/>
                <a:cs typeface="Calibri"/>
              </a:rPr>
              <a:t> </a:t>
            </a:r>
            <a:r>
              <a:rPr sz="2800" spc="-135" dirty="0">
                <a:latin typeface="Calibri"/>
                <a:cs typeface="Calibri"/>
              </a:rPr>
              <a:t>operativa</a:t>
            </a:r>
            <a:r>
              <a:rPr sz="2800" spc="-90" dirty="0">
                <a:latin typeface="Calibri"/>
                <a:cs typeface="Calibri"/>
              </a:rPr>
              <a:t> </a:t>
            </a:r>
            <a:r>
              <a:rPr sz="2800" spc="-140" dirty="0">
                <a:latin typeface="Calibri"/>
                <a:cs typeface="Calibri"/>
              </a:rPr>
              <a:t>plausibile.</a:t>
            </a:r>
            <a:r>
              <a:rPr sz="2800" spc="25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Da </a:t>
            </a:r>
            <a:r>
              <a:rPr sz="2800" spc="-125" dirty="0">
                <a:latin typeface="Calibri"/>
                <a:cs typeface="Calibri"/>
              </a:rPr>
              <a:t>validare</a:t>
            </a:r>
            <a:r>
              <a:rPr sz="2800" spc="-65" dirty="0">
                <a:latin typeface="Calibri"/>
                <a:cs typeface="Calibri"/>
              </a:rPr>
              <a:t> </a:t>
            </a:r>
            <a:r>
              <a:rPr sz="2800" spc="-170" dirty="0">
                <a:latin typeface="Calibri"/>
                <a:cs typeface="Calibri"/>
              </a:rPr>
              <a:t>con</a:t>
            </a:r>
            <a:r>
              <a:rPr sz="2800" spc="-185" dirty="0">
                <a:latin typeface="Calibri"/>
                <a:cs typeface="Calibri"/>
              </a:rPr>
              <a:t> </a:t>
            </a:r>
            <a:r>
              <a:rPr sz="2800" spc="-155" dirty="0">
                <a:latin typeface="Calibri"/>
                <a:cs typeface="Calibri"/>
              </a:rPr>
              <a:t>l'ente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spc="-165" dirty="0">
                <a:latin typeface="Calibri"/>
                <a:cs typeface="Calibri"/>
              </a:rPr>
              <a:t>gestore</a:t>
            </a:r>
            <a:r>
              <a:rPr sz="2800" spc="-35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per </a:t>
            </a:r>
            <a:r>
              <a:rPr sz="2800" spc="-130" dirty="0">
                <a:latin typeface="Calibri"/>
                <a:cs typeface="Calibri"/>
              </a:rPr>
              <a:t>ottimizzare</a:t>
            </a:r>
            <a:r>
              <a:rPr sz="2800" spc="45" dirty="0">
                <a:latin typeface="Calibri"/>
                <a:cs typeface="Calibri"/>
              </a:rPr>
              <a:t> </a:t>
            </a:r>
            <a:r>
              <a:rPr sz="2800" spc="-190" dirty="0">
                <a:latin typeface="Calibri"/>
                <a:cs typeface="Calibri"/>
              </a:rPr>
              <a:t>i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spc="-114" dirty="0">
                <a:latin typeface="Calibri"/>
                <a:cs typeface="Calibri"/>
              </a:rPr>
              <a:t>flussi</a:t>
            </a:r>
            <a:r>
              <a:rPr sz="2800" spc="-55" dirty="0">
                <a:latin typeface="Calibri"/>
                <a:cs typeface="Calibri"/>
              </a:rPr>
              <a:t> </a:t>
            </a:r>
            <a:r>
              <a:rPr sz="2800" spc="-110" dirty="0">
                <a:latin typeface="Calibri"/>
                <a:cs typeface="Calibri"/>
              </a:rPr>
              <a:t>di</a:t>
            </a:r>
            <a:r>
              <a:rPr sz="2800" spc="-204" dirty="0">
                <a:latin typeface="Calibri"/>
                <a:cs typeface="Calibri"/>
              </a:rPr>
              <a:t> </a:t>
            </a:r>
            <a:r>
              <a:rPr sz="2800" spc="-135" dirty="0">
                <a:latin typeface="Calibri"/>
                <a:cs typeface="Calibri"/>
              </a:rPr>
              <a:t>passeggeri</a:t>
            </a:r>
            <a:r>
              <a:rPr sz="2800" spc="-65" dirty="0">
                <a:latin typeface="Calibri"/>
                <a:cs typeface="Calibri"/>
              </a:rPr>
              <a:t> </a:t>
            </a:r>
            <a:r>
              <a:rPr sz="2800" spc="-50" dirty="0">
                <a:latin typeface="Calibri"/>
                <a:cs typeface="Calibri"/>
              </a:rPr>
              <a:t>e </a:t>
            </a:r>
            <a:r>
              <a:rPr sz="2800" spc="50" dirty="0">
                <a:latin typeface="Calibri"/>
                <a:cs typeface="Calibri"/>
              </a:rPr>
              <a:t>i</a:t>
            </a:r>
            <a:r>
              <a:rPr sz="2800" spc="-250" dirty="0">
                <a:latin typeface="Calibri"/>
                <a:cs typeface="Calibri"/>
              </a:rPr>
              <a:t> </a:t>
            </a:r>
            <a:r>
              <a:rPr sz="2800" spc="-190" dirty="0">
                <a:latin typeface="Calibri"/>
                <a:cs typeface="Calibri"/>
              </a:rPr>
              <a:t>tempi</a:t>
            </a:r>
            <a:r>
              <a:rPr sz="2800" spc="-135" dirty="0">
                <a:latin typeface="Calibri"/>
                <a:cs typeface="Calibri"/>
              </a:rPr>
              <a:t> </a:t>
            </a:r>
            <a:r>
              <a:rPr sz="2800" spc="-50" dirty="0">
                <a:latin typeface="Calibri"/>
                <a:cs typeface="Calibri"/>
              </a:rPr>
              <a:t>di</a:t>
            </a:r>
            <a:r>
              <a:rPr sz="2800" spc="-240" dirty="0">
                <a:latin typeface="Calibri"/>
                <a:cs typeface="Calibri"/>
              </a:rPr>
              <a:t> </a:t>
            </a:r>
            <a:r>
              <a:rPr sz="2800" spc="-10" dirty="0" err="1">
                <a:latin typeface="Calibri"/>
                <a:cs typeface="Calibri"/>
              </a:rPr>
              <a:t>servizio</a:t>
            </a:r>
            <a:r>
              <a:rPr sz="2800" spc="-10" dirty="0">
                <a:latin typeface="Calibri"/>
                <a:cs typeface="Calibri"/>
              </a:rPr>
              <a:t>.</a:t>
            </a:r>
            <a:r>
              <a:rPr lang="it-IT" sz="2800" spc="-10" dirty="0">
                <a:latin typeface="Calibri"/>
                <a:cs typeface="Calibri"/>
              </a:rPr>
              <a:t> Tempi di ricarica e fermate strategiche sono sempre modificabili.</a:t>
            </a:r>
            <a:endParaRPr sz="2800" dirty="0">
              <a:latin typeface="Calibri"/>
              <a:cs typeface="Calibri"/>
            </a:endParaRPr>
          </a:p>
        </p:txBody>
      </p:sp>
      <p:sp>
        <p:nvSpPr>
          <p:cNvPr id="19" name="Rettangolo con angoli arrotondati 18">
            <a:extLst>
              <a:ext uri="{FF2B5EF4-FFF2-40B4-BE49-F238E27FC236}">
                <a16:creationId xmlns:a16="http://schemas.microsoft.com/office/drawing/2014/main" id="{A3BFCFA0-6AE7-4FDD-B3DB-6A9ED22D1B34}"/>
              </a:ext>
            </a:extLst>
          </p:cNvPr>
          <p:cNvSpPr/>
          <p:nvPr/>
        </p:nvSpPr>
        <p:spPr>
          <a:xfrm>
            <a:off x="3830319" y="1203282"/>
            <a:ext cx="9281162" cy="954107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83322334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po 3">
            <a:extLst>
              <a:ext uri="{FF2B5EF4-FFF2-40B4-BE49-F238E27FC236}">
                <a16:creationId xmlns:a16="http://schemas.microsoft.com/office/drawing/2014/main" id="{86E91F61-6F17-4B5C-92B8-68908010D603}"/>
              </a:ext>
            </a:extLst>
          </p:cNvPr>
          <p:cNvGrpSpPr/>
          <p:nvPr/>
        </p:nvGrpSpPr>
        <p:grpSpPr>
          <a:xfrm>
            <a:off x="0" y="0"/>
            <a:ext cx="17475200" cy="9753600"/>
            <a:chOff x="0" y="0"/>
            <a:chExt cx="17475200" cy="9753600"/>
          </a:xfrm>
        </p:grpSpPr>
        <p:pic>
          <p:nvPicPr>
            <p:cNvPr id="2" name="Immagine 1">
              <a:extLst>
                <a:ext uri="{FF2B5EF4-FFF2-40B4-BE49-F238E27FC236}">
                  <a16:creationId xmlns:a16="http://schemas.microsoft.com/office/drawing/2014/main" id="{3733E5F1-1969-4774-8C2E-D0733E77250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2835"/>
            <a:stretch/>
          </p:blipFill>
          <p:spPr>
            <a:xfrm>
              <a:off x="584200" y="0"/>
              <a:ext cx="16891000" cy="9753600"/>
            </a:xfrm>
            <a:prstGeom prst="rect">
              <a:avLst/>
            </a:prstGeom>
          </p:spPr>
        </p:pic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99F41AFE-B461-436C-825B-94BA5A7868E5}"/>
                </a:ext>
              </a:extLst>
            </p:cNvPr>
            <p:cNvSpPr/>
            <p:nvPr/>
          </p:nvSpPr>
          <p:spPr>
            <a:xfrm>
              <a:off x="508000" y="228600"/>
              <a:ext cx="14097000" cy="2667000"/>
            </a:xfrm>
            <a:prstGeom prst="rect">
              <a:avLst/>
            </a:prstGeom>
            <a:solidFill>
              <a:srgbClr val="F1F0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3" name="Rettangolo 12">
              <a:extLst>
                <a:ext uri="{FF2B5EF4-FFF2-40B4-BE49-F238E27FC236}">
                  <a16:creationId xmlns:a16="http://schemas.microsoft.com/office/drawing/2014/main" id="{F410FD12-EEA7-4F7B-A157-41C2651F335F}"/>
                </a:ext>
              </a:extLst>
            </p:cNvPr>
            <p:cNvSpPr/>
            <p:nvPr/>
          </p:nvSpPr>
          <p:spPr>
            <a:xfrm>
              <a:off x="0" y="8077200"/>
              <a:ext cx="6070600" cy="1295400"/>
            </a:xfrm>
            <a:prstGeom prst="rect">
              <a:avLst/>
            </a:prstGeom>
            <a:solidFill>
              <a:srgbClr val="F1F0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4" name="Rettangolo 13">
              <a:extLst>
                <a:ext uri="{FF2B5EF4-FFF2-40B4-BE49-F238E27FC236}">
                  <a16:creationId xmlns:a16="http://schemas.microsoft.com/office/drawing/2014/main" id="{FDE60B43-B6A8-4D2E-B6B9-028FCEE96776}"/>
                </a:ext>
              </a:extLst>
            </p:cNvPr>
            <p:cNvSpPr/>
            <p:nvPr/>
          </p:nvSpPr>
          <p:spPr>
            <a:xfrm>
              <a:off x="14960600" y="9029700"/>
              <a:ext cx="2514600" cy="685800"/>
            </a:xfrm>
            <a:prstGeom prst="rect">
              <a:avLst/>
            </a:prstGeom>
            <a:solidFill>
              <a:srgbClr val="F1F0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99244CCB-C889-4EB6-A37C-1EC1CB544D0E}"/>
              </a:ext>
            </a:extLst>
          </p:cNvPr>
          <p:cNvSpPr txBox="1"/>
          <p:nvPr/>
        </p:nvSpPr>
        <p:spPr>
          <a:xfrm>
            <a:off x="584200" y="533400"/>
            <a:ext cx="9601200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3800" b="1" dirty="0">
                <a:solidFill>
                  <a:srgbClr val="07477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FINE</a:t>
            </a:r>
          </a:p>
          <a:p>
            <a:r>
              <a:rPr lang="it-IT" sz="7200" dirty="0"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Grazie per l’attenzione!</a:t>
            </a:r>
          </a:p>
        </p:txBody>
      </p:sp>
    </p:spTree>
    <p:extLst>
      <p:ext uri="{BB962C8B-B14F-4D97-AF65-F5344CB8AC3E}">
        <p14:creationId xmlns:p14="http://schemas.microsoft.com/office/powerpoint/2010/main" val="542866206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930</TotalTime>
  <Words>1512</Words>
  <Application>Microsoft Office PowerPoint</Application>
  <PresentationFormat>Personalizzato</PresentationFormat>
  <Paragraphs>130</Paragraphs>
  <Slides>15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15</vt:i4>
      </vt:variant>
    </vt:vector>
  </HeadingPairs>
  <TitlesOfParts>
    <vt:vector size="20" baseType="lpstr">
      <vt:lpstr>Arial</vt:lpstr>
      <vt:lpstr>Arial MT</vt:lpstr>
      <vt:lpstr>Calibri</vt:lpstr>
      <vt:lpstr>Cambria Math</vt:lpstr>
      <vt:lpstr>Office Theme</vt:lpstr>
      <vt:lpstr>Studio di fattibilità  per l’elettrificazione della Linea Bus 973, con tecnologia</vt:lpstr>
      <vt:lpstr>Tecnologia abilitante</vt:lpstr>
      <vt:lpstr>Obiettivi del progetto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Elettrificare la Linea 973: una soluzione Strategica per un Servizio Continuo</dc:title>
  <dc:creator>Fabio</dc:creator>
  <cp:lastModifiedBy>Fabio Canossi</cp:lastModifiedBy>
  <cp:revision>100</cp:revision>
  <dcterms:created xsi:type="dcterms:W3CDTF">2025-12-23T10:28:22Z</dcterms:created>
  <dcterms:modified xsi:type="dcterms:W3CDTF">2025-12-24T18:07:41Z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2025-12-23T00:00:00Z</vt:filetime>
  </property>
  <property fmtid="{D5CDD505-2E9C-101B-9397-08002B2CF9AE}" pid="3" name="LastSaved">
    <vt:filetime>2025-12-23T00:00:00Z</vt:filetime>
  </property>
</Properties>
</file>